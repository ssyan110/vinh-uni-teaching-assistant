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D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846683" y="392873"/>
            <a:ext cx="3141166" cy="2008056"/>
          </a:xfrm>
          <a:prstGeom prst="roundRect">
            <a:avLst>
              <a:gd name="adj" fmla="val 631820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74212" y="4450684"/>
            <a:ext cx="3511576" cy="2097030"/>
          </a:xfrm>
          <a:prstGeom prst="roundRect">
            <a:avLst>
              <a:gd name="adj" fmla="val 605013"/>
            </a:avLst>
          </a:prstGeom>
          <a:solidFill>
            <a:srgbClr val="FFF5D9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95611" y="266094"/>
            <a:ext cx="1624078" cy="1093313"/>
          </a:xfrm>
          <a:prstGeom prst="roundRect">
            <a:avLst>
              <a:gd name="adj" fmla="val 1160445"/>
            </a:avLst>
          </a:prstGeom>
          <a:solidFill>
            <a:srgbClr val="FFD166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50" y="355550"/>
            <a:ext cx="11480899" cy="6146899"/>
          </a:xfrm>
          <a:prstGeom prst="roundRect">
            <a:avLst>
              <a:gd name="adj" fmla="val 7025"/>
            </a:avLst>
          </a:prstGeom>
          <a:solidFill>
            <a:srgbClr val="FFFDF4"/>
          </a:solidFill>
          <a:ln w="28575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09526" y="614157"/>
            <a:ext cx="1479046" cy="625786"/>
          </a:xfrm>
          <a:prstGeom prst="roundRect">
            <a:avLst>
              <a:gd name="adj" fmla="val 12177"/>
            </a:avLst>
          </a:prstGeom>
          <a:solidFill>
            <a:srgbClr val="FFD166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905526" y="612301"/>
            <a:ext cx="288006" cy="0"/>
          </a:xfrm>
          <a:prstGeom prst="line">
            <a:avLst/>
          </a:prstGeom>
          <a:noFill/>
          <a:ln w="1238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05526" y="789544"/>
            <a:ext cx="288006" cy="0"/>
          </a:xfrm>
          <a:prstGeom prst="line">
            <a:avLst/>
          </a:prstGeom>
          <a:noFill/>
          <a:ln w="1238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19826" y="550389"/>
            <a:ext cx="0" cy="301067"/>
          </a:xfrm>
          <a:prstGeom prst="line">
            <a:avLst/>
          </a:prstGeom>
          <a:noFill/>
          <a:ln w="228600">
            <a:solidFill>
              <a:srgbClr val="FF7A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5769" y="5059952"/>
            <a:ext cx="1151863" cy="827596"/>
          </a:xfrm>
          <a:prstGeom prst="roundRect">
            <a:avLst>
              <a:gd name="adj" fmla="val 21484"/>
            </a:avLst>
          </a:prstGeom>
          <a:solidFill>
            <a:srgbClr val="FFFFFF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6070" y="5244912"/>
            <a:ext cx="1087739" cy="482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1300"/>
              </a:spcBef>
              <a:buNone/>
            </a:pPr>
            <a:r>
              <a:rPr lang="en-US" sz="2000" b="1" dirty="0">
                <a:solidFill>
                  <a:srgbClr val="8D7AE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 p 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6550" y="609600"/>
            <a:ext cx="1661368" cy="343049"/>
          </a:xfrm>
          <a:prstGeom prst="roundRect">
            <a:avLst>
              <a:gd name="adj" fmla="val 3698393"/>
            </a:avLst>
          </a:prstGeom>
          <a:solidFill>
            <a:srgbClr val="FFF5D9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95201" y="692051"/>
            <a:ext cx="1370948" cy="178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104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PINYIN LESSON 1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736550" y="1650950"/>
            <a:ext cx="5699659" cy="153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32"/>
              </a:lnSpc>
              <a:spcBef>
                <a:spcPts val="1200"/>
              </a:spcBef>
              <a:buNone/>
            </a:pPr>
            <a:r>
              <a:rPr lang="en-US" sz="5800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Pinyin
</a:t>
            </a:r>
            <a:pPr algn="l" indent="0" marL="0">
              <a:lnSpc>
                <a:spcPts val="6032"/>
              </a:lnSpc>
              <a:spcBef>
                <a:spcPts val="1200"/>
              </a:spcBef>
              <a:buNone/>
            </a:pPr>
            <a:r>
              <a:rPr lang="en-US" sz="5800" b="1" dirty="0">
                <a:solidFill>
                  <a:srgbClr val="2D7F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Lesson 1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728755" y="3359770"/>
            <a:ext cx="1517863" cy="525116"/>
          </a:xfrm>
          <a:prstGeom prst="roundRect">
            <a:avLst>
              <a:gd name="adj" fmla="val 38696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6509" y="3474029"/>
            <a:ext cx="1165202" cy="296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你好 · nǐ hǎo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6550" y="4087416"/>
            <a:ext cx="427482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1800"/>
              </a:spcBef>
              <a:buNone/>
            </a:pPr>
            <a:r>
              <a:rPr lang="en-US" sz="1600" b="1" dirty="0">
                <a:solidFill>
                  <a:srgbClr val="3B3D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Nhìn âm — nghe thanh — đọc đúng từ buổi đầu tiên.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42299" y="1396901"/>
            <a:ext cx="3936950" cy="3301901"/>
          </a:xfrm>
          <a:prstGeom prst="roundRect">
            <a:avLst>
              <a:gd name="adj" fmla="val 8462"/>
            </a:avLst>
          </a:prstGeom>
          <a:solidFill>
            <a:srgbClr val="FFF5D9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51849" y="1606451"/>
            <a:ext cx="1505248" cy="271909"/>
          </a:xfrm>
          <a:prstGeom prst="roundRect">
            <a:avLst>
              <a:gd name="adj" fmla="val 4666010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72400" y="1663601"/>
            <a:ext cx="1289429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BÀI HỌC HÔM NAY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651849" y="2081361"/>
            <a:ext cx="3588207" cy="8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spcBef>
                <a:spcPts val="800"/>
              </a:spcBef>
              <a:buNone/>
            </a:pPr>
            <a:r>
              <a:rPr lang="en-US" sz="6400" b="1" dirty="0">
                <a:solidFill>
                  <a:srgbClr val="2021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你好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7651849" y="2957513"/>
            <a:ext cx="3588207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spcBef>
                <a:spcPts val="500"/>
              </a:spcBef>
              <a:buNone/>
            </a:pPr>
            <a:r>
              <a:rPr lang="en-US" sz="4600" b="1" dirty="0">
                <a:solidFill>
                  <a:srgbClr val="8D7AE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nǐ hǎo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7651849" y="3610124"/>
            <a:ext cx="3588207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1000"/>
              </a:spcBef>
              <a:buNone/>
            </a:pPr>
            <a:r>
              <a:rPr lang="en-US" sz="1600" b="1" dirty="0">
                <a:solidFill>
                  <a:srgbClr val="3B3D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Xin chào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9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846683" y="392873"/>
            <a:ext cx="3141166" cy="2008056"/>
          </a:xfrm>
          <a:prstGeom prst="roundRect">
            <a:avLst>
              <a:gd name="adj" fmla="val 631820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74212" y="4450684"/>
            <a:ext cx="3511576" cy="2097030"/>
          </a:xfrm>
          <a:prstGeom prst="roundRect">
            <a:avLst>
              <a:gd name="adj" fmla="val 605013"/>
            </a:avLst>
          </a:prstGeom>
          <a:solidFill>
            <a:srgbClr val="FFF5D9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95611" y="266094"/>
            <a:ext cx="1624078" cy="1093313"/>
          </a:xfrm>
          <a:prstGeom prst="roundRect">
            <a:avLst>
              <a:gd name="adj" fmla="val 1160445"/>
            </a:avLst>
          </a:prstGeom>
          <a:solidFill>
            <a:srgbClr val="FFD166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50" y="355550"/>
            <a:ext cx="11480899" cy="6146899"/>
          </a:xfrm>
          <a:prstGeom prst="roundRect">
            <a:avLst>
              <a:gd name="adj" fmla="val 7025"/>
            </a:avLst>
          </a:prstGeom>
          <a:solidFill>
            <a:srgbClr val="FFFDF4"/>
          </a:solidFill>
          <a:ln w="28575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6550" y="609600"/>
            <a:ext cx="1779389" cy="343049"/>
          </a:xfrm>
          <a:prstGeom prst="roundRect">
            <a:avLst>
              <a:gd name="adj" fmla="val 3698393"/>
            </a:avLst>
          </a:prstGeom>
          <a:solidFill>
            <a:srgbClr val="FFF5D9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95201" y="692051"/>
            <a:ext cx="1491329" cy="178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104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学习目标 · MỤC TIÊU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736550" y="1105049"/>
            <a:ext cx="10933277" cy="55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68"/>
              </a:lnSpc>
              <a:spcBef>
                <a:spcPts val="1200"/>
              </a:spcBef>
              <a:buNone/>
            </a:pPr>
            <a:r>
              <a:rPr lang="en-US" sz="42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Mục tiêu bài học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36550" y="2015282"/>
            <a:ext cx="3454450" cy="1670447"/>
          </a:xfrm>
          <a:prstGeom prst="roundRect">
            <a:avLst>
              <a:gd name="adj" fmla="val 16726"/>
            </a:avLst>
          </a:prstGeom>
          <a:solidFill>
            <a:srgbClr val="D9F4FF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46100" y="2224832"/>
            <a:ext cx="421035" cy="271909"/>
          </a:xfrm>
          <a:prstGeom prst="roundRect">
            <a:avLst>
              <a:gd name="adj" fmla="val 4666010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6651" y="2281982"/>
            <a:ext cx="183532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01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946100" y="2598241"/>
            <a:ext cx="3096057" cy="39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2"/>
              </a:lnSpc>
              <a:buNone/>
            </a:pPr>
            <a:r>
              <a:rPr lang="en-US" sz="29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Nghe âm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946100" y="2996059"/>
            <a:ext cx="3096057" cy="48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B3D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Phân biệt thanh mẫu, vận mẫu và thanh điệu trong các âm tiết cơ bản.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68701" y="2015282"/>
            <a:ext cx="3454450" cy="1670447"/>
          </a:xfrm>
          <a:prstGeom prst="roundRect">
            <a:avLst>
              <a:gd name="adj" fmla="val 16726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8251" y="2224832"/>
            <a:ext cx="421035" cy="271909"/>
          </a:xfrm>
          <a:prstGeom prst="roundRect">
            <a:avLst>
              <a:gd name="adj" fmla="val 4666010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98802" y="2281982"/>
            <a:ext cx="183532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578251" y="2598241"/>
            <a:ext cx="3096057" cy="39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2"/>
              </a:lnSpc>
              <a:buNone/>
            </a:pPr>
            <a:r>
              <a:rPr lang="en-US" sz="29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Đọc đúng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4578251" y="2996059"/>
            <a:ext cx="3096057" cy="48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B3D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Đọc được </a:t>
            </a:r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3B3D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你好</a:t>
            </a:r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B3D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, số 1/5/8 và một số chữ Hán đầu tiên.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00851" y="2015282"/>
            <a:ext cx="3454598" cy="1670447"/>
          </a:xfrm>
          <a:prstGeom prst="roundRect">
            <a:avLst>
              <a:gd name="adj" fmla="val 16726"/>
            </a:avLst>
          </a:prstGeom>
          <a:solidFill>
            <a:srgbClr val="FFF5D9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10401" y="2224832"/>
            <a:ext cx="421035" cy="271909"/>
          </a:xfrm>
          <a:prstGeom prst="roundRect">
            <a:avLst>
              <a:gd name="adj" fmla="val 4666010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30952" y="2281982"/>
            <a:ext cx="183532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8210401" y="2598241"/>
            <a:ext cx="3096208" cy="39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2"/>
              </a:lnSpc>
              <a:buNone/>
            </a:pPr>
            <a:r>
              <a:rPr lang="en-US" sz="29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Luyện nhanh</a:t>
            </a:r>
            <a:endParaRPr lang="en-US" sz="2900" dirty="0"/>
          </a:p>
        </p:txBody>
      </p:sp>
      <p:sp>
        <p:nvSpPr>
          <p:cNvPr id="23" name="Text 21"/>
          <p:cNvSpPr/>
          <p:nvPr/>
        </p:nvSpPr>
        <p:spPr>
          <a:xfrm>
            <a:off x="8210401" y="2996059"/>
            <a:ext cx="3096208" cy="48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B3D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Ghép âm, đọc cặp tối thiểu và tự kiểm tra cuối giờ.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6550" y="5310039"/>
            <a:ext cx="10718899" cy="608261"/>
          </a:xfrm>
          <a:prstGeom prst="roundRect">
            <a:avLst>
              <a:gd name="adj" fmla="val 41758"/>
            </a:avLst>
          </a:prstGeom>
          <a:solidFill>
            <a:srgbClr val="FFF5D9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20651" y="5494139"/>
            <a:ext cx="10557712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3B3D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课堂问题:</a:t>
            </a:r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B3D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Khi nghe “nǐ hǎo”, em nhận ra mấy âm tiết và mấy thanh điệu?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846683" y="392873"/>
            <a:ext cx="3141166" cy="2008056"/>
          </a:xfrm>
          <a:prstGeom prst="roundRect">
            <a:avLst>
              <a:gd name="adj" fmla="val 631820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74212" y="4450684"/>
            <a:ext cx="3511576" cy="2097030"/>
          </a:xfrm>
          <a:prstGeom prst="roundRect">
            <a:avLst>
              <a:gd name="adj" fmla="val 605013"/>
            </a:avLst>
          </a:prstGeom>
          <a:solidFill>
            <a:srgbClr val="FFF5D9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95611" y="266094"/>
            <a:ext cx="1624078" cy="1093313"/>
          </a:xfrm>
          <a:prstGeom prst="roundRect">
            <a:avLst>
              <a:gd name="adj" fmla="val 1160445"/>
            </a:avLst>
          </a:prstGeom>
          <a:solidFill>
            <a:srgbClr val="FFD166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50" y="355550"/>
            <a:ext cx="11480899" cy="6146899"/>
          </a:xfrm>
          <a:prstGeom prst="roundRect">
            <a:avLst>
              <a:gd name="adj" fmla="val 7025"/>
            </a:avLst>
          </a:prstGeom>
          <a:solidFill>
            <a:srgbClr val="FFFDF4"/>
          </a:solidFill>
          <a:ln w="28575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6550" y="609600"/>
            <a:ext cx="1798737" cy="343049"/>
          </a:xfrm>
          <a:prstGeom prst="roundRect">
            <a:avLst>
              <a:gd name="adj" fmla="val 3698393"/>
            </a:avLst>
          </a:prstGeom>
          <a:solidFill>
            <a:srgbClr val="FFF5D9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95201" y="692051"/>
            <a:ext cx="1511064" cy="178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104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拼音结构 · CẤU TRÚC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736550" y="1105049"/>
            <a:ext cx="10933277" cy="55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68"/>
              </a:lnSpc>
              <a:spcBef>
                <a:spcPts val="1200"/>
              </a:spcBef>
              <a:buNone/>
            </a:pPr>
            <a:r>
              <a:rPr lang="en-US" sz="42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Một âm tiết pinyin có gì?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842872" y="2463701"/>
            <a:ext cx="4404309" cy="983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740"/>
              </a:lnSpc>
              <a:buNone/>
            </a:pPr>
            <a:r>
              <a:rPr lang="en-US" sz="8600" b="1" dirty="0">
                <a:solidFill>
                  <a:srgbClr val="2D7F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</a:t>
            </a:r>
            <a:pPr algn="ctr" indent="0" marL="0">
              <a:lnSpc>
                <a:spcPts val="7740"/>
              </a:lnSpc>
              <a:buNone/>
            </a:pPr>
            <a:r>
              <a:rPr lang="en-US" sz="8600" b="1" dirty="0">
                <a:solidFill>
                  <a:srgbClr val="FF7A5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</a:t>
            </a:r>
            <a:pPr algn="ctr" indent="0" marL="0">
              <a:lnSpc>
                <a:spcPts val="7740"/>
              </a:lnSpc>
              <a:buNone/>
            </a:pPr>
            <a:r>
              <a:rPr lang="en-US" sz="8600" b="1" dirty="0">
                <a:solidFill>
                  <a:srgbClr val="2EB67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̌</a:t>
            </a:r>
            <a:endParaRPr lang="en-US" sz="8600" dirty="0"/>
          </a:p>
        </p:txBody>
      </p:sp>
      <p:sp>
        <p:nvSpPr>
          <p:cNvPr id="10" name="Text 8"/>
          <p:cNvSpPr/>
          <p:nvPr/>
        </p:nvSpPr>
        <p:spPr>
          <a:xfrm>
            <a:off x="3842872" y="3446711"/>
            <a:ext cx="4404309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3B3D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nǐ · 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20743" y="3194350"/>
            <a:ext cx="1194689" cy="247011"/>
          </a:xfrm>
          <a:prstGeom prst="roundRect">
            <a:avLst>
              <a:gd name="adj" fmla="val 509006"/>
            </a:avLst>
          </a:prstGeom>
          <a:solidFill>
            <a:srgbClr val="2021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38842" y="3403840"/>
            <a:ext cx="1444879" cy="291126"/>
          </a:xfrm>
          <a:prstGeom prst="roundRect">
            <a:avLst>
              <a:gd name="adj" fmla="val 431875"/>
            </a:avLst>
          </a:prstGeom>
          <a:solidFill>
            <a:srgbClr val="2021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72651" y="1134826"/>
            <a:ext cx="349041" cy="1175155"/>
          </a:xfrm>
          <a:prstGeom prst="roundRect">
            <a:avLst>
              <a:gd name="adj" fmla="val 360216"/>
            </a:avLst>
          </a:prstGeom>
          <a:solidFill>
            <a:srgbClr val="2021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6550" y="2235101"/>
            <a:ext cx="2539901" cy="1430387"/>
          </a:xfrm>
          <a:prstGeom prst="roundRect">
            <a:avLst>
              <a:gd name="adj" fmla="val 19533"/>
            </a:avLst>
          </a:prstGeom>
          <a:solidFill>
            <a:srgbClr val="D9F4FF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46100" y="2444651"/>
            <a:ext cx="1071860" cy="271909"/>
          </a:xfrm>
          <a:prstGeom prst="roundRect">
            <a:avLst>
              <a:gd name="adj" fmla="val 4666010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66651" y="2501801"/>
            <a:ext cx="847374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THANH MẪU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946100" y="2818061"/>
            <a:ext cx="2163217" cy="39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2"/>
              </a:lnSpc>
              <a:buNone/>
            </a:pPr>
            <a:r>
              <a:rPr lang="en-US" sz="29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946100" y="3215878"/>
            <a:ext cx="2163217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B3D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Âm mở đầu của âm tiết.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88450" y="2235101"/>
            <a:ext cx="2667000" cy="1430387"/>
          </a:xfrm>
          <a:prstGeom prst="roundRect">
            <a:avLst>
              <a:gd name="adj" fmla="val 19533"/>
            </a:avLst>
          </a:prstGeom>
          <a:solidFill>
            <a:srgbClr val="FFF5D9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998000" y="2444651"/>
            <a:ext cx="873026" cy="271909"/>
          </a:xfrm>
          <a:prstGeom prst="roundRect">
            <a:avLst>
              <a:gd name="adj" fmla="val 4666010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118550" y="2501801"/>
            <a:ext cx="644563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VẬN MẪU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8998000" y="2818061"/>
            <a:ext cx="2292858" cy="39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2"/>
              </a:lnSpc>
              <a:buNone/>
            </a:pPr>
            <a:r>
              <a:rPr lang="en-US" sz="29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</a:t>
            </a:r>
            <a:endParaRPr lang="en-US" sz="2900" dirty="0"/>
          </a:p>
        </p:txBody>
      </p:sp>
      <p:sp>
        <p:nvSpPr>
          <p:cNvPr id="23" name="Text 21"/>
          <p:cNvSpPr/>
          <p:nvPr/>
        </p:nvSpPr>
        <p:spPr>
          <a:xfrm>
            <a:off x="8998000" y="3215878"/>
            <a:ext cx="2292858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B3D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Phần vần, tạo âm chính.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19451" y="4501902"/>
            <a:ext cx="3174950" cy="1670447"/>
          </a:xfrm>
          <a:prstGeom prst="roundRect">
            <a:avLst>
              <a:gd name="adj" fmla="val 16726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29001" y="4711452"/>
            <a:ext cx="1093440" cy="271909"/>
          </a:xfrm>
          <a:prstGeom prst="roundRect">
            <a:avLst>
              <a:gd name="adj" fmla="val 4666010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49552" y="4768602"/>
            <a:ext cx="869385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THANH ĐIỆU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629001" y="5084862"/>
            <a:ext cx="2810967" cy="39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2"/>
              </a:lnSpc>
              <a:buNone/>
            </a:pPr>
            <a:r>
              <a:rPr lang="en-US" sz="29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ˇ</a:t>
            </a:r>
            <a:endParaRPr lang="en-US" sz="2900" dirty="0"/>
          </a:p>
        </p:txBody>
      </p:sp>
      <p:sp>
        <p:nvSpPr>
          <p:cNvPr id="28" name="Text 26"/>
          <p:cNvSpPr/>
          <p:nvPr/>
        </p:nvSpPr>
        <p:spPr>
          <a:xfrm>
            <a:off x="4629001" y="5482679"/>
            <a:ext cx="2810967" cy="48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B3D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Dấu thanh cho biết đường cao độ.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846683" y="392873"/>
            <a:ext cx="3141166" cy="2008056"/>
          </a:xfrm>
          <a:prstGeom prst="roundRect">
            <a:avLst>
              <a:gd name="adj" fmla="val 631820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74212" y="4450684"/>
            <a:ext cx="3511576" cy="2097030"/>
          </a:xfrm>
          <a:prstGeom prst="roundRect">
            <a:avLst>
              <a:gd name="adj" fmla="val 605013"/>
            </a:avLst>
          </a:prstGeom>
          <a:solidFill>
            <a:srgbClr val="FFF5D9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95611" y="266094"/>
            <a:ext cx="1624078" cy="1093313"/>
          </a:xfrm>
          <a:prstGeom prst="roundRect">
            <a:avLst>
              <a:gd name="adj" fmla="val 1160445"/>
            </a:avLst>
          </a:prstGeom>
          <a:solidFill>
            <a:srgbClr val="FFD166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50" y="355550"/>
            <a:ext cx="11480899" cy="6146899"/>
          </a:xfrm>
          <a:prstGeom prst="roundRect">
            <a:avLst>
              <a:gd name="adj" fmla="val 7025"/>
            </a:avLst>
          </a:prstGeom>
          <a:solidFill>
            <a:srgbClr val="FFFDF4"/>
          </a:solidFill>
          <a:ln w="28575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6550" y="609600"/>
            <a:ext cx="1724471" cy="343049"/>
          </a:xfrm>
          <a:prstGeom prst="roundRect">
            <a:avLst>
              <a:gd name="adj" fmla="val 3698393"/>
            </a:avLst>
          </a:prstGeom>
          <a:solidFill>
            <a:srgbClr val="FFF5D9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95201" y="692051"/>
            <a:ext cx="1435313" cy="178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104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声调 · THANH ĐIỆU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736550" y="1105049"/>
            <a:ext cx="10933277" cy="55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68"/>
              </a:lnSpc>
              <a:spcBef>
                <a:spcPts val="1200"/>
              </a:spcBef>
              <a:buNone/>
            </a:pPr>
            <a:r>
              <a:rPr lang="en-US" sz="42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Nhìn đường đi của thanh điệu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36550" y="2015282"/>
            <a:ext cx="2546449" cy="1800076"/>
          </a:xfrm>
          <a:prstGeom prst="roundRect">
            <a:avLst>
              <a:gd name="adj" fmla="val 15522"/>
            </a:avLst>
          </a:prstGeom>
          <a:solidFill>
            <a:srgbClr val="D9F4FF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1772" y="2212032"/>
            <a:ext cx="2196007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Thanh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1772" y="2446734"/>
            <a:ext cx="2196007" cy="65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130"/>
              </a:lnSpc>
              <a:spcBef>
                <a:spcPts val="500"/>
              </a:spcBef>
              <a:buNone/>
            </a:pPr>
            <a:r>
              <a:rPr lang="en-US" sz="38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bā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11772" y="3149054"/>
            <a:ext cx="2196007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95"/>
              </a:lnSpc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2D7F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55 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1772" y="3440460"/>
            <a:ext cx="2196007" cy="178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1040" dirty="0">
                <a:solidFill>
                  <a:srgbClr val="6266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cao và bằng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3460700" y="2015282"/>
            <a:ext cx="2546449" cy="1800076"/>
          </a:xfrm>
          <a:prstGeom prst="roundRect">
            <a:avLst>
              <a:gd name="adj" fmla="val 15522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35922" y="2212032"/>
            <a:ext cx="2196007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Thanh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35922" y="2446734"/>
            <a:ext cx="2196007" cy="65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130"/>
              </a:lnSpc>
              <a:spcBef>
                <a:spcPts val="500"/>
              </a:spcBef>
              <a:buNone/>
            </a:pPr>
            <a:r>
              <a:rPr lang="en-US" sz="38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bá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635922" y="3149054"/>
            <a:ext cx="2196007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95"/>
              </a:lnSpc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2D7F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35 ↗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35922" y="3440460"/>
            <a:ext cx="2196007" cy="178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1040" dirty="0">
                <a:solidFill>
                  <a:srgbClr val="6266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đi lên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6184850" y="2015282"/>
            <a:ext cx="2546449" cy="1800076"/>
          </a:xfrm>
          <a:prstGeom prst="roundRect">
            <a:avLst>
              <a:gd name="adj" fmla="val 15522"/>
            </a:avLst>
          </a:prstGeom>
          <a:solidFill>
            <a:srgbClr val="FFF5D9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60072" y="2212032"/>
            <a:ext cx="2196007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Thanh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60072" y="2446734"/>
            <a:ext cx="2196007" cy="65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130"/>
              </a:lnSpc>
              <a:spcBef>
                <a:spcPts val="500"/>
              </a:spcBef>
              <a:buNone/>
            </a:pPr>
            <a:r>
              <a:rPr lang="en-US" sz="38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bǎ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360072" y="3149054"/>
            <a:ext cx="2196007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95"/>
              </a:lnSpc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2D7F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214 ˅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60072" y="3440460"/>
            <a:ext cx="2196007" cy="178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1040" dirty="0">
                <a:solidFill>
                  <a:srgbClr val="6266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hạ rồi nhấc lên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8909000" y="2015282"/>
            <a:ext cx="2546449" cy="1800076"/>
          </a:xfrm>
          <a:prstGeom prst="roundRect">
            <a:avLst>
              <a:gd name="adj" fmla="val 15522"/>
            </a:avLst>
          </a:prstGeom>
          <a:solidFill>
            <a:srgbClr val="FFE3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084222" y="2212032"/>
            <a:ext cx="2196007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Thanh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084222" y="2446734"/>
            <a:ext cx="2196007" cy="65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130"/>
              </a:lnSpc>
              <a:spcBef>
                <a:spcPts val="500"/>
              </a:spcBef>
              <a:buNone/>
            </a:pPr>
            <a:r>
              <a:rPr lang="en-US" sz="38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bà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9084222" y="3149054"/>
            <a:ext cx="2196007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95"/>
              </a:lnSpc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2D7FF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51 ↘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084222" y="3440460"/>
            <a:ext cx="2196007" cy="178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1040" dirty="0">
                <a:solidFill>
                  <a:srgbClr val="6266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đi xuống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736550" y="4145459"/>
            <a:ext cx="10718899" cy="659160"/>
          </a:xfrm>
          <a:prstGeom prst="roundRect">
            <a:avLst>
              <a:gd name="adj" fmla="val 42387"/>
            </a:avLst>
          </a:prstGeom>
          <a:solidFill>
            <a:srgbClr val="FFFFFF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46100" y="4355009"/>
            <a:ext cx="10505795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3B3D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变调:</a:t>
            </a:r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B3D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两个第三声音节连读时，前一个读成第二声。Ví dụ: </a:t>
            </a:r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3B3D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nǐ hǎo → ní hǎo</a:t>
            </a:r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B3D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9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846683" y="392873"/>
            <a:ext cx="3141166" cy="2008056"/>
          </a:xfrm>
          <a:prstGeom prst="roundRect">
            <a:avLst>
              <a:gd name="adj" fmla="val 631820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74212" y="4450684"/>
            <a:ext cx="3511576" cy="2097030"/>
          </a:xfrm>
          <a:prstGeom prst="roundRect">
            <a:avLst>
              <a:gd name="adj" fmla="val 605013"/>
            </a:avLst>
          </a:prstGeom>
          <a:solidFill>
            <a:srgbClr val="FFF5D9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95611" y="266094"/>
            <a:ext cx="1624078" cy="1093313"/>
          </a:xfrm>
          <a:prstGeom prst="roundRect">
            <a:avLst>
              <a:gd name="adj" fmla="val 1160445"/>
            </a:avLst>
          </a:prstGeom>
          <a:solidFill>
            <a:srgbClr val="FFD166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50" y="355550"/>
            <a:ext cx="11480899" cy="6146899"/>
          </a:xfrm>
          <a:prstGeom prst="roundRect">
            <a:avLst>
              <a:gd name="adj" fmla="val 7025"/>
            </a:avLst>
          </a:prstGeom>
          <a:solidFill>
            <a:srgbClr val="FFFDF4"/>
          </a:solidFill>
          <a:ln w="28575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015869" y="1046653"/>
            <a:ext cx="1151862" cy="827596"/>
          </a:xfrm>
          <a:prstGeom prst="roundRect">
            <a:avLst>
              <a:gd name="adj" fmla="val 21484"/>
            </a:avLst>
          </a:prstGeom>
          <a:solidFill>
            <a:srgbClr val="FFE3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46170" y="1231612"/>
            <a:ext cx="1087740" cy="482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1300"/>
              </a:spcBef>
              <a:buNone/>
            </a:pPr>
            <a:r>
              <a:rPr lang="en-US" sz="2000" b="1" dirty="0">
                <a:solidFill>
                  <a:srgbClr val="8D7AE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声调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6550" y="609600"/>
            <a:ext cx="1590080" cy="343049"/>
          </a:xfrm>
          <a:prstGeom prst="roundRect">
            <a:avLst>
              <a:gd name="adj" fmla="val 3698393"/>
            </a:avLst>
          </a:prstGeom>
          <a:solidFill>
            <a:srgbClr val="FFF5D9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95201" y="692051"/>
            <a:ext cx="1298234" cy="178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104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练习 · LUYỆN TẬP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736550" y="1105049"/>
            <a:ext cx="10933277" cy="55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68"/>
              </a:lnSpc>
              <a:spcBef>
                <a:spcPts val="1200"/>
              </a:spcBef>
              <a:buNone/>
            </a:pPr>
            <a:r>
              <a:rPr lang="en-US" sz="42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Bảng luyện âm nhanh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36550" y="1964531"/>
            <a:ext cx="6031855" cy="3103811"/>
          </a:xfrm>
          <a:prstGeom prst="roundRect">
            <a:avLst>
              <a:gd name="adj" fmla="val 9002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46100" y="2174081"/>
            <a:ext cx="1439912" cy="271909"/>
          </a:xfrm>
          <a:prstGeom prst="roundRect">
            <a:avLst>
              <a:gd name="adj" fmla="val 4666010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66651" y="2231231"/>
            <a:ext cx="1222787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CẶP ÂM DỄ NHẦM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946100" y="2699891"/>
            <a:ext cx="888950" cy="6096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11014" y="2816126"/>
            <a:ext cx="366305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bā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00101" y="2699891"/>
            <a:ext cx="888950" cy="6096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65015" y="2816126"/>
            <a:ext cx="366305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54102" y="2699891"/>
            <a:ext cx="888950" cy="6096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19016" y="2816126"/>
            <a:ext cx="366305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dā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108103" y="2699891"/>
            <a:ext cx="888950" cy="6096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11117" y="2816126"/>
            <a:ext cx="288429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tā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62104" y="2699891"/>
            <a:ext cx="888950" cy="6096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26571" y="2816126"/>
            <a:ext cx="367064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gā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46100" y="3474541"/>
            <a:ext cx="888950" cy="6096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215182" y="3590776"/>
            <a:ext cx="357652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kā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000101" y="3474541"/>
            <a:ext cx="888950" cy="6096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254895" y="3590776"/>
            <a:ext cx="386798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bù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054102" y="3474541"/>
            <a:ext cx="888950" cy="6096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08896" y="3590776"/>
            <a:ext cx="386798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pù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108103" y="3474541"/>
            <a:ext cx="888950" cy="6096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362896" y="3590776"/>
            <a:ext cx="386798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dù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162104" y="3474541"/>
            <a:ext cx="888950" cy="6096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55146" y="3590776"/>
            <a:ext cx="308923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tù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46100" y="4249192"/>
            <a:ext cx="888950" cy="6096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211907" y="4365427"/>
            <a:ext cx="364483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gǔ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2000101" y="4249192"/>
            <a:ext cx="888950" cy="6096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269629" y="4365427"/>
            <a:ext cx="356893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kǔ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997005" y="1964531"/>
            <a:ext cx="4458444" cy="3103811"/>
          </a:xfrm>
          <a:prstGeom prst="roundRect">
            <a:avLst>
              <a:gd name="adj" fmla="val 9002"/>
            </a:avLst>
          </a:prstGeom>
          <a:solidFill>
            <a:srgbClr val="FFD166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206555" y="2174081"/>
            <a:ext cx="1008608" cy="271909"/>
          </a:xfrm>
          <a:prstGeom prst="roundRect">
            <a:avLst>
              <a:gd name="adj" fmla="val 4666010"/>
            </a:avLst>
          </a:prstGeom>
          <a:solidFill>
            <a:srgbClr val="DDF7EE"/>
          </a:solidFill>
          <a:ln w="19050">
            <a:solidFill>
              <a:srgbClr val="2021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327106" y="2231231"/>
            <a:ext cx="782857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MINI GAME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7206555" y="2547491"/>
            <a:ext cx="4120131" cy="39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2"/>
              </a:lnSpc>
              <a:buNone/>
            </a:pPr>
            <a:r>
              <a:rPr lang="en-US" sz="2900" b="1" dirty="0">
                <a:solidFill>
                  <a:srgbClr val="2021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Nghe và giơ thẻ</a:t>
            </a:r>
            <a:endParaRPr lang="en-US" sz="2900" dirty="0"/>
          </a:p>
        </p:txBody>
      </p:sp>
      <p:sp>
        <p:nvSpPr>
          <p:cNvPr id="42" name="Text 40"/>
          <p:cNvSpPr/>
          <p:nvPr/>
        </p:nvSpPr>
        <p:spPr>
          <a:xfrm>
            <a:off x="7206555" y="3072259"/>
            <a:ext cx="4120131" cy="48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3B3D3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Giảng viên đọc một âm tiết. Nhóm chọn thẻ đúng: thanh mẫu, vận mẫu, thanh điệu.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206555" y="3730079"/>
            <a:ext cx="4120131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400"/>
              </a:spcBef>
              <a:buNone/>
            </a:pPr>
            <a:r>
              <a:rPr lang="en-US" sz="1400" b="1" dirty="0">
                <a:solidFill>
                  <a:srgbClr val="8D7AE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 / p · d / t · g / 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2026-05-08T14:24:28Z</dcterms:created>
  <dcterms:modified xsi:type="dcterms:W3CDTF">2026-05-08T14:24:28Z</dcterms:modified>
</cp:coreProperties>
</file>