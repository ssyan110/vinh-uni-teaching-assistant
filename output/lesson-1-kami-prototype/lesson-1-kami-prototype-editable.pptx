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1046113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0585"/>
            <a:ext cx="939367" cy="161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2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BÀI 1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0028932" y="584150"/>
            <a:ext cx="15068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BẢN MẪU KAMI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1244501"/>
            <a:ext cx="11036808" cy="932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</a:t>
            </a:r>
            <a:pPr algn="l" indent="0" marL="0">
              <a:lnSpc>
                <a:spcPts val="3672"/>
              </a:lnSpc>
              <a:buNone/>
            </a:pPr>
            <a:endParaRPr lang="en-US" sz="3400" dirty="0"/>
          </a:p>
          <a:p>
            <a:pPr algn="l" indent="0" marL="0">
              <a:lnSpc>
                <a:spcPts val="3672"/>
              </a:lnSpc>
              <a:buNone/>
            </a:pPr>
            <a:r>
              <a:rPr lang="en-US" sz="34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bản mẫu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133600"/>
            <a:ext cx="5270450" cy="245060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3026" y="2349401"/>
            <a:ext cx="2103558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NGUỒN GIÁO TRÌNH · 教材来源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3026" y="2630239"/>
            <a:ext cx="4993919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8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873026" y="3691830"/>
            <a:ext cx="4993919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2"/>
              </a:lnSpc>
              <a:spcBef>
                <a:spcPts val="800"/>
              </a:spcBef>
              <a:buNone/>
            </a:pPr>
            <a:r>
              <a:rPr lang="en-US" sz="1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73026" y="4151561"/>
            <a:ext cx="4993919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Xin chào / Chào bạn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35601" y="2133600"/>
            <a:ext cx="5270599" cy="2450604"/>
          </a:xfrm>
          <a:prstGeom prst="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73726" y="2400300"/>
            <a:ext cx="2318058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FAF9F5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ĐỊNH HƯỚNG THIẾT KẾ · 设计方向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73726" y="2681139"/>
            <a:ext cx="4890236" cy="990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AF9F5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Nền giấy ấm, điểm nhấn xanh mực, kiểu chữ có chân, bố cục phù hợp giảng dạy đại học.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73726" y="3900488"/>
            <a:ext cx="4890236" cy="18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8"/>
              </a:lnSpc>
              <a:spcBef>
                <a:spcPts val="1800"/>
              </a:spcBef>
              <a:buNone/>
            </a:pPr>
            <a:r>
              <a:rPr lang="en-US" sz="1020" dirty="0">
                <a:solidFill>
                  <a:srgbClr val="E8E6DC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Chỉ dựng bản mẫu Bài 1 để duyệt phong cách trước khi tạo toàn bộ bài học.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85800" y="6171158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277421"/>
            <a:ext cx="2668423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Giáo trình Hán ngữ 1 · Bài 1 bản mẫu · Kami × Huashu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876657" y="6277421"/>
            <a:ext cx="642134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1046113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0585"/>
            <a:ext cx="1740289" cy="161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2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学习路线 · LỘ TRÌNH HỌC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0028932" y="584150"/>
            <a:ext cx="15068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BẢN MẪU KAMI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1244501"/>
            <a:ext cx="11036808" cy="46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Lộ trình buổi học đầu tiên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133600"/>
            <a:ext cx="2062460" cy="1364754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95325" y="2133600"/>
            <a:ext cx="0" cy="1364754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1800" y="2520851"/>
            <a:ext cx="1825300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123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</a:t>
            </a:r>
            <a:endParaRPr lang="en-US" sz="1230" dirty="0"/>
          </a:p>
          <a:p>
            <a:pPr algn="l" indent="0" marL="0">
              <a:lnSpc>
                <a:spcPts val="1624"/>
              </a:lnSpc>
              <a:buNone/>
            </a:pPr>
            <a:r>
              <a:rPr lang="en-US" sz="123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</a:t>
            </a:r>
            <a:endParaRPr lang="en-US" sz="1230" dirty="0"/>
          </a:p>
          <a:p>
            <a:pPr algn="l" indent="0" marL="0">
              <a:lnSpc>
                <a:spcPts val="1624"/>
              </a:lnSpc>
              <a:buNone/>
            </a:pPr>
            <a:r>
              <a:rPr lang="en-US" sz="123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Chào bạn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2875211" y="2133600"/>
            <a:ext cx="2062460" cy="1364754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884736" y="2133600"/>
            <a:ext cx="0" cy="1364754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1211" y="2520851"/>
            <a:ext cx="1825300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123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你、好、一、五、八、大、不、口、白、女、马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5064621" y="2133600"/>
            <a:ext cx="2062609" cy="1364754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74146" y="2133600"/>
            <a:ext cx="0" cy="1364754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0621" y="2520851"/>
            <a:ext cx="1825451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123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 p m f</a:t>
            </a:r>
            <a:endParaRPr lang="en-US" sz="1230" dirty="0"/>
          </a:p>
          <a:p>
            <a:pPr algn="l" indent="0" marL="0">
              <a:lnSpc>
                <a:spcPts val="1624"/>
              </a:lnSpc>
              <a:buNone/>
            </a:pPr>
            <a:r>
              <a:rPr lang="en-US" sz="123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 t n l</a:t>
            </a:r>
            <a:endParaRPr lang="en-US" sz="1230" dirty="0"/>
          </a:p>
          <a:p>
            <a:pPr algn="l" indent="0" marL="0">
              <a:lnSpc>
                <a:spcPts val="1624"/>
              </a:lnSpc>
              <a:buNone/>
            </a:pPr>
            <a:r>
              <a:rPr lang="en-US" sz="123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 k h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7254180" y="2133600"/>
            <a:ext cx="2062460" cy="1364754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263705" y="2133600"/>
            <a:ext cx="0" cy="1364754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0181" y="2520851"/>
            <a:ext cx="1825300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123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 o e i u ü</a:t>
            </a:r>
            <a:endParaRPr lang="en-US" sz="1230" dirty="0"/>
          </a:p>
          <a:p>
            <a:pPr algn="l" indent="0" marL="0">
              <a:lnSpc>
                <a:spcPts val="1624"/>
              </a:lnSpc>
              <a:buNone/>
            </a:pPr>
            <a:r>
              <a:rPr lang="en-US" sz="123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ai ei ao ou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9443591" y="2133600"/>
            <a:ext cx="2062609" cy="1364754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9453116" y="2133600"/>
            <a:ext cx="0" cy="1364754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9591" y="2520851"/>
            <a:ext cx="1825451" cy="825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123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Thanh điệu</a:t>
            </a:r>
            <a:endParaRPr lang="en-US" sz="1230" dirty="0"/>
          </a:p>
          <a:p>
            <a:pPr algn="l" indent="0" marL="0">
              <a:lnSpc>
                <a:spcPts val="1624"/>
              </a:lnSpc>
              <a:buNone/>
            </a:pPr>
            <a:r>
              <a:rPr lang="en-US" sz="123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Biến điệu</a:t>
            </a:r>
            <a:endParaRPr lang="en-US" sz="1230" dirty="0"/>
          </a:p>
          <a:p>
            <a:pPr algn="l" indent="0" marL="0">
              <a:lnSpc>
                <a:spcPts val="1624"/>
              </a:lnSpc>
              <a:buNone/>
            </a:pPr>
            <a:r>
              <a:rPr lang="en-US" sz="123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Đọc chữ</a:t>
            </a:r>
            <a:endParaRPr lang="en-US" sz="1230" dirty="0"/>
          </a:p>
          <a:p>
            <a:pPr algn="l" indent="0" marL="0">
              <a:lnSpc>
                <a:spcPts val="1624"/>
              </a:lnSpc>
              <a:buNone/>
            </a:pPr>
            <a:r>
              <a:rPr lang="en-US" sz="123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Tập viết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85800" y="3777704"/>
            <a:ext cx="11036808" cy="18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8"/>
              </a:lnSpc>
              <a:spcBef>
                <a:spcPts val="2200"/>
              </a:spcBef>
              <a:buNone/>
            </a:pPr>
            <a:r>
              <a:rPr lang="en-US" sz="102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Gợi ý cho giảng viên: dùng slide này như lộ trình trực quan thay cho mục lục dày chữ.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85800" y="6171158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6277421"/>
            <a:ext cx="2668423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Giáo trình Hán ngữ 1 · Bài 1 bản mẫu · Kami × Huashu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876657" y="6277421"/>
            <a:ext cx="642134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1046113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0585"/>
            <a:ext cx="1016788" cy="161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2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课文 · BÀI ĐỌC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0028932" y="584150"/>
            <a:ext cx="15068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BẢN MẪU KAMI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1244501"/>
            <a:ext cx="11036808" cy="46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Mẫu hội thoại: bắt đầu bằng lời chào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133600"/>
            <a:ext cx="5270450" cy="3033266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3026" y="2349401"/>
            <a:ext cx="1821960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MẪU HỘI THOẠI · 对话示范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73026" y="3800177"/>
            <a:ext cx="48959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026" y="2757190"/>
            <a:ext cx="777240" cy="19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7426" y="2757190"/>
            <a:ext cx="4061231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你好！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87426" y="3174950"/>
            <a:ext cx="406123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7426" y="3440757"/>
            <a:ext cx="406123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Chào bạn!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3026" y="4974878"/>
            <a:ext cx="48959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026" y="3931890"/>
            <a:ext cx="777240" cy="19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7426" y="3931890"/>
            <a:ext cx="4061231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你好！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87426" y="4349651"/>
            <a:ext cx="406123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87426" y="4615458"/>
            <a:ext cx="406123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Chào bạn!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5601" y="2133600"/>
            <a:ext cx="5270599" cy="3033266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22827" y="2349401"/>
            <a:ext cx="1975283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GỢI Ý GIẢNG VIÊN · 教师提示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22827" y="2630239"/>
            <a:ext cx="4994071" cy="5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45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Dùng như hoạt động khởi động ngắn: giảng viên đọc mẫu, sinh viên lặp lại rồi chào hai bạn bên cạnh.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22827" y="3341489"/>
            <a:ext cx="4994071" cy="455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88"/>
              </a:lnSpc>
              <a:spcBef>
                <a:spcPts val="1600"/>
              </a:spcBef>
              <a:buNone/>
            </a:pPr>
            <a:r>
              <a:rPr lang="en-US" sz="2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 → ní hǎo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22827" y="3974902"/>
            <a:ext cx="4994071" cy="18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8"/>
              </a:lnSpc>
              <a:spcBef>
                <a:spcPts val="1400"/>
              </a:spcBef>
              <a:buNone/>
            </a:pPr>
            <a:r>
              <a:rPr lang="en-US" sz="102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Chỉ giải thích biến điệu thanh 3 sau khi sinh viên đã nghe và lặp lại được nhịp chào.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85800" y="6171158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6277421"/>
            <a:ext cx="2668423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Giáo trình Hán ngữ 1 · Bài 1 bản mẫu · Kami × Huashu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876657" y="6277421"/>
            <a:ext cx="642134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1046113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0585"/>
            <a:ext cx="949994" cy="161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2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生词 · TỪ MỚI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0028932" y="584150"/>
            <a:ext cx="15068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BẢN MẪU KAMI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1244501"/>
            <a:ext cx="11036808" cy="46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Ít từ mới, luyện lặp lại nhiều lần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133600"/>
            <a:ext cx="5270450" cy="3709243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3026" y="2349401"/>
            <a:ext cx="1369886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TỪ CỐT LÕI · 核心词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73026" y="3129707"/>
            <a:ext cx="48959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026" y="2693640"/>
            <a:ext cx="54406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33376" y="2807940"/>
            <a:ext cx="98445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25477" y="2807940"/>
            <a:ext cx="3206419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22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bạn / anh / chị / ông / bà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73026" y="3633936"/>
            <a:ext cx="48959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026" y="3197870"/>
            <a:ext cx="54406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好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33376" y="3312170"/>
            <a:ext cx="98445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hǎo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25477" y="3312170"/>
            <a:ext cx="3206419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22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tốt; ổn; hay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73026" y="4138166"/>
            <a:ext cx="48959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026" y="3702100"/>
            <a:ext cx="54406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不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533376" y="3816400"/>
            <a:ext cx="98445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25477" y="3816400"/>
            <a:ext cx="3206419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22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không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73026" y="4642396"/>
            <a:ext cx="48959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026" y="4206329"/>
            <a:ext cx="54406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大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33376" y="4320629"/>
            <a:ext cx="98445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25477" y="4320629"/>
            <a:ext cx="3206419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22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to; lớn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73026" y="5146625"/>
            <a:ext cx="48959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026" y="4710559"/>
            <a:ext cx="54406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白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533376" y="4824859"/>
            <a:ext cx="98445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bái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25477" y="4824859"/>
            <a:ext cx="3206419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22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trắng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6235601" y="2133600"/>
            <a:ext cx="5270599" cy="3709243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22827" y="2349401"/>
            <a:ext cx="1942037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SỐ VÀ DANH TỪ · 数字与名词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22827" y="3129707"/>
            <a:ext cx="4896148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2827" y="2693640"/>
            <a:ext cx="54406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一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7083177" y="2807940"/>
            <a:ext cx="98445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yī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75278" y="2807940"/>
            <a:ext cx="3206570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22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một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6422827" y="3633936"/>
            <a:ext cx="4896148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2827" y="3197870"/>
            <a:ext cx="54406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五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7083177" y="3312170"/>
            <a:ext cx="98445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wǔ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75278" y="3312170"/>
            <a:ext cx="3206570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22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năm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6422827" y="4138166"/>
            <a:ext cx="4896148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2827" y="3702100"/>
            <a:ext cx="54406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八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7083177" y="3816400"/>
            <a:ext cx="98445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bā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175278" y="3816400"/>
            <a:ext cx="3206570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22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tám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6422827" y="4642396"/>
            <a:ext cx="4896148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2827" y="4206329"/>
            <a:ext cx="54406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口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7083177" y="4320629"/>
            <a:ext cx="98445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kǒu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75278" y="4320629"/>
            <a:ext cx="3206570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22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miệng; nhân khẩu</a:t>
            </a:r>
            <a:endParaRPr lang="en-US" sz="1220" dirty="0"/>
          </a:p>
        </p:txBody>
      </p:sp>
      <p:sp>
        <p:nvSpPr>
          <p:cNvPr id="47" name="Shape 45"/>
          <p:cNvSpPr/>
          <p:nvPr/>
        </p:nvSpPr>
        <p:spPr>
          <a:xfrm>
            <a:off x="6422827" y="5146625"/>
            <a:ext cx="4896148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22827" y="4710559"/>
            <a:ext cx="54406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女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7083177" y="4824859"/>
            <a:ext cx="98445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nǚ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75278" y="4824859"/>
            <a:ext cx="3206570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22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nữ; phụ nữ</a:t>
            </a:r>
            <a:endParaRPr lang="en-US" sz="1220" dirty="0"/>
          </a:p>
        </p:txBody>
      </p:sp>
      <p:sp>
        <p:nvSpPr>
          <p:cNvPr id="51" name="Shape 49"/>
          <p:cNvSpPr/>
          <p:nvPr/>
        </p:nvSpPr>
        <p:spPr>
          <a:xfrm>
            <a:off x="6422827" y="5650855"/>
            <a:ext cx="4896148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22827" y="5214789"/>
            <a:ext cx="54406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马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7083177" y="5329089"/>
            <a:ext cx="98445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mǎ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175278" y="5329089"/>
            <a:ext cx="3206570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22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con ngựa</a:t>
            </a:r>
            <a:endParaRPr lang="en-US" sz="1220" dirty="0"/>
          </a:p>
        </p:txBody>
      </p:sp>
      <p:sp>
        <p:nvSpPr>
          <p:cNvPr id="55" name="Shape 53"/>
          <p:cNvSpPr/>
          <p:nvPr/>
        </p:nvSpPr>
        <p:spPr>
          <a:xfrm>
            <a:off x="685800" y="6171158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" y="6277421"/>
            <a:ext cx="2668423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Giáo trình Hán ngữ 1 · Bài 1 bản mẫu · Kami × Huashu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876657" y="6277421"/>
            <a:ext cx="642134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1046113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0585"/>
            <a:ext cx="996901" cy="161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2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语音 · NGỮ ÂM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0028932" y="584150"/>
            <a:ext cx="15068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BẢN MẪU KAMI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1244501"/>
            <a:ext cx="11036808" cy="46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Cho sinh viên nhìn thấy thanh điệu trước khi giải thích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133600"/>
            <a:ext cx="2590800" cy="176673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3026" y="2320826"/>
            <a:ext cx="2260675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THANH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3026" y="2597497"/>
            <a:ext cx="2260675" cy="59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2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34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bā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73026" y="3231356"/>
            <a:ext cx="2260675" cy="297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6"/>
              </a:lnSpc>
              <a:buNone/>
            </a:pPr>
            <a:r>
              <a:rPr lang="en-US" sz="1700" dirty="0">
                <a:solidFill>
                  <a:srgbClr val="1B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55  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3026" y="3529310"/>
            <a:ext cx="2260675" cy="18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8"/>
              </a:lnSpc>
              <a:buNone/>
            </a:pPr>
            <a:r>
              <a:rPr lang="en-US" sz="102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cao và bằng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429000" y="2133600"/>
            <a:ext cx="2590800" cy="176673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16226" y="2320826"/>
            <a:ext cx="2260675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THANH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6226" y="2597497"/>
            <a:ext cx="2260675" cy="59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2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34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bá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616226" y="3231356"/>
            <a:ext cx="2260675" cy="297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6"/>
              </a:lnSpc>
              <a:buNone/>
            </a:pPr>
            <a:r>
              <a:rPr lang="en-US" sz="1700" dirty="0">
                <a:solidFill>
                  <a:srgbClr val="1B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 ↗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16226" y="3529310"/>
            <a:ext cx="2260675" cy="18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8"/>
              </a:lnSpc>
              <a:buNone/>
            </a:pPr>
            <a:r>
              <a:rPr lang="en-US" sz="102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đi lên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172200" y="2133600"/>
            <a:ext cx="2590800" cy="176673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59426" y="2320826"/>
            <a:ext cx="2260675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THANH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9426" y="2597497"/>
            <a:ext cx="2260675" cy="59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2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34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bǎ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359426" y="3231356"/>
            <a:ext cx="2260675" cy="297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6"/>
              </a:lnSpc>
              <a:buNone/>
            </a:pPr>
            <a:r>
              <a:rPr lang="en-US" sz="1700" dirty="0">
                <a:solidFill>
                  <a:srgbClr val="1B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214 ˅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59426" y="3529310"/>
            <a:ext cx="2260675" cy="18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8"/>
              </a:lnSpc>
              <a:buNone/>
            </a:pPr>
            <a:r>
              <a:rPr lang="en-US" sz="102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hạ thấp rồi nhấc lên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915400" y="2133600"/>
            <a:ext cx="2590800" cy="176673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102626" y="2320826"/>
            <a:ext cx="2260675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THANH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02626" y="2597497"/>
            <a:ext cx="2260675" cy="59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2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34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102626" y="3231356"/>
            <a:ext cx="2260675" cy="297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6"/>
              </a:lnSpc>
              <a:buNone/>
            </a:pPr>
            <a:r>
              <a:rPr lang="en-US" sz="1700" dirty="0">
                <a:solidFill>
                  <a:srgbClr val="1B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  ↘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02626" y="3529310"/>
            <a:ext cx="2260675" cy="18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8"/>
              </a:lnSpc>
              <a:buNone/>
            </a:pPr>
            <a:r>
              <a:rPr lang="en-US" sz="102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đi xuống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85800" y="4128939"/>
            <a:ext cx="10820400" cy="100086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73026" y="4316164"/>
            <a:ext cx="1065486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Biến điệu:</a:t>
            </a:r>
            <a:pPr algn="l" indent="0" marL="0">
              <a:lnSpc>
                <a:spcPts val="2001"/>
              </a:lnSpc>
              <a:buNone/>
            </a:pPr>
            <a:r>
              <a:rPr lang="en-US" sz="145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 两个第三声音节连读时，前一个读成第二声。Ví dụ: nǐ hǎo → ní hǎo.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73026" y="4697164"/>
            <a:ext cx="10654867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Khi hai âm tiết thanh 3 đi liền nhau, âm tiết thứ nhất đọc gần như thanh 2.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5800" y="6171158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6277421"/>
            <a:ext cx="2668423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Giáo trình Hán ngữ 1 · Bài 1 bản mẫu · Kami × Huashu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876657" y="6277421"/>
            <a:ext cx="642134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1046113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0585"/>
            <a:ext cx="985668" cy="161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2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练习 · BÀI TẬP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0028932" y="584150"/>
            <a:ext cx="15068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BẢN MẪU KAMI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1244501"/>
            <a:ext cx="11036808" cy="46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Bảng luyện âm trong lớp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133600"/>
            <a:ext cx="6075611" cy="2679502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3026" y="2349401"/>
            <a:ext cx="2132249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PHÂN BIỆT PHÁT ÂM · 语音辨析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3026" y="2630239"/>
            <a:ext cx="5815182" cy="18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8"/>
              </a:lnSpc>
              <a:buNone/>
            </a:pPr>
            <a:r>
              <a:rPr lang="en-US" sz="102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Đọc theo hàng ngang; phân biệt b/p, d/t và g/k.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73026" y="2940993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25851" y="3039368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40111" y="2940993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92936" y="3039368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07196" y="2940993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60021" y="3039368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74281" y="2940993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27106" y="3039368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41366" y="2940993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94191" y="3039368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08452" y="2940993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61277" y="3039368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3026" y="3544937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25851" y="3643313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bu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40111" y="3544937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892936" y="3643313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pu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807196" y="3544937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860021" y="3643313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du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74281" y="3544937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27106" y="3643313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tu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41366" y="3544937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94191" y="3643313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gu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08452" y="3544937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61277" y="3643313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ku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3026" y="4148882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25851" y="4247257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bai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840111" y="4148882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892936" y="4247257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pai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807196" y="4148882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860021" y="4247257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dai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774281" y="4148882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827106" y="4247257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tai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741366" y="4148882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94191" y="4247257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gai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08452" y="4148882"/>
            <a:ext cx="865584" cy="47699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761277" y="4247257"/>
            <a:ext cx="759934" cy="28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kai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15311" y="2133600"/>
            <a:ext cx="4490740" cy="2679502"/>
          </a:xfrm>
          <a:prstGeom prst="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253436" y="2400300"/>
            <a:ext cx="2083368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FAF9F5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KIỂM TRA CUỐI GIỜ · 课堂检查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253436" y="2681139"/>
            <a:ext cx="4014490" cy="76214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01"/>
              </a:lnSpc>
              <a:buSzPct val="100000"/>
              <a:buChar char="•"/>
            </a:pPr>
            <a:r>
              <a:rPr lang="en-US" sz="1450" dirty="0">
                <a:solidFill>
                  <a:srgbClr val="FAF9F5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□ Đọc 你好 đúng biến điệu thanh 3.</a:t>
            </a:r>
            <a:endParaRPr lang="en-US" sz="1450" dirty="0"/>
          </a:p>
          <a:p>
            <a:pPr algn="l" marL="114300" indent="-114300">
              <a:lnSpc>
                <a:spcPts val="2001"/>
              </a:lnSpc>
              <a:buSzPct val="100000"/>
              <a:buChar char="•"/>
            </a:pPr>
            <a:r>
              <a:rPr lang="en-US" sz="1450" dirty="0">
                <a:solidFill>
                  <a:srgbClr val="FAF9F5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□ Nhận biết 你、好、不、一、五、八.</a:t>
            </a:r>
            <a:endParaRPr lang="en-US" sz="1450" dirty="0"/>
          </a:p>
          <a:p>
            <a:pPr algn="l" marL="114300" indent="-114300">
              <a:lnSpc>
                <a:spcPts val="2001"/>
              </a:lnSpc>
              <a:buSzPct val="100000"/>
              <a:buChar char="•"/>
            </a:pPr>
            <a:r>
              <a:rPr lang="en-US" sz="1450" dirty="0">
                <a:solidFill>
                  <a:srgbClr val="FAF9F5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□ Phân biệt b/p, d/t, g/k.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685800" y="6171158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6277421"/>
            <a:ext cx="2668423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Giáo trình Hán ngữ 1 · Bài 1 bản mẫu · Kami × Huashu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876657" y="6277421"/>
            <a:ext cx="642134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2026-05-08T09:58:30Z</dcterms:created>
  <dcterms:modified xsi:type="dcterms:W3CDTF">2026-05-08T09:58:30Z</dcterms:modified>
</cp:coreProperties>
</file>