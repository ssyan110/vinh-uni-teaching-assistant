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gif"/><Relationship Id="rId2" Type="http://schemas.openxmlformats.org/officeDocument/2006/relationships/image" Target="../media/image-25-2.gif"/><Relationship Id="rId3" Type="http://schemas.openxmlformats.org/officeDocument/2006/relationships/image" Target="../media/image-25-3.gif"/><Relationship Id="rId4" Type="http://schemas.openxmlformats.org/officeDocument/2006/relationships/image" Target="../media/image-25-4.gif"/><Relationship Id="rId5" Type="http://schemas.openxmlformats.org/officeDocument/2006/relationships/image" Target="../media/image-25-5.gif"/><Relationship Id="rId6" Type="http://schemas.openxmlformats.org/officeDocument/2006/relationships/image" Target="../media/image-25-6.gi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98673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BÀI 1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877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pPr algn="l" indent="0" marL="0">
              <a:lnSpc>
                <a:spcPts val="3456"/>
              </a:lnSpc>
              <a:buNone/>
            </a:pPr>
            <a:endParaRPr lang="en-US" sz="3200" dirty="0"/>
          </a:p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234002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984909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课文 · BÀI ĐỌC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580531"/>
            <a:ext cx="5032781" cy="937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80"/>
              </a:lnSpc>
              <a:buNone/>
            </a:pPr>
            <a:r>
              <a:rPr lang="en-US" sz="8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8200" dirty="0"/>
          </a:p>
        </p:txBody>
      </p:sp>
      <p:sp>
        <p:nvSpPr>
          <p:cNvPr id="10" name="Text 8"/>
          <p:cNvSpPr/>
          <p:nvPr/>
        </p:nvSpPr>
        <p:spPr>
          <a:xfrm>
            <a:off x="860375" y="3619202"/>
            <a:ext cx="5032781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46"/>
              </a:lnSpc>
              <a:spcBef>
                <a:spcPts val="800"/>
              </a:spcBef>
              <a:buNone/>
            </a:pPr>
            <a:r>
              <a:rPr lang="en-US" sz="1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0375" y="4043958"/>
            <a:ext cx="5032781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Xin chào / Chào bạn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22950" y="2108150"/>
            <a:ext cx="5283250" cy="234002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97526" y="2320826"/>
            <a:ext cx="910221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BÀI 1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397526" y="2580531"/>
            <a:ext cx="5032781" cy="51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Xin chào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97526" y="3295650"/>
            <a:ext cx="5032781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6"/>
              </a:lnSpc>
              <a:spcBef>
                <a:spcPts val="1600"/>
              </a:spcBef>
              <a:buNone/>
            </a:pPr>
            <a:r>
              <a:rPr lang="en-US" sz="2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97526" y="3805535"/>
            <a:ext cx="5032781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46"/>
              </a:lnSpc>
              <a:spcBef>
                <a:spcPts val="800"/>
              </a:spcBef>
              <a:buNone/>
            </a:pPr>
            <a:r>
              <a:rPr lang="en-US" sz="1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47144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学习目标 · MỤC TIÊU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Mục tiêu bài học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6339780" cy="2280493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46127"/>
            <a:ext cx="5990630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hỏi cơ bản bằng 你好 và phản hồi tự nhiên.</a:t>
            </a:r>
            <a:endParaRPr lang="en-US" sz="1400" dirty="0"/>
          </a:p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Nhận biết 11 chữ/từ đầu tiên: 你、好、一、五、八、大、不、口、白、女、马.</a:t>
            </a:r>
            <a:endParaRPr lang="en-US" sz="1400" dirty="0"/>
          </a:p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các thanh mẫu b/p/m/f, d/t/n/l, g/k/h và vận mẫu a/o/e/i/u/ü, ai/ei/ao/ou.</a:t>
            </a:r>
            <a:endParaRPr lang="en-US" sz="1400" dirty="0"/>
          </a:p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Hiểu quy tắc thanh điệu, vị trí dấu thanh và biến điệu thanh 3.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79481" y="2108150"/>
            <a:ext cx="4226719" cy="2280493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4057" y="2320826"/>
            <a:ext cx="188131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NỘI DUNG CHÍNH · 重点内容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454057" y="2580531"/>
            <a:ext cx="3955119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6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54057" y="2988915"/>
            <a:ext cx="3955119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6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生词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54057" y="3397300"/>
            <a:ext cx="3955119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6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声母 · 韵母 · 声调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54057" y="3805684"/>
            <a:ext cx="3955119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6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练习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45687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学习路线 · LỘ TRÌNH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Lộ trình bài học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1718816" cy="1020366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95325" y="2108150"/>
            <a:ext cx="0" cy="1020366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351" y="2460427"/>
            <a:ext cx="15267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2506117" y="2108150"/>
            <a:ext cx="1718816" cy="1020366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515642" y="2108150"/>
            <a:ext cx="0" cy="1020366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6668" y="2460427"/>
            <a:ext cx="15267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11 chữ Hán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và từ vựng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4326434" y="2108150"/>
            <a:ext cx="1718816" cy="1020366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35959" y="2108150"/>
            <a:ext cx="0" cy="1020366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6984" y="2460427"/>
            <a:ext cx="1526700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 p m f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 t n l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 k h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6146750" y="2108150"/>
            <a:ext cx="1718816" cy="1020366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56275" y="2108150"/>
            <a:ext cx="0" cy="1020366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7301" y="2460427"/>
            <a:ext cx="15267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 o e i u ü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ai ei ao ou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7967067" y="2108150"/>
            <a:ext cx="1718816" cy="1020366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976592" y="2108150"/>
            <a:ext cx="0" cy="1020366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7618" y="2460427"/>
            <a:ext cx="15267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4 thanh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biến điệu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9787384" y="2108150"/>
            <a:ext cx="1718816" cy="1020366"/>
          </a:xfrm>
          <a:prstGeom prst="rect">
            <a:avLst/>
          </a:prstGeom>
          <a:solidFill>
            <a:srgbClr val="FA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9796909" y="2108150"/>
            <a:ext cx="0" cy="1020366"/>
          </a:xfrm>
          <a:prstGeom prst="line">
            <a:avLst/>
          </a:prstGeom>
          <a:noFill/>
          <a:ln w="19050">
            <a:solidFill>
              <a:srgbClr val="1B36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07935" y="2460427"/>
            <a:ext cx="1526700" cy="541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âm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nhận chữ</a:t>
            </a:r>
            <a:endParaRPr lang="en-US" sz="1110" dirty="0"/>
          </a:p>
          <a:p>
            <a:pPr algn="l" indent="0" marL="0">
              <a:lnSpc>
                <a:spcPts val="1421"/>
              </a:lnSpc>
              <a:buNone/>
            </a:pPr>
            <a:r>
              <a:rPr lang="en-US" sz="111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tập viết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685800" y="3407866"/>
            <a:ext cx="1103680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22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học đi từ chào hỏi đến từ vựng, ngữ âm, luyện đọc và tập viết.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067794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课文 · BÀI ĐỌC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课文 · Bài đọc: lời chào đầu tiên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2928193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1778999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ĐỐI THOẠI MẪU · 对话示范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60375" y="3716387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375" y="2694831"/>
            <a:ext cx="62179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2375" y="2694831"/>
            <a:ext cx="425554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你好！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22375" y="3116907"/>
            <a:ext cx="4255541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22375" y="3376166"/>
            <a:ext cx="4255541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bạn!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0375" y="4857006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375" y="3835450"/>
            <a:ext cx="62179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22375" y="3835450"/>
            <a:ext cx="425554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22375" y="4257526"/>
            <a:ext cx="4255541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22375" y="4516785"/>
            <a:ext cx="4255541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bạn!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2950" y="2108150"/>
            <a:ext cx="5283250" cy="2928193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97526" y="2320826"/>
            <a:ext cx="1430152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LUYỆN NÓI · 口语练习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6397526" y="2580531"/>
            <a:ext cx="5032781" cy="51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0"/>
              </a:lnSpc>
              <a:buNone/>
            </a:pPr>
            <a:r>
              <a:rPr lang="en-US" sz="3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你好！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97526" y="3192512"/>
            <a:ext cx="5032781" cy="323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46"/>
              </a:lnSpc>
              <a:spcBef>
                <a:spcPts val="800"/>
              </a:spcBef>
              <a:buNone/>
            </a:pPr>
            <a:r>
              <a:rPr lang="en-US" sz="1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hǎo!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397526" y="3617268"/>
            <a:ext cx="5032781" cy="229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bạn!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97526" y="4075509"/>
            <a:ext cx="5032781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spcBef>
                <a:spcPts val="1800"/>
              </a:spcBef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A: 你好！</a:t>
            </a:r>
            <a:endParaRPr lang="en-US" sz="1400" dirty="0"/>
          </a:p>
          <a:p>
            <a:pPr algn="l" indent="0" marL="0">
              <a:lnSpc>
                <a:spcPts val="1876"/>
              </a:lnSpc>
              <a:spcBef>
                <a:spcPts val="1800"/>
              </a:spcBef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B: 你好！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11697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生词 · TỪ VỰNG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Từ vựng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350713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1031513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TỪ VỰNG · 生词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60375" y="3052465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375" y="2643932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075" y="2758232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2536775" y="2748707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đại từ · bạn / anh / chị / ông / bà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60375" y="3529161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375" y="3120628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好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075" y="3234928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hǎo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2536775" y="3225403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tính từ · tốt; ổn; hay; ngon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60375" y="4005858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375" y="3597325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075" y="3711625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2536775" y="3702100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số từ · một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0375" y="4482554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375" y="4074021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075" y="4188321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2536775" y="4178796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số từ · năm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60375" y="4959251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0375" y="4550718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八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075" y="4665018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2536775" y="4655493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số từ · tám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60375" y="5435947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0375" y="5027414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08075" y="5141714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dà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2536775" y="5132189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tính từ · to; lớn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222950" y="2108150"/>
            <a:ext cx="5283250" cy="350713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97526" y="2320826"/>
            <a:ext cx="1195007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LUYỆN ĐỌC · 认读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397526" y="2580531"/>
            <a:ext cx="1138238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534001" y="2717006"/>
            <a:ext cx="882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534001" y="3100388"/>
            <a:ext cx="88259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34001" y="3304580"/>
            <a:ext cx="88259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xin chào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7662714" y="2580531"/>
            <a:ext cx="1138386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799189" y="2717006"/>
            <a:ext cx="8827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不好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799189" y="3100388"/>
            <a:ext cx="88274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bù hǎo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799189" y="3304580"/>
            <a:ext cx="88274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không tốt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8928050" y="2580531"/>
            <a:ext cx="1138238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064526" y="2717006"/>
            <a:ext cx="882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9064526" y="3100388"/>
            <a:ext cx="88259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64526" y="3304580"/>
            <a:ext cx="88259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số từ · một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10193238" y="2580531"/>
            <a:ext cx="1138386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0329714" y="2717006"/>
            <a:ext cx="8827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五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0329714" y="3100388"/>
            <a:ext cx="88274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329714" y="3304580"/>
            <a:ext cx="88274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số từ · năm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11697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生词 · TỪ VỰNG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Từ vựng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303043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1031513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TỪ VỰNG · 生词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860375" y="3052465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375" y="2643932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不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075" y="2758232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bù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2536775" y="2748707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phó từ · không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60375" y="3529161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375" y="3120628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口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075" y="3234928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kǒu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2536775" y="3225403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danh từ / lượng từ · miệng; nhân khẩu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60375" y="4005858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0375" y="3597325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白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075" y="3711625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bái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2536775" y="3702100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tính từ · trắng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0375" y="4482554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375" y="4074021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075" y="4188321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nǚ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2536775" y="4178796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danh từ / tính từ · nữ; phụ nữ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60375" y="4959251"/>
            <a:ext cx="4934099" cy="0"/>
          </a:xfrm>
          <a:prstGeom prst="line">
            <a:avLst/>
          </a:prstGeom>
          <a:noFill/>
          <a:ln w="9525">
            <a:solidFill>
              <a:srgbClr val="E8E6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0375" y="4550718"/>
            <a:ext cx="544068" cy="34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0"/>
              </a:lnSpc>
              <a:buNone/>
            </a:pPr>
            <a:r>
              <a:rPr lang="en-US" sz="2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马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075" y="4665018"/>
            <a:ext cx="932688" cy="197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16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mǎ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2536775" y="4655493"/>
            <a:ext cx="3322853" cy="200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1"/>
              </a:lnSpc>
              <a:buNone/>
            </a:pPr>
            <a:r>
              <a:rPr lang="en-US" sz="118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danh từ · con ngựa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6222950" y="2108150"/>
            <a:ext cx="5283250" cy="303043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97526" y="2320826"/>
            <a:ext cx="1195007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LUYỆN ĐỌC · 认读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397526" y="2580531"/>
            <a:ext cx="1138238" cy="158918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34001" y="2717006"/>
            <a:ext cx="882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不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534001" y="3100388"/>
            <a:ext cx="88259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4001" y="3304580"/>
            <a:ext cx="88259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phó từ · không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7662714" y="2580531"/>
            <a:ext cx="1138386" cy="158918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799189" y="2717006"/>
            <a:ext cx="8827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口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799189" y="3100388"/>
            <a:ext cx="88274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kǒu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99189" y="3304580"/>
            <a:ext cx="88274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danh từ / lượng từ · miệng; nhân khẩu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8928050" y="2580531"/>
            <a:ext cx="1138238" cy="158918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064526" y="2717006"/>
            <a:ext cx="882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女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64526" y="3100388"/>
            <a:ext cx="882592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64526" y="3304580"/>
            <a:ext cx="88259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nữ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10193238" y="2580531"/>
            <a:ext cx="1138386" cy="158918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329714" y="2717006"/>
            <a:ext cx="88274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马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10329714" y="3100388"/>
            <a:ext cx="88274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mǎ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329714" y="3304580"/>
            <a:ext cx="88274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danh từ · con ngựa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40616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词语练习 · TỪ VỰNG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Từ vựng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3522166" cy="15494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69526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HỎI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580531"/>
            <a:ext cx="323647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0375" y="3002607"/>
            <a:ext cx="3236476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 → ní hǎo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0375" y="3261866"/>
            <a:ext cx="3236476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Chào bạn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34917" y="2108150"/>
            <a:ext cx="3522166" cy="15494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9492" y="2320826"/>
            <a:ext cx="686157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PHỦ ĐỊNH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4509492" y="2580531"/>
            <a:ext cx="323647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不好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09492" y="3002607"/>
            <a:ext cx="3236476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bù hǎo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9492" y="3261866"/>
            <a:ext cx="3236476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không tốt / không ổn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84034" y="2108150"/>
            <a:ext cx="3522166" cy="15494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58609" y="2320826"/>
            <a:ext cx="183987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SỐ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8158609" y="2580531"/>
            <a:ext cx="323647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8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一、五、八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158609" y="3002607"/>
            <a:ext cx="3236476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yī, wǔ, bā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58609" y="3261866"/>
            <a:ext cx="3236476" cy="22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2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một, năm, tám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1103680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8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chữ Hán, pinyin và nghĩa tiếng Việt theo từng nhóm.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206591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音节结构 · CẤU TẠO ÂM TIẾT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Âm tiết tiếng Hán gồm những gì?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955750"/>
            <a:ext cx="6339780" cy="25223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168426"/>
            <a:ext cx="1231440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CÔNG THỨC · 公式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428131"/>
            <a:ext cx="6110442" cy="42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5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mẫu + vận mẫu + thanh điệu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60375" y="3056632"/>
            <a:ext cx="1402407" cy="124688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96851" y="3193107"/>
            <a:ext cx="11520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851" y="3576489"/>
            <a:ext cx="115204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 + a + thanh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851" y="3780681"/>
            <a:ext cx="115204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八 · tám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2389733" y="3056632"/>
            <a:ext cx="1402407" cy="124688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26209" y="3193107"/>
            <a:ext cx="11520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mǎ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26209" y="3576489"/>
            <a:ext cx="1152046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 + a + thanh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6209" y="3984873"/>
            <a:ext cx="115204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马 · ngựa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3919091" y="3056632"/>
            <a:ext cx="1402407" cy="124688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55566" y="3193107"/>
            <a:ext cx="11520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hǎo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55566" y="3576489"/>
            <a:ext cx="1152046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 + ao + thanh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55566" y="3984873"/>
            <a:ext cx="115204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好 · tốt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5448449" y="3056632"/>
            <a:ext cx="1402556" cy="124688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84924" y="3193107"/>
            <a:ext cx="11521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84924" y="3576489"/>
            <a:ext cx="115219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 + i + thanh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84924" y="3780681"/>
            <a:ext cx="115219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 · bạn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279481" y="1955750"/>
            <a:ext cx="4226719" cy="25223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54057" y="2168426"/>
            <a:ext cx="1022708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GHI NHỚ · 记忆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7454057" y="2428131"/>
            <a:ext cx="3955119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Phụ âm mở đầu là 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mẫu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. Phần còn lại là 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vận mẫu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. Thanh điệu làm thay đổi nghĩa.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35728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声母 · THANH MẪU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声母 · Thanh mẫu trong Bài 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3505200" cy="137368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571089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HAI MÔI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580531"/>
            <a:ext cx="3219170" cy="54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8"/>
              </a:lnSpc>
              <a:buNone/>
            </a:pPr>
            <a:r>
              <a:rPr lang="en-US" sz="3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 p 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60375" y="3125093"/>
            <a:ext cx="321917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khép/mở; phân biệt bật hơi và không bật hơi.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4343400" y="2108150"/>
            <a:ext cx="3505200" cy="137368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17975" y="2320826"/>
            <a:ext cx="704981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RĂNG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4517975" y="2580531"/>
            <a:ext cx="3219170" cy="54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8"/>
              </a:lnSpc>
              <a:buNone/>
            </a:pPr>
            <a:r>
              <a:rPr lang="en-US" sz="3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17975" y="3125093"/>
            <a:ext cx="321917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răng trên chạm nhẹ môi dưới.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8001000" y="2108150"/>
            <a:ext cx="3505200" cy="137368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75575" y="2320826"/>
            <a:ext cx="664449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ĐẦU LƯỠI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8175575" y="2580531"/>
            <a:ext cx="3219170" cy="54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8"/>
              </a:lnSpc>
              <a:buNone/>
            </a:pPr>
            <a:r>
              <a:rPr lang="en-US" sz="3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 t n l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75575" y="3125093"/>
            <a:ext cx="321917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đầu lưỡi chạm lợi trên.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85800" y="3659535"/>
            <a:ext cx="10820400" cy="58742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0375" y="3834110"/>
            <a:ext cx="10680674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Gốc lưỡi: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 g k h — phần sau lưỡi nâng lên gần ngạc mềm.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35728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声母 · THANH MẪU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Ngữ âm · Thanh mẫu b p m f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260985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7725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47725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không bật hơi; môi khép rồi mở nhanh.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3422600" y="2108150"/>
            <a:ext cx="260985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84525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84525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3584525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bật hơi mạnh hơn b.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159401" y="2108150"/>
            <a:ext cx="260985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1326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1326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ma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321326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âm mũi; dây thanh rung.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896201" y="2108150"/>
            <a:ext cx="2609999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58126" y="2270075"/>
            <a:ext cx="23318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8126" y="2516386"/>
            <a:ext cx="2331872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fa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9058126" y="3081933"/>
            <a:ext cx="233187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răng; luồng hơi ma sát.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85800" y="3759101"/>
            <a:ext cx="1103680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8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 / p · m / f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35728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声母 · THANH MẪU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Ngữ âm · Thanh mẫu d t n 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260985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7725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47725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đầu lưỡi chạm lợi trên, không bật hơi.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3422600" y="2108150"/>
            <a:ext cx="260985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84525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84525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ta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3584525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vị trí giống d, nhưng bật hơi.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159401" y="2108150"/>
            <a:ext cx="260985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1326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1326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na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321326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âm mũi, hơi đi qua khoang mũi.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896201" y="2108150"/>
            <a:ext cx="2609999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58126" y="2270075"/>
            <a:ext cx="23318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8126" y="2516386"/>
            <a:ext cx="2331872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la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9058126" y="3081933"/>
            <a:ext cx="233187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hơi thoát qua hai bên lưỡi.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85800" y="3759101"/>
            <a:ext cx="1103680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8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Lưu ý cho sinh viên Việt Nam: không đọc l/n lẫn nhau khi luyện pinyin.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357286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声母 · THANH MẪU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Ngữ âm · Thanh mẫu g k 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350520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2270075"/>
            <a:ext cx="324497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7725" y="2516386"/>
            <a:ext cx="3244977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47725" y="3081933"/>
            <a:ext cx="324497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không bật hơi; gốc lưỡi nâng lên rồi hạ nhanh.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4343400" y="2108150"/>
            <a:ext cx="350520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05325" y="2270075"/>
            <a:ext cx="324497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5325" y="2516386"/>
            <a:ext cx="3244977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505325" y="3081933"/>
            <a:ext cx="324497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bật hơi; cảm nhận luồng hơi rõ.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8001000" y="2108150"/>
            <a:ext cx="3505200" cy="142235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62925" y="2270075"/>
            <a:ext cx="3244977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62925" y="2516386"/>
            <a:ext cx="3244977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ha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8162925" y="3081933"/>
            <a:ext cx="3244977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âm xát; hơi ma sát ở phía sau khoang miệng.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85800" y="3733651"/>
            <a:ext cx="10820400" cy="58742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0375" y="3908227"/>
            <a:ext cx="10680674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cặp tối thiểu: ga/ka, gu/ku, gai/kai, gao/kao.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13716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韵母 · VẬN MẪU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单韵母 · Vận mẫu đơn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955750"/>
            <a:ext cx="3522166" cy="244033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168426"/>
            <a:ext cx="373743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 O E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428131"/>
            <a:ext cx="698004" cy="163324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6851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6851" y="2947988"/>
            <a:ext cx="433554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miệng mở rộng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851" y="3560564"/>
            <a:ext cx="43355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lưỡi thấp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685330" y="2428131"/>
            <a:ext cx="698004" cy="163324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21805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1805" y="2947988"/>
            <a:ext cx="433554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tròn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1805" y="3356372"/>
            <a:ext cx="43355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miệng vừa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510284" y="2428131"/>
            <a:ext cx="698004" cy="163324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46759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646759" y="2947988"/>
            <a:ext cx="433554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không tròn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46759" y="3560564"/>
            <a:ext cx="43355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lưỡi hơi cao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4334917" y="1955750"/>
            <a:ext cx="3522166" cy="244033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09492" y="2168426"/>
            <a:ext cx="345507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I U Ü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509492" y="2428131"/>
            <a:ext cx="698004" cy="179337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968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i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645968" y="2947988"/>
            <a:ext cx="433554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dẹt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5968" y="3356372"/>
            <a:ext cx="43355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lưỡi cao phía trước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5334446" y="2428131"/>
            <a:ext cx="698004" cy="179337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70922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u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70922" y="2947988"/>
            <a:ext cx="433554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tròn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70922" y="3356372"/>
            <a:ext cx="433554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lưỡi cao phía sau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6159401" y="2428131"/>
            <a:ext cx="698004" cy="179337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95876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ü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295876" y="2947988"/>
            <a:ext cx="433554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môi tròn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95876" y="3356372"/>
            <a:ext cx="433554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vị trí lưỡi gần i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7984034" y="1955750"/>
            <a:ext cx="3522166" cy="244033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158609" y="2168426"/>
            <a:ext cx="1203052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KHẨU HÌNH · 口形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8158609" y="2428131"/>
            <a:ext cx="3236476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i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: môi dẹt. 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u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: môi tròn. 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ü</a:t>
            </a:r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: lưỡi gần i, môi tròn.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586814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韵母 · VẬN MẪU GHÉP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复韵母 · Vận mẫu ghép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2609850" cy="15000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7725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bái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47725" y="3081933"/>
            <a:ext cx="233172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 chịu ảnh hưởng của i, vị trí lưỡi hơi tiến về trước.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3422600" y="2108150"/>
            <a:ext cx="2609850" cy="15000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84525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EI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84525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měi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3584525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e trong ei đọc gần [e].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159401" y="2108150"/>
            <a:ext cx="2609850" cy="15000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21326" y="2270075"/>
            <a:ext cx="2331720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1326" y="2516386"/>
            <a:ext cx="2331720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hǎo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321326" y="3081933"/>
            <a:ext cx="233172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a chịu ảnh hưởng của o.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896201" y="2108150"/>
            <a:ext cx="2609999" cy="150003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58126" y="2270075"/>
            <a:ext cx="23318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OU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8126" y="2516386"/>
            <a:ext cx="2331872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kǒu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9058126" y="3081933"/>
            <a:ext cx="233187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giữ chuyển động môi rõ.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85800" y="3836789"/>
            <a:ext cx="1103680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8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Cặp âm: bai/bei, mai/mei, hao/hou, kao/kou.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7821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拼音书写 · QUY TẮC VIẾT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Quy tắc viết pinyin: i, u, ü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228064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2312289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KHI ĐỨNG THÀNH ÂM TIẾT RIÊNG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580531"/>
            <a:ext cx="5032781" cy="54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8"/>
              </a:lnSpc>
              <a:buNone/>
            </a:pPr>
            <a:r>
              <a:rPr lang="en-US" sz="3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i → yi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60375" y="3125093"/>
            <a:ext cx="5032781" cy="54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8"/>
              </a:lnSpc>
              <a:buNone/>
            </a:pPr>
            <a:r>
              <a:rPr lang="en-US" sz="3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u → wu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60375" y="3669655"/>
            <a:ext cx="5032781" cy="544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88"/>
              </a:lnSpc>
              <a:buNone/>
            </a:pPr>
            <a:r>
              <a:rPr lang="en-US" sz="32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ü → yu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22950" y="2108150"/>
            <a:ext cx="5283250" cy="228064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97526" y="2320826"/>
            <a:ext cx="101572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QUY TẮC · 规则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397526" y="2643932"/>
            <a:ext cx="4934099" cy="841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Không đọc từng chữ cái theo kiểu tiếng Việt.</a:t>
            </a:r>
            <a:endParaRPr lang="en-US" sz="1400" dirty="0"/>
          </a:p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Nhìn cả âm tiết pinyin như một đơn vị phát âm.</a:t>
            </a:r>
            <a:endParaRPr lang="en-US" sz="1400" dirty="0"/>
          </a:p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Viết yi, wu, yu khi i/u/ü tự tạo thành âm tiết.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38612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声调 · THANH ĐIỆU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声调 · Bốn thanh cơ bản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2600325" cy="159008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2270075"/>
            <a:ext cx="232200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7725" y="2516386"/>
            <a:ext cx="2322005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47725" y="3081933"/>
            <a:ext cx="2322005" cy="27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4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55 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7725" y="3354139"/>
            <a:ext cx="232200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cao và bằng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3425726" y="2108150"/>
            <a:ext cx="2600474" cy="159008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87651" y="2270075"/>
            <a:ext cx="232215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87651" y="2516386"/>
            <a:ext cx="2322156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3587651" y="3081933"/>
            <a:ext cx="2322156" cy="27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4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87651" y="3354139"/>
            <a:ext cx="232215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đi lên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6165800" y="2108150"/>
            <a:ext cx="2600325" cy="159008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27725" y="2270075"/>
            <a:ext cx="2322005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7725" y="2516386"/>
            <a:ext cx="2322005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bǎ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6327725" y="3081933"/>
            <a:ext cx="2322005" cy="27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4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214 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27725" y="3354139"/>
            <a:ext cx="232200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hạ thấp rồi nhấc lên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8905726" y="2108150"/>
            <a:ext cx="2600474" cy="1590080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67651" y="2270075"/>
            <a:ext cx="2322156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67651" y="2516386"/>
            <a:ext cx="2322156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54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31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9067651" y="3081933"/>
            <a:ext cx="2322156" cy="27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4"/>
              </a:lnSpc>
              <a:buNone/>
            </a:pPr>
            <a:r>
              <a:rPr lang="en-US" sz="1600" dirty="0">
                <a:solidFill>
                  <a:srgbClr val="1B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51 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67651" y="3354139"/>
            <a:ext cx="232215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đi xuống nhanh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685800" y="3888730"/>
            <a:ext cx="10820400" cy="58742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60375" y="4063305"/>
            <a:ext cx="10680674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Thanh điệu khác nhau có thể tạo nghĩa khác nhau: ba, ma, yi.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207183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声调辨义 · PHÂN BIỆT NGHĨA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Đổi thanh là đổi nghĩa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955750"/>
            <a:ext cx="3522166" cy="187181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168426"/>
            <a:ext cx="178826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428131"/>
            <a:ext cx="698004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6851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6851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八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851" y="3152180"/>
            <a:ext cx="43355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tám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685330" y="2428131"/>
            <a:ext cx="698004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21805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821805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1805" y="3152180"/>
            <a:ext cx="43355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nhổ / kéo lên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510284" y="2428131"/>
            <a:ext cx="698004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46759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bǎ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646759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46759" y="3152180"/>
            <a:ext cx="43355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bia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3335238" y="2428131"/>
            <a:ext cx="698153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71714" y="2564606"/>
            <a:ext cx="4337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71714" y="2947988"/>
            <a:ext cx="43370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1714" y="3152180"/>
            <a:ext cx="43370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bố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4334917" y="1955750"/>
            <a:ext cx="3522166" cy="187181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09492" y="2168426"/>
            <a:ext cx="210401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MA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4509492" y="2428131"/>
            <a:ext cx="698004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45968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mā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645968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45968" y="3152180"/>
            <a:ext cx="43355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mẹ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5334446" y="2428131"/>
            <a:ext cx="698004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470922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má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470922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麻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70922" y="3152180"/>
            <a:ext cx="43355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tê / gai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6159401" y="2428131"/>
            <a:ext cx="698004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95876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mǎ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295876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马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95876" y="3152180"/>
            <a:ext cx="43355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ngựa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6984355" y="2428131"/>
            <a:ext cx="698153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120830" y="2564606"/>
            <a:ext cx="4337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mà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120830" y="2947988"/>
            <a:ext cx="43370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骂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120830" y="3152180"/>
            <a:ext cx="43370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mắng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7984034" y="1955750"/>
            <a:ext cx="3522166" cy="187181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8158609" y="2168426"/>
            <a:ext cx="138598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YI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8158609" y="2428131"/>
            <a:ext cx="698004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295084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8295084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95084" y="3152180"/>
            <a:ext cx="43355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một</a:t>
            </a:r>
            <a:endParaRPr lang="en-US" sz="1040" dirty="0"/>
          </a:p>
        </p:txBody>
      </p:sp>
      <p:sp>
        <p:nvSpPr>
          <p:cNvPr id="49" name="Text 47"/>
          <p:cNvSpPr/>
          <p:nvPr/>
        </p:nvSpPr>
        <p:spPr>
          <a:xfrm>
            <a:off x="8983563" y="2428131"/>
            <a:ext cx="698004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120039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yí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9120039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移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120039" y="3152180"/>
            <a:ext cx="43355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di chuyển</a:t>
            </a:r>
            <a:endParaRPr lang="en-US" sz="1040" dirty="0"/>
          </a:p>
        </p:txBody>
      </p:sp>
      <p:sp>
        <p:nvSpPr>
          <p:cNvPr id="53" name="Text 51"/>
          <p:cNvSpPr/>
          <p:nvPr/>
        </p:nvSpPr>
        <p:spPr>
          <a:xfrm>
            <a:off x="9808518" y="2428131"/>
            <a:ext cx="698004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944993" y="2564606"/>
            <a:ext cx="4335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yǐ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9944993" y="2947988"/>
            <a:ext cx="433554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椅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944993" y="3152180"/>
            <a:ext cx="43355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ghế</a:t>
            </a:r>
            <a:endParaRPr lang="en-US" sz="1040" dirty="0"/>
          </a:p>
        </p:txBody>
      </p:sp>
      <p:sp>
        <p:nvSpPr>
          <p:cNvPr id="57" name="Text 55"/>
          <p:cNvSpPr/>
          <p:nvPr/>
        </p:nvSpPr>
        <p:spPr>
          <a:xfrm>
            <a:off x="10633472" y="2428131"/>
            <a:ext cx="698153" cy="122485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769947" y="2564606"/>
            <a:ext cx="4337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yì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10769947" y="2947988"/>
            <a:ext cx="43370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亿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769947" y="3152180"/>
            <a:ext cx="43370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trăm triệu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210416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标调规则 · QUY TẮC ĐẶT DẤU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Dấu thanh đặt ở đâu?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6339780" cy="1790254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1101039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QUY TẮC CHÍNH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643932"/>
            <a:ext cx="5990630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Dấu thanh đặt trên nguyên âm chính.</a:t>
            </a:r>
            <a:endParaRPr lang="en-US" sz="1400" dirty="0"/>
          </a:p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Nếu dấu đặt trên i, bỏ dấu chấm của i.</a:t>
            </a:r>
            <a:endParaRPr lang="en-US" sz="1400" dirty="0"/>
          </a:p>
          <a:p>
            <a:pPr algn="l" marL="342900" indent="-342900">
              <a:lnSpc>
                <a:spcPts val="1876"/>
              </a:lnSpc>
              <a:buSzPct val="100000"/>
              <a:buChar char="•"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Khi có nhiều nguyên âm, đặt dấu trên nguyên âm có độ mở miệng lớn nhất.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79481" y="2108150"/>
            <a:ext cx="4226719" cy="1790254"/>
          </a:xfrm>
          <a:prstGeom prst="rect">
            <a:avLst/>
          </a:prstGeom>
          <a:solidFill>
            <a:srgbClr val="1B365D"/>
          </a:solidFill>
          <a:ln w="9525">
            <a:solidFill>
              <a:srgbClr val="1B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92157" y="2358926"/>
            <a:ext cx="38649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VÍ DỤ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7492157" y="2618631"/>
            <a:ext cx="3877395" cy="42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500" dirty="0">
                <a:solidFill>
                  <a:srgbClr val="FAF9F5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· bǐ · hǎo · mèi · lóu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492157" y="3196382"/>
            <a:ext cx="387739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200"/>
              </a:spcBef>
              <a:buNone/>
            </a:pPr>
            <a:r>
              <a:rPr lang="en-US" sz="1040" dirty="0">
                <a:solidFill>
                  <a:srgbClr val="E8E6DC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tập: khoanh nguyên âm mang dấu rồi đọc.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21519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变调 · BIẾN ĐIỆU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变调 · Biến điệu thanh 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203209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602057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QUY TẮC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580531"/>
            <a:ext cx="5032781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6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3 + 3 → 2 + 3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0375" y="3166616"/>
            <a:ext cx="5032781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两个第三声音节连读时，前一个读成第二声。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0375" y="3506391"/>
            <a:ext cx="5032781" cy="45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9"/>
              </a:lnSpc>
              <a:spcBef>
                <a:spcPts val="800"/>
              </a:spcBef>
              <a:buNone/>
            </a:pPr>
            <a:r>
              <a:rPr lang="en-US" sz="135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Khi hai âm tiết thanh 3 đi liền nhau, âm tiết thứ nhất đọc gần như thanh 2.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22950" y="2108150"/>
            <a:ext cx="5283250" cy="2032099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97526" y="2320826"/>
            <a:ext cx="1040014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VÍ DỤ LỚP HỌC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6397526" y="2580531"/>
            <a:ext cx="5032781" cy="51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0"/>
              </a:lnSpc>
              <a:buNone/>
            </a:pPr>
            <a:r>
              <a:rPr lang="en-US" sz="3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 → ní hǎo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97526" y="3091011"/>
            <a:ext cx="5032781" cy="51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0"/>
              </a:lnSpc>
              <a:buNone/>
            </a:pPr>
            <a:r>
              <a:rPr lang="en-US" sz="30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 bǎi → wú bǎi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97526" y="3728442"/>
            <a:ext cx="503278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0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Viết: nǐ hǎo. Đọc: ní hǎo.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13519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汉字 · CHỮ HÁN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音节与汉字 · Âm tiết và chữ Hán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955750"/>
            <a:ext cx="6339780" cy="239330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168426"/>
            <a:ext cx="584144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Ý CHÍNH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428131"/>
            <a:ext cx="6110442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Chữ Hán là hình thức chữ viết của tiếng Hán. Một âm tiết có thể viết thành một hoặc nhiều chữ Hán khác nhau.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0375" y="3082379"/>
            <a:ext cx="140240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96851" y="3218855"/>
            <a:ext cx="11520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6851" y="3602236"/>
            <a:ext cx="115204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八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96851" y="3806428"/>
            <a:ext cx="115204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tám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2389733" y="3082379"/>
            <a:ext cx="140240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26209" y="3218855"/>
            <a:ext cx="11520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mā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26209" y="3602236"/>
            <a:ext cx="115204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6209" y="3806428"/>
            <a:ext cx="115204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mẹ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3919091" y="3082379"/>
            <a:ext cx="140240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55566" y="3218855"/>
            <a:ext cx="11520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mǎ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055566" y="3602236"/>
            <a:ext cx="115204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55566" y="3806428"/>
            <a:ext cx="115204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ngựa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5448449" y="3082379"/>
            <a:ext cx="1402556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84924" y="3218855"/>
            <a:ext cx="11521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84924" y="3602236"/>
            <a:ext cx="115219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84924" y="3806428"/>
            <a:ext cx="115219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một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279481" y="1955750"/>
            <a:ext cx="4226719" cy="2393305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54057" y="2168426"/>
            <a:ext cx="1588181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CÙNG LÚC · 一起读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7454057" y="2428131"/>
            <a:ext cx="3955119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6"/>
              </a:lnSpc>
              <a:buNone/>
            </a:pPr>
            <a:r>
              <a:rPr lang="en-US" sz="1400" dirty="0">
                <a:solidFill>
                  <a:srgbClr val="3D3D3A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Chữ Hán + pinyin + nghĩa tiếng Việt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38612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练习 · THANH ĐIỆU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练习 · Luyện thanh điệu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10820400" cy="324475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3569080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THEO HÀNG NGANG, SAU ĐÓ ĐỌC NGẪU NHIÊN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682032"/>
            <a:ext cx="255106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3442" y="2767757"/>
            <a:ext cx="250492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00289" y="2682032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23354" y="2767757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yí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40351" y="2682032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63416" y="2767757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780413" y="2682032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803478" y="2767757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60375" y="3201591"/>
            <a:ext cx="255106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3442" y="3287316"/>
            <a:ext cx="250492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wū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00289" y="3201591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23354" y="3287316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wú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40351" y="3201591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63416" y="3287316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780413" y="3201591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803478" y="3287316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wù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0375" y="3721150"/>
            <a:ext cx="255106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83442" y="3806875"/>
            <a:ext cx="250492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500289" y="3721150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23354" y="3806875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140351" y="3721150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63416" y="3806875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bǎ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780413" y="3721150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803478" y="3806875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0375" y="4240709"/>
            <a:ext cx="255106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83442" y="4326434"/>
            <a:ext cx="250492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nǚ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3500289" y="4240709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523354" y="4326434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nú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140351" y="4240709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163416" y="4326434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nǔ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780413" y="4240709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803478" y="4326434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nù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860375" y="4760268"/>
            <a:ext cx="255106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83442" y="4845993"/>
            <a:ext cx="250492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kōu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3500289" y="4760268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523354" y="4845993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kóu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140351" y="4760268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63416" y="4845993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kǒu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780413" y="4760268"/>
            <a:ext cx="2551212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803478" y="4845993"/>
            <a:ext cx="2505081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kòu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685800" y="5530602"/>
            <a:ext cx="1103680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4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theo hàng ngang, sau đó đọc ngẫu nhiên.</a:t>
            </a:r>
            <a:endParaRPr lang="en-US" sz="1040" dirty="0"/>
          </a:p>
        </p:txBody>
      </p:sp>
      <p:sp>
        <p:nvSpPr>
          <p:cNvPr id="50" name="Shape 48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49588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声母辨析 · LUYỆN ÂM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练习 · Phân biệt thanh mẫu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272519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1044113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B/P · D/T · G/K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682032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1470" y="2767757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97534" y="2682032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38628" y="2767757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534692" y="2682032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75786" y="2767757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71850" y="2682032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12944" y="2767757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09008" y="2682032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250103" y="2767757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046166" y="2682032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87261" y="2767757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60375" y="3201591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01470" y="3287316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bu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7534" y="3201591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738628" y="3287316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pu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2534692" y="3201591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575786" y="3287316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du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371850" y="3201591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12944" y="3287316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tu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209008" y="3201591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50103" y="3287316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gu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046166" y="3201591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87261" y="3287316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ku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0375" y="3721150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01470" y="3806875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bai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697534" y="3721150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738628" y="3806875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pai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2534692" y="3721150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75786" y="3806875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dai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3371850" y="3721150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12944" y="3806875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tai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4209008" y="3721150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250103" y="3806875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gai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5046166" y="3721150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087261" y="3806875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kai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60375" y="4240709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901470" y="4326434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bao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1697534" y="4240709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738628" y="4326434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pao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2534692" y="4240709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575786" y="4326434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dou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3371850" y="4240709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12944" y="4326434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tou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4209008" y="4240709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250103" y="4326434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gao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5046166" y="4240709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87261" y="4326434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kao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6222950" y="2108150"/>
            <a:ext cx="5283250" cy="272519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397526" y="2320826"/>
            <a:ext cx="953333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TẬP · 练习</a:t>
            </a:r>
            <a:endParaRPr lang="en-US" sz="930" dirty="0"/>
          </a:p>
        </p:txBody>
      </p:sp>
      <p:sp>
        <p:nvSpPr>
          <p:cNvPr id="59" name="Text 57"/>
          <p:cNvSpPr/>
          <p:nvPr/>
        </p:nvSpPr>
        <p:spPr>
          <a:xfrm>
            <a:off x="6397526" y="2682032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421877" y="2767757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8909000" y="2682032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933352" y="2767757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6397526" y="3201591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421877" y="3287316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8909000" y="3201591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933352" y="3287316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6397526" y="3721150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421877" y="3806875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</a:t>
            </a:r>
            <a:endParaRPr lang="en-US" sz="1450" dirty="0"/>
          </a:p>
        </p:txBody>
      </p:sp>
      <p:sp>
        <p:nvSpPr>
          <p:cNvPr id="69" name="Text 67"/>
          <p:cNvSpPr/>
          <p:nvPr/>
        </p:nvSpPr>
        <p:spPr>
          <a:xfrm>
            <a:off x="8909000" y="3721150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933352" y="3806875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6397526" y="4291608"/>
            <a:ext cx="503278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2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Phân biệt các cặp thanh mẫu.</a:t>
            </a:r>
            <a:endParaRPr lang="en-US" sz="1040" dirty="0"/>
          </a:p>
        </p:txBody>
      </p:sp>
      <p:sp>
        <p:nvSpPr>
          <p:cNvPr id="72" name="Shape 70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49588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韵母辨析 · LUYỆN ÂM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练习 · Phân biệt vận mẫu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272519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985820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VẬN MẪU ĐƠN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682032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7285" y="2767757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116038" y="2682032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52946" y="2767757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71850" y="2682032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8759" y="2767757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27513" y="2682032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4421" y="2767757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fo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60375" y="3201591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97285" y="3287316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116038" y="3201591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52946" y="3287316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371850" y="3201591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08759" y="3287316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27513" y="3201591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4421" y="3287316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0375" y="3721150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7285" y="3806875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ma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116038" y="3721150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52946" y="3806875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371850" y="3721150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8759" y="3806875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de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627513" y="3721150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64421" y="3806875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bo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0375" y="4240709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7285" y="4326434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fa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2116038" y="4240709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152946" y="4326434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fo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3371850" y="4240709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08759" y="4326434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ke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627513" y="4240709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64421" y="4326434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po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222950" y="2108150"/>
            <a:ext cx="5283250" cy="2725192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97526" y="2320826"/>
            <a:ext cx="105185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VẬN MẪU GHÉP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6397526" y="2682032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434435" y="2767757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bai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653189" y="2682032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690097" y="2767757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bei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8909000" y="2682032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945910" y="2767757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pao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10164663" y="2682032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201571" y="2767757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pou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6397526" y="3201591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34435" y="3287316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mai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7653189" y="3201591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690097" y="3287316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mei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8909000" y="3201591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8945910" y="3287316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hao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10164663" y="3201591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201571" y="3287316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hou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6397526" y="3721150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434435" y="3806875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gai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7653189" y="3721150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690097" y="3806875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gei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8909000" y="3721150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945910" y="3806875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kao</a:t>
            </a:r>
            <a:endParaRPr lang="en-US" sz="1450" dirty="0"/>
          </a:p>
        </p:txBody>
      </p:sp>
      <p:sp>
        <p:nvSpPr>
          <p:cNvPr id="65" name="Text 63"/>
          <p:cNvSpPr/>
          <p:nvPr/>
        </p:nvSpPr>
        <p:spPr>
          <a:xfrm>
            <a:off x="10164663" y="3721150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10201571" y="3806875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kou</a:t>
            </a:r>
            <a:endParaRPr lang="en-US" sz="1450" dirty="0"/>
          </a:p>
        </p:txBody>
      </p:sp>
      <p:sp>
        <p:nvSpPr>
          <p:cNvPr id="67" name="Text 65"/>
          <p:cNvSpPr/>
          <p:nvPr/>
        </p:nvSpPr>
        <p:spPr>
          <a:xfrm>
            <a:off x="6397526" y="4240709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434435" y="4326434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hai</a:t>
            </a:r>
            <a:endParaRPr lang="en-US" sz="1450" dirty="0"/>
          </a:p>
        </p:txBody>
      </p:sp>
      <p:sp>
        <p:nvSpPr>
          <p:cNvPr id="69" name="Text 67"/>
          <p:cNvSpPr/>
          <p:nvPr/>
        </p:nvSpPr>
        <p:spPr>
          <a:xfrm>
            <a:off x="7653189" y="4240709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7690097" y="4326434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hei</a:t>
            </a:r>
            <a:endParaRPr lang="en-US" sz="1450" dirty="0"/>
          </a:p>
        </p:txBody>
      </p:sp>
      <p:sp>
        <p:nvSpPr>
          <p:cNvPr id="71" name="Text 69"/>
          <p:cNvSpPr/>
          <p:nvPr/>
        </p:nvSpPr>
        <p:spPr>
          <a:xfrm>
            <a:off x="8909000" y="4240709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8945910" y="4326434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gao</a:t>
            </a:r>
            <a:endParaRPr lang="en-US" sz="1450" dirty="0"/>
          </a:p>
        </p:txBody>
      </p:sp>
      <p:sp>
        <p:nvSpPr>
          <p:cNvPr id="73" name="Text 71"/>
          <p:cNvSpPr/>
          <p:nvPr/>
        </p:nvSpPr>
        <p:spPr>
          <a:xfrm>
            <a:off x="10164663" y="4240709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10201571" y="4326434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gou</a:t>
            </a:r>
            <a:endParaRPr lang="en-US" sz="1450" dirty="0"/>
          </a:p>
        </p:txBody>
      </p:sp>
      <p:sp>
        <p:nvSpPr>
          <p:cNvPr id="75" name="Shape 73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13079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认读 · ĐỌC CHỮ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认读 · Nhận mặt chữ và đọc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1955750"/>
            <a:ext cx="5334000" cy="173905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168426"/>
            <a:ext cx="837810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ĐỌC NHANH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428131"/>
            <a:ext cx="1150888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96851" y="2564606"/>
            <a:ext cx="8954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你好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6851" y="2947988"/>
            <a:ext cx="89549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851" y="3152180"/>
            <a:ext cx="89549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xin chào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2138214" y="2428131"/>
            <a:ext cx="115103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274689" y="2564606"/>
            <a:ext cx="895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不好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74689" y="2947988"/>
            <a:ext cx="89564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bù hǎo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74689" y="3152180"/>
            <a:ext cx="89564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không tốt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3416201" y="2428131"/>
            <a:ext cx="115103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2676" y="2564606"/>
            <a:ext cx="895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52676" y="2947988"/>
            <a:ext cx="89564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52676" y="3152180"/>
            <a:ext cx="89564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một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4694188" y="2428131"/>
            <a:ext cx="115103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30663" y="2564606"/>
            <a:ext cx="895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五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30663" y="2947988"/>
            <a:ext cx="89564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30663" y="3152180"/>
            <a:ext cx="89564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năm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6172200" y="1955750"/>
            <a:ext cx="5334000" cy="173905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46775" y="2168426"/>
            <a:ext cx="706044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GHÉP ĐỌC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6346775" y="2428131"/>
            <a:ext cx="1150888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83251" y="2564606"/>
            <a:ext cx="89549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八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83251" y="2947988"/>
            <a:ext cx="895496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83251" y="3152180"/>
            <a:ext cx="89549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tám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7624614" y="2428131"/>
            <a:ext cx="115103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761089" y="2564606"/>
            <a:ext cx="895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大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761089" y="2947988"/>
            <a:ext cx="89564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61089" y="3152180"/>
            <a:ext cx="89564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to; lớn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8902601" y="2428131"/>
            <a:ext cx="115103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039076" y="2564606"/>
            <a:ext cx="895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白马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039076" y="2947988"/>
            <a:ext cx="89564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bái mǎ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39076" y="3152180"/>
            <a:ext cx="89564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ngựa trắng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10180588" y="2428131"/>
            <a:ext cx="1151037" cy="1092101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0317063" y="2564606"/>
            <a:ext cx="89564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女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0317063" y="2947988"/>
            <a:ext cx="895648" cy="20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8"/>
              </a:lnSpc>
              <a:spcBef>
                <a:spcPts val="500"/>
              </a:spcBef>
              <a:buNone/>
            </a:pPr>
            <a:r>
              <a:rPr lang="en-US" sz="1200" dirty="0">
                <a:solidFill>
                  <a:srgbClr val="6B6A64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317063" y="3152180"/>
            <a:ext cx="89564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nữ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26665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写汉字 · TẬP VIẾT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写汉字 · Tập viết chữ Hán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10820400" cy="2505373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1691408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CHỮ LUYỆN VIẾT · 写汉字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580531"/>
            <a:ext cx="1639342" cy="1498550"/>
          </a:xfrm>
          <a:prstGeom prst="rect">
            <a:avLst/>
          </a:prstGeom>
          <a:solidFill>
            <a:srgbClr val="FAF9F5"/>
          </a:solidFill>
          <a:ln w="9525">
            <a:solidFill>
              <a:srgbClr val="D8D4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ssyan110/Development/ai-teaching-material-system/output/lesson-1-full-kami/assets/strokes/%E4%B8%8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471" y="2668637"/>
            <a:ext cx="965150" cy="9651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65672" y="3684538"/>
            <a:ext cx="233172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2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一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626668" y="2580531"/>
            <a:ext cx="1639491" cy="1498550"/>
          </a:xfrm>
          <a:prstGeom prst="rect">
            <a:avLst/>
          </a:prstGeom>
          <a:solidFill>
            <a:srgbClr val="FAF9F5"/>
          </a:solidFill>
          <a:ln w="9525">
            <a:solidFill>
              <a:srgbClr val="D8D4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ssyan110/Development/ai-teaching-material-system/output/lesson-1-full-kami/assets/strokes/%E5%85%AB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763" y="2668637"/>
            <a:ext cx="965150" cy="9651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2113" y="3684538"/>
            <a:ext cx="233172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2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八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393109" y="2580531"/>
            <a:ext cx="1639342" cy="1498550"/>
          </a:xfrm>
          <a:prstGeom prst="rect">
            <a:avLst/>
          </a:prstGeom>
          <a:solidFill>
            <a:srgbClr val="FAF9F5"/>
          </a:solidFill>
          <a:ln w="9525">
            <a:solidFill>
              <a:srgbClr val="D8D4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Users/ssyan110/Development/ai-teaching-material-system/output/lesson-1-full-kami/assets/strokes/%E4%BA%BA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204" y="2668637"/>
            <a:ext cx="965150" cy="9651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98405" y="3684538"/>
            <a:ext cx="233172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2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人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159401" y="2580531"/>
            <a:ext cx="1639491" cy="1498550"/>
          </a:xfrm>
          <a:prstGeom prst="rect">
            <a:avLst/>
          </a:prstGeom>
          <a:solidFill>
            <a:srgbClr val="FAF9F5"/>
          </a:solidFill>
          <a:ln w="9525">
            <a:solidFill>
              <a:srgbClr val="D8D4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Users/ssyan110/Development/ai-teaching-material-system/output/lesson-1-full-kami/assets/strokes/%E5%A4%A7.gi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496" y="2668637"/>
            <a:ext cx="965150" cy="9651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64846" y="3684538"/>
            <a:ext cx="233172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2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大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925842" y="2580531"/>
            <a:ext cx="1639342" cy="1498550"/>
          </a:xfrm>
          <a:prstGeom prst="rect">
            <a:avLst/>
          </a:prstGeom>
          <a:solidFill>
            <a:srgbClr val="FAF9F5"/>
          </a:solidFill>
          <a:ln w="9525">
            <a:solidFill>
              <a:srgbClr val="D8D4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Users/ssyan110/Development/ai-teaching-material-system/output/lesson-1-full-kami/assets/strokes/%E5%8F%A3.gi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38" y="2668637"/>
            <a:ext cx="965150" cy="9651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31138" y="3684538"/>
            <a:ext cx="233172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2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口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9692134" y="2580531"/>
            <a:ext cx="1639491" cy="1498550"/>
          </a:xfrm>
          <a:prstGeom prst="rect">
            <a:avLst/>
          </a:prstGeom>
          <a:solidFill>
            <a:srgbClr val="FAF9F5"/>
          </a:solidFill>
          <a:ln w="9525">
            <a:solidFill>
              <a:srgbClr val="D8D4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5" descr="/Users/ssyan110/Development/ai-teaching-material-system/output/lesson-1-full-kami/assets/strokes/%E5%A5%B3.gi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9230" y="2668637"/>
            <a:ext cx="965150" cy="9651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397579" y="3684538"/>
            <a:ext cx="233172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2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女</a:t>
            </a:r>
            <a:endParaRPr lang="en-US" sz="1800" dirty="0"/>
          </a:p>
        </p:txBody>
      </p:sp>
      <p:sp>
        <p:nvSpPr>
          <p:cNvPr id="27" name="Text 19"/>
          <p:cNvSpPr/>
          <p:nvPr/>
        </p:nvSpPr>
        <p:spPr>
          <a:xfrm>
            <a:off x="860375" y="4256782"/>
            <a:ext cx="1068067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5"/>
              </a:lnSpc>
              <a:spcBef>
                <a:spcPts val="1400"/>
              </a:spcBef>
              <a:buNone/>
            </a:pPr>
            <a:r>
              <a:rPr lang="en-US" sz="104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Quan sát thứ tự nét, sau đó viết vào ô luyện tập.</a:t>
            </a:r>
            <a:endParaRPr lang="en-US" sz="1040" dirty="0"/>
          </a:p>
        </p:txBody>
      </p:sp>
      <p:sp>
        <p:nvSpPr>
          <p:cNvPr id="28" name="Shape 20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350" y="279350"/>
            <a:ext cx="11633299" cy="6299299"/>
          </a:xfrm>
          <a:prstGeom prst="rect">
            <a:avLst/>
          </a:prstGeom>
          <a:noFill/>
          <a:ln w="9525">
            <a:solidFill>
              <a:srgbClr val="E5E3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" y="857250"/>
            <a:ext cx="10820400" cy="0"/>
          </a:xfrm>
          <a:prstGeom prst="line">
            <a:avLst/>
          </a:prstGeom>
          <a:noFill/>
          <a:ln w="9525">
            <a:solidFill>
              <a:srgbClr val="E5E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533400"/>
            <a:ext cx="145565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8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课堂检查 · KIỂM TRA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11163002" y="540097"/>
            <a:ext cx="350062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219200"/>
            <a:ext cx="11036808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6"/>
              </a:lnSpc>
              <a:buNone/>
            </a:pPr>
            <a:r>
              <a:rPr lang="en-US" sz="3200" dirty="0">
                <a:solidFill>
                  <a:srgbClr val="141413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课堂检查 · Kiểm tra cuối bài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108150"/>
            <a:ext cx="5283250" cy="368215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0375" y="2320826"/>
            <a:ext cx="127986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声调 · THANH ĐIỆU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60375" y="2682032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7285" y="2767757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yī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116038" y="2682032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152946" y="2767757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yí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371850" y="2682032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08759" y="2767757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27513" y="2682032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4421" y="2767757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yì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60375" y="3201591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97285" y="3287316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wū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116038" y="3201591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52946" y="3287316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wú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371850" y="3201591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08759" y="3287316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27513" y="3201591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64421" y="3287316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wù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60375" y="3721150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97285" y="3806875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bā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116038" y="3721150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152946" y="3806875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bá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371850" y="3721150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8759" y="3806875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bǎ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627513" y="3721150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64421" y="3806875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60375" y="4240709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97285" y="4326434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dā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2116038" y="4240709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152946" y="4326434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dá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3371850" y="4240709"/>
            <a:ext cx="1166813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08759" y="4326434"/>
            <a:ext cx="1092994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dǎ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4627513" y="4240709"/>
            <a:ext cx="1166961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64421" y="4326434"/>
            <a:ext cx="1093146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dà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222950" y="2108150"/>
            <a:ext cx="5283250" cy="3682157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97526" y="2320826"/>
            <a:ext cx="1120015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变调 · BIẾN ĐIỆU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6397526" y="2682032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421877" y="2767757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nǐ hǎo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909000" y="2682032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933352" y="2767757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wǔ bǎi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6397526" y="3201591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421877" y="3287316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gěi nǐ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8909000" y="3201591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933352" y="3287316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yǔfǎ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6397526" y="3721150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421877" y="3806875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kěyǐ</a:t>
            </a:r>
            <a:endParaRPr lang="en-US" sz="1450" dirty="0"/>
          </a:p>
        </p:txBody>
      </p:sp>
      <p:sp>
        <p:nvSpPr>
          <p:cNvPr id="53" name="Text 51"/>
          <p:cNvSpPr/>
          <p:nvPr/>
        </p:nvSpPr>
        <p:spPr>
          <a:xfrm>
            <a:off x="8909000" y="3721150"/>
            <a:ext cx="2422624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933352" y="3806875"/>
            <a:ext cx="2373922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fǔdǎo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6397526" y="4316909"/>
            <a:ext cx="2308342" cy="15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6"/>
              </a:lnSpc>
              <a:spcBef>
                <a:spcPts val="1400"/>
              </a:spcBef>
              <a:spcAft>
                <a:spcPts val="800"/>
              </a:spcAft>
              <a:buNone/>
            </a:pPr>
            <a:r>
              <a:rPr lang="en-US" sz="93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辨别声母 · PHÂN BIỆT THANH MẪU</a:t>
            </a:r>
            <a:endParaRPr lang="en-US" sz="930" dirty="0"/>
          </a:p>
        </p:txBody>
      </p:sp>
      <p:sp>
        <p:nvSpPr>
          <p:cNvPr id="56" name="Text 54"/>
          <p:cNvSpPr/>
          <p:nvPr/>
        </p:nvSpPr>
        <p:spPr>
          <a:xfrm>
            <a:off x="6397526" y="4678114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438620" y="4763839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ba</a:t>
            </a:r>
            <a:endParaRPr lang="en-US" sz="1450" dirty="0"/>
          </a:p>
        </p:txBody>
      </p:sp>
      <p:sp>
        <p:nvSpPr>
          <p:cNvPr id="58" name="Text 56"/>
          <p:cNvSpPr/>
          <p:nvPr/>
        </p:nvSpPr>
        <p:spPr>
          <a:xfrm>
            <a:off x="7234684" y="4678114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275778" y="4763839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pa</a:t>
            </a:r>
            <a:endParaRPr lang="en-US" sz="1450" dirty="0"/>
          </a:p>
        </p:txBody>
      </p:sp>
      <p:sp>
        <p:nvSpPr>
          <p:cNvPr id="60" name="Text 58"/>
          <p:cNvSpPr/>
          <p:nvPr/>
        </p:nvSpPr>
        <p:spPr>
          <a:xfrm>
            <a:off x="8071842" y="4678114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112937" y="4763839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da</a:t>
            </a:r>
            <a:endParaRPr lang="en-US" sz="1450" dirty="0"/>
          </a:p>
        </p:txBody>
      </p:sp>
      <p:sp>
        <p:nvSpPr>
          <p:cNvPr id="62" name="Text 60"/>
          <p:cNvSpPr/>
          <p:nvPr/>
        </p:nvSpPr>
        <p:spPr>
          <a:xfrm>
            <a:off x="8909000" y="4678114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950095" y="4763839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ta</a:t>
            </a:r>
            <a:endParaRPr lang="en-US" sz="1450" dirty="0"/>
          </a:p>
        </p:txBody>
      </p:sp>
      <p:sp>
        <p:nvSpPr>
          <p:cNvPr id="64" name="Text 62"/>
          <p:cNvSpPr/>
          <p:nvPr/>
        </p:nvSpPr>
        <p:spPr>
          <a:xfrm>
            <a:off x="9746159" y="4678114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787253" y="4763839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ga</a:t>
            </a:r>
            <a:endParaRPr lang="en-US" sz="1450" dirty="0"/>
          </a:p>
        </p:txBody>
      </p:sp>
      <p:sp>
        <p:nvSpPr>
          <p:cNvPr id="66" name="Text 64"/>
          <p:cNvSpPr/>
          <p:nvPr/>
        </p:nvSpPr>
        <p:spPr>
          <a:xfrm>
            <a:off x="10583317" y="4678114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624411" y="4763839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ka</a:t>
            </a:r>
            <a:endParaRPr lang="en-US" sz="1450" dirty="0"/>
          </a:p>
        </p:txBody>
      </p:sp>
      <p:sp>
        <p:nvSpPr>
          <p:cNvPr id="68" name="Text 66"/>
          <p:cNvSpPr/>
          <p:nvPr/>
        </p:nvSpPr>
        <p:spPr>
          <a:xfrm>
            <a:off x="6397526" y="5197673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438620" y="5283398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bu</a:t>
            </a:r>
            <a:endParaRPr lang="en-US" sz="1450" dirty="0"/>
          </a:p>
        </p:txBody>
      </p:sp>
      <p:sp>
        <p:nvSpPr>
          <p:cNvPr id="70" name="Text 68"/>
          <p:cNvSpPr/>
          <p:nvPr/>
        </p:nvSpPr>
        <p:spPr>
          <a:xfrm>
            <a:off x="7234684" y="5197673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275778" y="5283398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pu</a:t>
            </a:r>
            <a:endParaRPr lang="en-US" sz="1450" dirty="0"/>
          </a:p>
        </p:txBody>
      </p:sp>
      <p:sp>
        <p:nvSpPr>
          <p:cNvPr id="72" name="Text 70"/>
          <p:cNvSpPr/>
          <p:nvPr/>
        </p:nvSpPr>
        <p:spPr>
          <a:xfrm>
            <a:off x="8071842" y="5197673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8112937" y="5283398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du</a:t>
            </a:r>
            <a:endParaRPr lang="en-US" sz="1450" dirty="0"/>
          </a:p>
        </p:txBody>
      </p:sp>
      <p:sp>
        <p:nvSpPr>
          <p:cNvPr id="74" name="Text 72"/>
          <p:cNvSpPr/>
          <p:nvPr/>
        </p:nvSpPr>
        <p:spPr>
          <a:xfrm>
            <a:off x="8909000" y="5197673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950095" y="5283398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tu</a:t>
            </a:r>
            <a:endParaRPr lang="en-US" sz="1450" dirty="0"/>
          </a:p>
        </p:txBody>
      </p:sp>
      <p:sp>
        <p:nvSpPr>
          <p:cNvPr id="76" name="Text 74"/>
          <p:cNvSpPr/>
          <p:nvPr/>
        </p:nvSpPr>
        <p:spPr>
          <a:xfrm>
            <a:off x="9746159" y="5197673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9787253" y="5283398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gu</a:t>
            </a:r>
            <a:endParaRPr lang="en-US" sz="1450" dirty="0"/>
          </a:p>
        </p:txBody>
      </p:sp>
      <p:sp>
        <p:nvSpPr>
          <p:cNvPr id="78" name="Text 76"/>
          <p:cNvSpPr/>
          <p:nvPr/>
        </p:nvSpPr>
        <p:spPr>
          <a:xfrm>
            <a:off x="10583317" y="5197673"/>
            <a:ext cx="748308" cy="418058"/>
          </a:xfrm>
          <a:prstGeom prst="rect">
            <a:avLst/>
          </a:prstGeom>
          <a:solidFill>
            <a:srgbClr val="FAF9F5"/>
          </a:solidFill>
          <a:ln w="9525">
            <a:solidFill>
              <a:srgbClr val="E8E6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10624411" y="5283398"/>
            <a:ext cx="666119" cy="246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3"/>
              </a:lnSpc>
              <a:buNone/>
            </a:pPr>
            <a:r>
              <a:rPr lang="en-US" sz="1450" dirty="0">
                <a:solidFill>
                  <a:srgbClr val="1B365D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ku</a:t>
            </a:r>
            <a:endParaRPr lang="en-US" sz="1450" dirty="0"/>
          </a:p>
        </p:txBody>
      </p:sp>
      <p:sp>
        <p:nvSpPr>
          <p:cNvPr id="80" name="Shape 78"/>
          <p:cNvSpPr/>
          <p:nvPr/>
        </p:nvSpPr>
        <p:spPr>
          <a:xfrm>
            <a:off x="685800" y="6166842"/>
            <a:ext cx="10820400" cy="0"/>
          </a:xfrm>
          <a:prstGeom prst="line">
            <a:avLst/>
          </a:prstGeom>
          <a:noFill/>
          <a:ln w="9525">
            <a:solidFill>
              <a:srgbClr val="D8D4C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5800" y="6273105"/>
            <a:ext cx="797430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Bài 1 · Xin chào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0839301" y="6273105"/>
            <a:ext cx="680237" cy="153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04E49"/>
                </a:solidFill>
                <a:latin typeface="Charter" pitchFamily="34" charset="0"/>
                <a:ea typeface="Charter" pitchFamily="34" charset="-122"/>
                <a:cs typeface="Charter" pitchFamily="34" charset="-120"/>
              </a:rPr>
              <a:t>第一课 · 你好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2026-05-08T10:54:38Z</dcterms:created>
  <dcterms:modified xsi:type="dcterms:W3CDTF">2026-05-08T10:54:38Z</dcterms:modified>
</cp:coreProperties>
</file>