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97567" y="139601"/>
            <a:ext cx="1361033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59492" y="149126"/>
            <a:ext cx="10579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20 · Tổng quan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21235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00342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第一课 · Xin chào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58701" y="2209800"/>
            <a:ext cx="1141875" cy="49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nǐ hǎo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58701" y="2793950"/>
            <a:ext cx="4663440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Lời chào đầu tiên, 12 từ vựng cơ bản, bài đọc ngắn và hoạt động luyện tập.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83650" y="990600"/>
            <a:ext cx="3174950" cy="4191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13750" y="1396901"/>
            <a:ext cx="1191819" cy="110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40"/>
              </a:lnSpc>
              <a:buNone/>
            </a:pPr>
            <a:r>
              <a:rPr lang="en-US" sz="9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</a:t>
            </a:r>
            <a:endParaRPr lang="en-US" sz="9200" dirty="0"/>
          </a:p>
        </p:txBody>
      </p:sp>
      <p:sp>
        <p:nvSpPr>
          <p:cNvPr id="13" name="Text 11"/>
          <p:cNvSpPr/>
          <p:nvPr/>
        </p:nvSpPr>
        <p:spPr>
          <a:xfrm>
            <a:off x="10134600" y="3690640"/>
            <a:ext cx="1191819" cy="110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40"/>
              </a:lnSpc>
              <a:buNone/>
            </a:pPr>
            <a:r>
              <a:rPr lang="en-US" sz="92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533400" y="4394150"/>
            <a:ext cx="2412950" cy="939701"/>
          </a:xfrm>
          <a:prstGeom prst="roundRect">
            <a:avLst>
              <a:gd name="adj" fmla="val 10812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626" y="4568726"/>
            <a:ext cx="621640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0626" y="4898975"/>
            <a:ext cx="520842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p.19-30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1150" y="4394150"/>
            <a:ext cx="2412950" cy="939701"/>
          </a:xfrm>
          <a:prstGeom prst="roundRect">
            <a:avLst>
              <a:gd name="adj" fmla="val 10812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38376" y="4568726"/>
            <a:ext cx="802743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438376" y="4898975"/>
            <a:ext cx="469532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mục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第一课 · 你好 · Bài 1 · Xin chào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81804" y="139601"/>
            <a:ext cx="1276796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43729" y="149126"/>
            <a:ext cx="9720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20 · Cấu trúc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077962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86634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FLOW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Tiến trình theo dữ liệu đã duyệt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362200"/>
            <a:ext cx="10083701" cy="2920901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525" y="2625626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8000" y="2736652"/>
            <a:ext cx="111273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12800" y="2736652"/>
            <a:ext cx="715911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Khởi động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1212800" y="2952601"/>
            <a:ext cx="445395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暖身活动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3184475" y="2625626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20951" y="2736652"/>
            <a:ext cx="132222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25751" y="2736652"/>
            <a:ext cx="1163128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 bài học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625751" y="2952601"/>
            <a:ext cx="445395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学习目标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597426" y="2625626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33901" y="2736652"/>
            <a:ext cx="132222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8701" y="2736652"/>
            <a:ext cx="580198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038701" y="2952601"/>
            <a:ext cx="222697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生词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8010525" y="2625626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47000" y="2736652"/>
            <a:ext cx="132222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451800" y="2736652"/>
            <a:ext cx="1004795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từ vựng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8451800" y="2952601"/>
            <a:ext cx="445395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生词练习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71525" y="3438525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08000" y="3549551"/>
            <a:ext cx="132222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12800" y="3549551"/>
            <a:ext cx="1312959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bài khóa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212800" y="3765500"/>
            <a:ext cx="445395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课文预习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3184475" y="3438525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20951" y="3549551"/>
            <a:ext cx="111273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25751" y="3549551"/>
            <a:ext cx="529798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đọc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3625751" y="3765500"/>
            <a:ext cx="222697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课文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597426" y="3438525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33901" y="3549551"/>
            <a:ext cx="90324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38701" y="3549551"/>
            <a:ext cx="1167985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Văn hóa bổ sung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6038701" y="3765500"/>
            <a:ext cx="445395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文化补充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8010525" y="3438525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47000" y="3549551"/>
            <a:ext cx="111273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451800" y="3549551"/>
            <a:ext cx="679781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Thảo luận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8451800" y="3765500"/>
            <a:ext cx="445395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课程讨论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771525" y="4251275"/>
            <a:ext cx="2158901" cy="6096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08000" y="4362301"/>
            <a:ext cx="111273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212800" y="4362301"/>
            <a:ext cx="1705070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bài tập về nhà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1212800" y="4578251"/>
            <a:ext cx="668092" cy="14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课后作业说明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03_lesson_structure.csv; skipped modules are excluded from classroom slides.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91465" y="139601"/>
            <a:ext cx="1367135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53390" y="149126"/>
            <a:ext cx="10641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20 · Khởi động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511350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30840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KHỞI ĐỘNG · 暖身活动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81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Bạn biết cách chào hỏi bằng tiếng Trung không?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12950"/>
            <a:ext cx="6273701" cy="2184350"/>
          </a:xfrm>
          <a:prstGeom prst="roundRect">
            <a:avLst>
              <a:gd name="adj" fmla="val 4651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739926"/>
            <a:ext cx="5181549" cy="65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6"/>
              </a:lnSpc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Bạn đã biết câu chào nào bằng tiếng Trung chưa?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73026" y="3629769"/>
            <a:ext cx="466344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Giáo viên hỏi sinh viên đã biết những câu chào hỏi nào bằng tiếng Trung. Gợi ý liên hệ với phim ảnh, bài hát, hoặc trải nghiệm cá nhân.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8509099" y="2463701"/>
            <a:ext cx="2793950" cy="939701"/>
          </a:xfrm>
          <a:prstGeom prst="roundRect">
            <a:avLst>
              <a:gd name="adj" fmla="val 10812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721775" y="2638276"/>
            <a:ext cx="604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Thời lượng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21775" y="2879527"/>
            <a:ext cx="870903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phút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9099" y="3657600"/>
            <a:ext cx="2793950" cy="939701"/>
          </a:xfrm>
          <a:prstGeom prst="roundRect">
            <a:avLst>
              <a:gd name="adj" fmla="val 10812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721775" y="3832175"/>
            <a:ext cx="575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Tương tác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21775" y="4136975"/>
            <a:ext cx="627257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 lớp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ACT001 · generated activity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4511" y="139601"/>
            <a:ext cx="1284089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36436" y="149126"/>
            <a:ext cx="9794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20 · Mục tiêu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406872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20183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 · 学习目标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 bài học, sinh viên có thể...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539901"/>
            <a:ext cx="3098750" cy="2235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525" y="2727127"/>
            <a:ext cx="340194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6"/>
              </a:lnSpc>
              <a:buNone/>
            </a:pPr>
            <a:r>
              <a:rPr lang="en-US" sz="26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6826" y="3336727"/>
            <a:ext cx="2461209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Chào hỏi bằng tiếng Trung: 你好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962400" y="2539901"/>
            <a:ext cx="3098750" cy="2235101"/>
          </a:xfrm>
          <a:prstGeom prst="roundRect">
            <a:avLst>
              <a:gd name="adj" fmla="val 4546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00525" y="2727127"/>
            <a:ext cx="404104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6"/>
              </a:lnSpc>
              <a:buNone/>
            </a:pPr>
            <a:r>
              <a:rPr lang="en-US" sz="26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225826" y="3336727"/>
            <a:ext cx="2461209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biết và đọc 12 từ vựng cơ bản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391400" y="2539901"/>
            <a:ext cx="3098750" cy="2235101"/>
          </a:xfrm>
          <a:prstGeom prst="roundRect">
            <a:avLst>
              <a:gd name="adj" fmla="val 4546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29525" y="2727127"/>
            <a:ext cx="404104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6"/>
              </a:lnSpc>
              <a:buNone/>
            </a:pPr>
            <a:r>
              <a:rPr lang="en-US" sz="26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54826" y="3336727"/>
            <a:ext cx="2461209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Viết chữ Hán: 一、八、大、不、五、口、白、女、马、你、好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generated from lesson content p.19-30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92370" y="139601"/>
            <a:ext cx="1266230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54295" y="149126"/>
            <a:ext cx="9612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20 ·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15520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9451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 · 生词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từ vựng theo thứ tự giáo trình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362200"/>
            <a:ext cx="10363200" cy="32766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0626" y="2574875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952" y="2685901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952" y="2952601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05983" y="3402657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anh, chị, bạn, ông, bà...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371725" y="2574875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70051" y="2685901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hǎo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70051" y="2952601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2457082" y="3402657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tốt, đẹp, hay, ngon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022675" y="2574875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21002" y="2685901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nǐ hǎo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21002" y="2952601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你好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4108033" y="3402657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Xin chào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673626" y="2574875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71952" y="2685901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71952" y="2952601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5758983" y="3402657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324725" y="2574875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23051" y="2685901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23051" y="2952601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</a:t>
            </a:r>
            <a:endParaRPr lang="en-US" sz="2900" dirty="0"/>
          </a:p>
        </p:txBody>
      </p:sp>
      <p:sp>
        <p:nvSpPr>
          <p:cNvPr id="29" name="Text 27"/>
          <p:cNvSpPr/>
          <p:nvPr/>
        </p:nvSpPr>
        <p:spPr>
          <a:xfrm>
            <a:off x="7410082" y="3402657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75675" y="2574875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074002" y="2685901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74002" y="2952601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9061033" y="3402657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tám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720626" y="3997226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8952" y="4108252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8952" y="4374952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</a:t>
            </a:r>
            <a:endParaRPr lang="en-US" sz="2900" dirty="0"/>
          </a:p>
        </p:txBody>
      </p:sp>
      <p:sp>
        <p:nvSpPr>
          <p:cNvPr id="37" name="Text 35"/>
          <p:cNvSpPr/>
          <p:nvPr/>
        </p:nvSpPr>
        <p:spPr>
          <a:xfrm>
            <a:off x="805983" y="4825008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to, lớn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2371725" y="3997226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470051" y="4108252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bù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470051" y="4374952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</a:t>
            </a:r>
            <a:endParaRPr lang="en-US" sz="2900" dirty="0"/>
          </a:p>
        </p:txBody>
      </p:sp>
      <p:sp>
        <p:nvSpPr>
          <p:cNvPr id="41" name="Text 39"/>
          <p:cNvSpPr/>
          <p:nvPr/>
        </p:nvSpPr>
        <p:spPr>
          <a:xfrm>
            <a:off x="2457082" y="4825008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không, chẳng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4022675" y="3997226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21002" y="4108252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kǒu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21002" y="4374952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</a:t>
            </a:r>
            <a:endParaRPr lang="en-US" sz="2900" dirty="0"/>
          </a:p>
        </p:txBody>
      </p:sp>
      <p:sp>
        <p:nvSpPr>
          <p:cNvPr id="45" name="Text 43"/>
          <p:cNvSpPr/>
          <p:nvPr/>
        </p:nvSpPr>
        <p:spPr>
          <a:xfrm>
            <a:off x="4108033" y="4825008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miệng; nhân khẩu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5673626" y="3997226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FFE8EC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71952" y="4108252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771952" y="4374952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</a:t>
            </a:r>
            <a:endParaRPr lang="en-US" sz="2900" dirty="0"/>
          </a:p>
        </p:txBody>
      </p:sp>
      <p:sp>
        <p:nvSpPr>
          <p:cNvPr id="49" name="Text 47"/>
          <p:cNvSpPr/>
          <p:nvPr/>
        </p:nvSpPr>
        <p:spPr>
          <a:xfrm>
            <a:off x="5758983" y="4825008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trắng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7324725" y="3997226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FFE8EC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423051" y="4108252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nǚ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23051" y="4374952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女</a:t>
            </a:r>
            <a:endParaRPr lang="en-US" sz="2900" dirty="0"/>
          </a:p>
        </p:txBody>
      </p:sp>
      <p:sp>
        <p:nvSpPr>
          <p:cNvPr id="53" name="Text 51"/>
          <p:cNvSpPr/>
          <p:nvPr/>
        </p:nvSpPr>
        <p:spPr>
          <a:xfrm>
            <a:off x="7410082" y="4825008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nữ, phụ nữ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975675" y="3997226"/>
            <a:ext cx="1498550" cy="1041350"/>
          </a:xfrm>
          <a:prstGeom prst="roundRect">
            <a:avLst>
              <a:gd name="adj" fmla="val 7317"/>
            </a:avLst>
          </a:prstGeom>
          <a:solidFill>
            <a:srgbClr val="FFE8EC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074002" y="4108252"/>
            <a:ext cx="1295349" cy="19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mǎ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074002" y="4374952"/>
            <a:ext cx="129534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马</a:t>
            </a:r>
            <a:endParaRPr lang="en-US" sz="2900" dirty="0"/>
          </a:p>
        </p:txBody>
      </p:sp>
      <p:sp>
        <p:nvSpPr>
          <p:cNvPr id="57" name="Text 55"/>
          <p:cNvSpPr/>
          <p:nvPr/>
        </p:nvSpPr>
        <p:spPr>
          <a:xfrm>
            <a:off x="9061033" y="4825008"/>
            <a:ext cx="1327836" cy="11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7"/>
              </a:lnSpc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ngựa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V001: p.19-20; V002: p.19-20; V003: p.19-20; V004: p.19-20; V005: p.19-20; V006: p.19-20; V007: p.19-20; V008: p.19-20; V009: p.19-20; V010: p.19-20; V011: p.19-20; V012: p.19-20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92370" y="139601"/>
            <a:ext cx="1266230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54295" y="149126"/>
            <a:ext cx="9612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20 ·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15520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9451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 · 生词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 và 好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727275"/>
            <a:ext cx="199623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6826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822275" y="4109889"/>
            <a:ext cx="174226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anh, chị, bạn, ông, bà...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22275" y="4724251"/>
            <a:ext cx="3224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đại từ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73301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36727" y="2727275"/>
            <a:ext cx="407899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hǎo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6727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3362176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tốt, đẹp, hay, ngon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3362176" y="4724251"/>
            <a:ext cx="356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từ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V001: p.19-20; V002: p.19-20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97579" y="139601"/>
            <a:ext cx="1261021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59504" y="149126"/>
            <a:ext cx="9559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20 ·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15520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9451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 · 生词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Cụm chào hỏi 你好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727275"/>
            <a:ext cx="685095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nǐ hǎo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6826" y="3184475"/>
            <a:ext cx="1399032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5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你好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22275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Xin chào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22275" y="4724251"/>
            <a:ext cx="384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cụm từ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0250" y="2895600"/>
            <a:ext cx="3174950" cy="1524000"/>
          </a:xfrm>
          <a:prstGeom prst="roundRect">
            <a:avLst>
              <a:gd name="adj" fmla="val 6667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88375" y="3133725"/>
            <a:ext cx="898380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dạy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88375" y="3540026"/>
            <a:ext cx="246120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Dạy 你好 như một cụm từ cố định: “Xin chào”.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V003: p.19-20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92370" y="139601"/>
            <a:ext cx="1266230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54295" y="149126"/>
            <a:ext cx="9612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20 ·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15520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9451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 · 生词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đếm 一、五、八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727275"/>
            <a:ext cx="186872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6826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822275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22275" y="4724251"/>
            <a:ext cx="2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từ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73301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36727" y="2727275"/>
            <a:ext cx="316968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6727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3362176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3362176" y="4724251"/>
            <a:ext cx="2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từ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1335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76776" y="2727275"/>
            <a:ext cx="273856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6776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</a:t>
            </a:r>
            <a:endParaRPr lang="en-US" sz="6800" dirty="0"/>
          </a:p>
        </p:txBody>
      </p:sp>
      <p:sp>
        <p:nvSpPr>
          <p:cNvPr id="22" name="Text 20"/>
          <p:cNvSpPr/>
          <p:nvPr/>
        </p:nvSpPr>
        <p:spPr>
          <a:xfrm>
            <a:off x="5902226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tám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5902226" y="4724251"/>
            <a:ext cx="282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từ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V004: p.19-20; V005: p.19-20; V006: p.19-20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92370" y="139601"/>
            <a:ext cx="1266230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54295" y="149126"/>
            <a:ext cx="9612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20 ·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15520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9451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 · 生词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từ và phủ định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727275"/>
            <a:ext cx="273856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6826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822275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to, lớn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22275" y="4724251"/>
            <a:ext cx="356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từ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73301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36727" y="2727275"/>
            <a:ext cx="276133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6727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3362176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không, chẳng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3362176" y="4724251"/>
            <a:ext cx="357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phó từ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V007: p.19-20; V008: p.19-20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12909" y="139601"/>
            <a:ext cx="1245691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74834" y="149126"/>
            <a:ext cx="9402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20 ·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15520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9451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VỰNG · 生词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Danh từ và tính từ còn lại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727275"/>
            <a:ext cx="404559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kǒu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6826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822275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miệng; nhân khẩu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22275" y="4724251"/>
            <a:ext cx="952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danh từ, lượng từ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73301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36727" y="2727275"/>
            <a:ext cx="337917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6727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3362176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trắng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3362176" y="4724251"/>
            <a:ext cx="356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từ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1335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76776" y="2727275"/>
            <a:ext cx="271275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6776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女</a:t>
            </a:r>
            <a:endParaRPr lang="en-US" sz="6800" dirty="0"/>
          </a:p>
        </p:txBody>
      </p:sp>
      <p:sp>
        <p:nvSpPr>
          <p:cNvPr id="22" name="Text 20"/>
          <p:cNvSpPr/>
          <p:nvPr/>
        </p:nvSpPr>
        <p:spPr>
          <a:xfrm>
            <a:off x="5902226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nữ, phụ nữ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5902226" y="4724251"/>
            <a:ext cx="419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danh từ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53400" y="2489150"/>
            <a:ext cx="2235101" cy="2616101"/>
          </a:xfrm>
          <a:prstGeom prst="roundRect">
            <a:avLst>
              <a:gd name="adj" fmla="val 4546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416826" y="2727275"/>
            <a:ext cx="339587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mǎ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6826" y="3184475"/>
            <a:ext cx="880923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0"/>
              </a:lnSpc>
              <a:buNone/>
            </a:pPr>
            <a:r>
              <a:rPr lang="en-US" sz="6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马</a:t>
            </a:r>
            <a:endParaRPr lang="en-US" sz="6800" dirty="0"/>
          </a:p>
        </p:txBody>
      </p:sp>
      <p:sp>
        <p:nvSpPr>
          <p:cNvPr id="27" name="Text 25"/>
          <p:cNvSpPr/>
          <p:nvPr/>
        </p:nvSpPr>
        <p:spPr>
          <a:xfrm>
            <a:off x="8442275" y="4336107"/>
            <a:ext cx="174226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ngựa</a:t>
            </a:r>
            <a:endParaRPr lang="en-US" sz="1360" dirty="0"/>
          </a:p>
        </p:txBody>
      </p:sp>
      <p:sp>
        <p:nvSpPr>
          <p:cNvPr id="28" name="Text 26"/>
          <p:cNvSpPr/>
          <p:nvPr/>
        </p:nvSpPr>
        <p:spPr>
          <a:xfrm>
            <a:off x="8442275" y="4724251"/>
            <a:ext cx="419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danh từ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V009: p.19-20; V010: p.19-20; V011: p.19-20; V012: p.19-20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117485" y="139601"/>
            <a:ext cx="1541115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79410" y="149126"/>
            <a:ext cx="12416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20 · Luyện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817787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62097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TỪ VỰNG · 生词练习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81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Ghép thẻ: Chữ Hán ↔ Pinyin ↔ Nghĩa tiếng Việt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63701"/>
            <a:ext cx="4572000" cy="2514600"/>
          </a:xfrm>
          <a:prstGeom prst="roundRect">
            <a:avLst>
              <a:gd name="adj" fmla="val 4040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778026"/>
            <a:ext cx="1497857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Ghép 3 lớp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3026" y="3463826"/>
            <a:ext cx="362706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ghép thẻ chữ Hán với pinyin và nghĩa tiếng Việt tương ứng. Có thể chơi theo nhóm hoặc cá nhân.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5740301" y="2463701"/>
            <a:ext cx="2286000" cy="2514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78426" y="2727127"/>
            <a:ext cx="496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bị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78426" y="3108127"/>
            <a:ext cx="168396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Bộ thẻ flashcard 12 từ vựng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8534400" y="2463701"/>
            <a:ext cx="2286000" cy="2514600"/>
          </a:xfrm>
          <a:prstGeom prst="roundRect">
            <a:avLst>
              <a:gd name="adj" fmla="val 4444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772525" y="2727127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72525" y="3133576"/>
            <a:ext cx="1572545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Đua thẻ từ vựng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772525" y="3616226"/>
            <a:ext cx="1095271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Blooket · 12 câu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ACT002 · G001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096946" y="139601"/>
            <a:ext cx="1561654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58871" y="149126"/>
            <a:ext cx="1262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20 · Luyện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817787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62097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TỪ VỰNG · 生词练习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số: nhận biết và đếm 一, 五, 八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539901"/>
            <a:ext cx="2336750" cy="2412950"/>
          </a:xfrm>
          <a:prstGeom prst="roundRect">
            <a:avLst>
              <a:gd name="adj" fmla="val 4348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778026"/>
            <a:ext cx="186872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275" y="3209776"/>
            <a:ext cx="958647" cy="84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60"/>
              </a:lnSpc>
              <a:buNone/>
            </a:pPr>
            <a:r>
              <a:rPr lang="en-US" sz="7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</a:t>
            </a:r>
            <a:endParaRPr lang="en-US" sz="7400" dirty="0"/>
          </a:p>
        </p:txBody>
      </p:sp>
      <p:sp>
        <p:nvSpPr>
          <p:cNvPr id="12" name="Text 10"/>
          <p:cNvSpPr/>
          <p:nvPr/>
        </p:nvSpPr>
        <p:spPr>
          <a:xfrm>
            <a:off x="847725" y="4412307"/>
            <a:ext cx="325166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3200400" y="2539901"/>
            <a:ext cx="2336750" cy="2412950"/>
          </a:xfrm>
          <a:prstGeom prst="roundRect">
            <a:avLst>
              <a:gd name="adj" fmla="val 4348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9275" y="2778026"/>
            <a:ext cx="316968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89275" y="3209776"/>
            <a:ext cx="958647" cy="84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60"/>
              </a:lnSpc>
              <a:buNone/>
            </a:pPr>
            <a:r>
              <a:rPr lang="en-US" sz="7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</a:t>
            </a:r>
            <a:endParaRPr lang="en-US" sz="7400" dirty="0"/>
          </a:p>
        </p:txBody>
      </p:sp>
      <p:sp>
        <p:nvSpPr>
          <p:cNvPr id="16" name="Text 14"/>
          <p:cNvSpPr/>
          <p:nvPr/>
        </p:nvSpPr>
        <p:spPr>
          <a:xfrm>
            <a:off x="3514725" y="4412307"/>
            <a:ext cx="358866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5867400" y="2539901"/>
            <a:ext cx="2336750" cy="2412950"/>
          </a:xfrm>
          <a:prstGeom prst="roundRect">
            <a:avLst>
              <a:gd name="adj" fmla="val 4348"/>
            </a:avLst>
          </a:prstGeom>
          <a:solidFill>
            <a:srgbClr val="FFE8EC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56275" y="2778026"/>
            <a:ext cx="273856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56275" y="3209776"/>
            <a:ext cx="958647" cy="84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60"/>
              </a:lnSpc>
              <a:buNone/>
            </a:pPr>
            <a:r>
              <a:rPr lang="en-US" sz="7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</a:t>
            </a:r>
            <a:endParaRPr lang="en-US" sz="7400" dirty="0"/>
          </a:p>
        </p:txBody>
      </p:sp>
      <p:sp>
        <p:nvSpPr>
          <p:cNvPr id="20" name="Text 18"/>
          <p:cNvSpPr/>
          <p:nvPr/>
        </p:nvSpPr>
        <p:spPr>
          <a:xfrm>
            <a:off x="6181725" y="4412307"/>
            <a:ext cx="320308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tám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8839349" y="2844701"/>
            <a:ext cx="2412950" cy="1600200"/>
          </a:xfrm>
          <a:prstGeom prst="roundRect">
            <a:avLst>
              <a:gd name="adj" fmla="val 6349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052024" y="3057376"/>
            <a:ext cx="844338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Bingo số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052024" y="3514576"/>
            <a:ext cx="1813459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biết số 一五八 và các tổ hợp. Giáo viên đọc số, sinh viên chọn đáp án đúng trên Blooket.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ACT003 · G002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096946" y="139601"/>
            <a:ext cx="1561654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58871" y="149126"/>
            <a:ext cx="1262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20 · Luyện từ vựng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817787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62097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TỪ VỰNG · 生词练习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Cặp đối lập: 大/不大, 好/不好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667000"/>
            <a:ext cx="2997101" cy="19050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981325"/>
            <a:ext cx="453137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hǎo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7725" y="3463826"/>
            <a:ext cx="595985" cy="7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26"/>
              </a:lnSpc>
              <a:buNone/>
            </a:pPr>
            <a:r>
              <a:rPr lang="en-US" sz="4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216301" y="2667000"/>
            <a:ext cx="2997101" cy="1905000"/>
          </a:xfrm>
          <a:prstGeom prst="roundRect">
            <a:avLst>
              <a:gd name="adj" fmla="val 5333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30626" y="2981325"/>
            <a:ext cx="846008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bù hǎo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30626" y="3463826"/>
            <a:ext cx="1191819" cy="7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26"/>
              </a:lnSpc>
              <a:buNone/>
            </a:pPr>
            <a:r>
              <a:rPr lang="en-US" sz="4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不好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899350" y="2667000"/>
            <a:ext cx="2997101" cy="1905000"/>
          </a:xfrm>
          <a:prstGeom prst="roundRect">
            <a:avLst>
              <a:gd name="adj" fmla="val 5333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62776" y="2981325"/>
            <a:ext cx="1963290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Trò chơi phủ định 不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162776" y="3463826"/>
            <a:ext cx="2202079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câu · 4 phút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ACT004 · G003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67751" y="139601"/>
            <a:ext cx="1790849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29676" y="149126"/>
            <a:ext cx="14963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20 · Giới thiệu bài khóa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2085826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89437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BÀI KHÓA · 课文预习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Nghe hội thoại 你好, đoán ngữ cảnh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63701"/>
            <a:ext cx="5334000" cy="2235101"/>
          </a:xfrm>
          <a:prstGeom prst="roundRect">
            <a:avLst>
              <a:gd name="adj" fmla="val 4546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752576"/>
            <a:ext cx="1544765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Nghe trước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3026" y="3438376"/>
            <a:ext cx="414517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Giáo viên phát âm thanh hội thoại 你好. Sinh viên đoán: Ai đang nói? Ở đâu? Khi nào người ta chào nhau?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6629400" y="2463701"/>
            <a:ext cx="3555950" cy="2235101"/>
          </a:xfrm>
          <a:prstGeom prst="roundRect">
            <a:avLst>
              <a:gd name="adj" fmla="val 4546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92826" y="2778026"/>
            <a:ext cx="1279106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gợi ý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892826" y="3285976"/>
            <a:ext cx="272034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đang nói? Ở đâu? Khi nào người ta chào nhau?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ACT005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50413" y="139601"/>
            <a:ext cx="1208187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12338" y="149126"/>
            <a:ext cx="9020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20 · Bài đọc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098352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88714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ĐỌC · 课文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Hội thoại: 你好 / 你好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447800" y="2590800"/>
            <a:ext cx="3810000" cy="1320701"/>
          </a:xfrm>
          <a:prstGeom prst="roundRect">
            <a:avLst>
              <a:gd name="adj" fmla="val 13463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11226" y="2828925"/>
            <a:ext cx="11962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2295525" y="2816126"/>
            <a:ext cx="685095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nǐ hǎo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95525" y="3235226"/>
            <a:ext cx="880923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4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你好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994350" y="3987701"/>
            <a:ext cx="3810000" cy="1320701"/>
          </a:xfrm>
          <a:prstGeom prst="roundRect">
            <a:avLst>
              <a:gd name="adj" fmla="val 13463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7776" y="4225826"/>
            <a:ext cx="121596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6842075" y="4213027"/>
            <a:ext cx="685095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nǐ hǎo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42075" y="4632127"/>
            <a:ext cx="880923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4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你好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T001: p.19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75503" y="139601"/>
            <a:ext cx="1683097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37428" y="149126"/>
            <a:ext cx="13864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20 · Văn hóa bổ sung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948904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75471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VĂN HÓA BỔ SUNG · 文化补充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81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cách chào hỏi Việt Nam và Trung Quốc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590800"/>
            <a:ext cx="4572000" cy="215890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3032075"/>
            <a:ext cx="1249353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Việt Nam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7725" y="3692426"/>
            <a:ext cx="349758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Chào theo tuổi và quan hệ: anh, chị, em, cô, chú...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6121301" y="2590800"/>
            <a:ext cx="4572000" cy="2158901"/>
          </a:xfrm>
          <a:prstGeom prst="roundRect">
            <a:avLst>
              <a:gd name="adj" fmla="val 4706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10176" y="3032075"/>
            <a:ext cx="1597289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Trung Quốc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35626" y="3692426"/>
            <a:ext cx="349758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你好 cho nhiều tình huống. 您好 là dạng lịch sự.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ACT006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43852" y="139601"/>
            <a:ext cx="1314748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05777" y="149126"/>
            <a:ext cx="10107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20 · Thảo luận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511498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30855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THẢO LUẬN · 课程讨论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81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Bạn thường chào ai? Chào như thế nào?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565350"/>
            <a:ext cx="6349901" cy="2209800"/>
          </a:xfrm>
          <a:prstGeom prst="roundRect">
            <a:avLst>
              <a:gd name="adj" fmla="val 4598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2930426"/>
            <a:ext cx="2847401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Bạn thường chào ai?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8475" y="3666976"/>
            <a:ext cx="505206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chia sẻ: Hàng ngày bạn chào ai? Bạn bè, thầy cô, người lạ? Cách chào có khác nhau không?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8432899" y="2717750"/>
            <a:ext cx="2667000" cy="1727150"/>
          </a:xfrm>
          <a:prstGeom prst="roundRect">
            <a:avLst>
              <a:gd name="adj" fmla="val 5883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45575" y="2955875"/>
            <a:ext cx="546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Hình thức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45575" y="3336875"/>
            <a:ext cx="1315843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Làm theo cặp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45575" y="3768626"/>
            <a:ext cx="425964" cy="18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phút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ACT007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76905" y="139601"/>
            <a:ext cx="1181695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38830" y="149126"/>
            <a:ext cx="8750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20 · Bài tập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1514921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31204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TẬP · 课后作业说明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tập trong giáo trình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12950"/>
            <a:ext cx="10312301" cy="3149501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2651075"/>
            <a:ext cx="2235101" cy="1041350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2551" y="2762101"/>
            <a:ext cx="640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E001 · p.28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2551" y="3041600"/>
            <a:ext cx="1839417" cy="19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thanh điệu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209925" y="2651075"/>
            <a:ext cx="2235101" cy="1041350"/>
          </a:xfrm>
          <a:prstGeom prst="roundRect">
            <a:avLst>
              <a:gd name="adj" fmla="val 7317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46400" y="2762101"/>
            <a:ext cx="662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E002 · p.28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46400" y="3041600"/>
            <a:ext cx="1839417" cy="19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biến điệu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673626" y="2651075"/>
            <a:ext cx="2235101" cy="1041350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10101" y="2762101"/>
            <a:ext cx="662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E003 · p.28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10101" y="3041600"/>
            <a:ext cx="1839417" cy="19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biệt thanh mẫu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137475" y="2651075"/>
            <a:ext cx="2235101" cy="1041350"/>
          </a:xfrm>
          <a:prstGeom prst="roundRect">
            <a:avLst>
              <a:gd name="adj" fmla="val 7317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3951" y="2762101"/>
            <a:ext cx="662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E004 · p.29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73951" y="3041600"/>
            <a:ext cx="1839417" cy="19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biệt vận mẫu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46075" y="3971776"/>
            <a:ext cx="2235101" cy="1041350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2551" y="4082802"/>
            <a:ext cx="662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E005 · p.29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2551" y="4362301"/>
            <a:ext cx="1839417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biệt âm, thanh điệu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209925" y="3971776"/>
            <a:ext cx="2235101" cy="1041350"/>
          </a:xfrm>
          <a:prstGeom prst="roundRect">
            <a:avLst>
              <a:gd name="adj" fmla="val 7317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46400" y="4082802"/>
            <a:ext cx="662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E006 · p.29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46400" y="4362301"/>
            <a:ext cx="1839417" cy="19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mặt chữ và đọc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673626" y="3971776"/>
            <a:ext cx="2235101" cy="1041350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810101" y="4082802"/>
            <a:ext cx="657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E007 · p.30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10101" y="4362301"/>
            <a:ext cx="1839417" cy="19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Tập viết chữ Hán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E001: p.28-30; E002: p.28-30; E003: p.28-30; E004: p.28-30; E005: p.28-30; E006: p.28-30; E007: p.28-30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102602" y="139601"/>
            <a:ext cx="1555998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64527" y="149126"/>
            <a:ext cx="12567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20 · Bài tập về nhà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2001441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180829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TẬP VỀ NHÀ · 课后作业说明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Viết chữ Hán 一八大不 từ trí nhớ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514600"/>
            <a:ext cx="3327350" cy="2260550"/>
          </a:xfrm>
          <a:prstGeom prst="roundRect">
            <a:avLst>
              <a:gd name="adj" fmla="val 4494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828925"/>
            <a:ext cx="1496642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E001-E007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7725" y="3565475"/>
            <a:ext cx="246120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thành bài tập trang 28-30.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4394150" y="2514600"/>
            <a:ext cx="3327350" cy="2260550"/>
          </a:xfrm>
          <a:prstGeom prst="roundRect">
            <a:avLst>
              <a:gd name="adj" fmla="val 4494"/>
            </a:avLst>
          </a:prstGeom>
          <a:solidFill>
            <a:srgbClr val="EAF8F1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83026" y="2828925"/>
            <a:ext cx="1139901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一八大不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8475" y="3565475"/>
            <a:ext cx="2461209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tập viết 4 chữ Hán đơn giản nhất (一八大不) không nhìn mẫu. Kiểm tra thứ tự nét và hình dạng.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8254901" y="2514600"/>
            <a:ext cx="2667000" cy="2260550"/>
          </a:xfrm>
          <a:prstGeom prst="roundRect">
            <a:avLst>
              <a:gd name="adj" fmla="val 4494"/>
            </a:avLst>
          </a:prstGeom>
          <a:solidFill>
            <a:srgbClr val="FFF4D8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3776" y="2828925"/>
            <a:ext cx="679933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từ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69226" y="3565475"/>
            <a:ext cx="1943100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đọc to mỗi ngày.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ACT008 · E001-E007 p.28-30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84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3150"/>
            <a:ext cx="2165646" cy="14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1 · 你好 · HUASHU BUSINESS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86120" y="139601"/>
            <a:ext cx="1272480" cy="304800"/>
          </a:xfrm>
          <a:prstGeom prst="roundRect">
            <a:avLst>
              <a:gd name="adj" fmla="val 41625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48045" y="149126"/>
            <a:ext cx="9676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85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20 · Kết thúc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3400" y="990600"/>
            <a:ext cx="828526" cy="253901"/>
          </a:xfrm>
          <a:prstGeom prst="roundRect">
            <a:avLst>
              <a:gd name="adj" fmla="val 4996948"/>
            </a:avLst>
          </a:prstGeom>
          <a:solidFill>
            <a:srgbClr val="EA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990600"/>
            <a:ext cx="61192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82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THÚC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33400" y="1371600"/>
            <a:ext cx="725413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Hẹn buổi sau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3400" y="2463701"/>
            <a:ext cx="34975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下次见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634901" y="3911501"/>
            <a:ext cx="4565071" cy="29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8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Ôn lại 你好 và 12 từ vựng trước buổi sau.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48749" y="2489150"/>
            <a:ext cx="3301901" cy="1854101"/>
          </a:xfrm>
          <a:prstGeom prst="roundRect">
            <a:avLst>
              <a:gd name="adj" fmla="val 5480"/>
            </a:avLst>
          </a:prstGeom>
          <a:solidFill>
            <a:srgbClr val="EAF2FF"/>
          </a:solidFill>
          <a:ln w="9525">
            <a:solidFill>
              <a:srgbClr val="D8DEE8"/>
            </a:solidFill>
          </a:ln>
          <a:effectLst>
            <a:outerShdw sx="100000" sy="100000" kx="0" ky="0" algn="bl" rotWithShape="0" blurRad="304800" dist="101600" dir="5400000">
              <a:srgbClr val="0f172a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12175" y="2778026"/>
            <a:ext cx="884414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12175" y="3235226"/>
            <a:ext cx="246120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Đọc · Nhận mặt chữ · Viết chữ Hán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533400" y="6456908"/>
            <a:ext cx="1112520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6550521"/>
            <a:ext cx="11347704" cy="129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2"/>
              </a:lnSpc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第一课 · 你好 · Bài 1 · Xin chào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2026-05-22T10:53:44Z</dcterms:created>
  <dcterms:modified xsi:type="dcterms:W3CDTF">2026-05-22T10:53:44Z</dcterms:modified>
</cp:coreProperties>
</file>