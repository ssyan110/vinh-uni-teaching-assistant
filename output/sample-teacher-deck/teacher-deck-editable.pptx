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731788"/>
            <a:ext cx="11125200" cy="0"/>
          </a:xfrm>
          <a:prstGeom prst="line">
            <a:avLst/>
          </a:prstGeom>
          <a:noFill/>
          <a:ln w="9525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400" y="355550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HỆ THỐNG HỌC LIỆU AI · HUASHU DESIGN · BẢN DÀNH CHO GIẢNG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1041350"/>
            <a:ext cx="2202079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BỘ SLIDE BÀI HỌC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400" y="1396901"/>
            <a:ext cx="11347704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489150"/>
            <a:ext cx="5448300" cy="1741438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2727275"/>
            <a:ext cx="5071491" cy="305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Sơ cấp / A1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3203972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Thời lượng: 45 phút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1525" y="3466802"/>
            <a:ext cx="507149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Đối tượng: Sinh viên đại học Việt Nam học tiếng Trung sơ cấp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0300" y="2489150"/>
            <a:ext cx="5448300" cy="1741438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8425" y="2727275"/>
            <a:ext cx="5071491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Tài liệu dùng tiếng Việt cho hướng dẫn giảng dạy và tiếng Trung giản thể cho ví dụ/ngữ liệu chính; pinyin dùng để hỗ trợ phát âm.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8425" y="3687217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Bộ slide này được tạo bằng quy trình Huashu Design.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67600" y="5412432"/>
            <a:ext cx="4191000" cy="632817"/>
          </a:xfrm>
          <a:prstGeom prst="roundRect">
            <a:avLst>
              <a:gd name="adj" fmla="val 2006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9525" y="5548908"/>
            <a:ext cx="394449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chú giảng viên: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Bắt đầu bằng một câu hỏi cá nhân ngắn trước khi vào mục tiêu.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3400" y="6213128"/>
            <a:ext cx="11125200" cy="0"/>
          </a:xfrm>
          <a:prstGeom prst="line">
            <a:avLst/>
          </a:prstGeom>
          <a:noFill/>
          <a:ln w="9525">
            <a:solidFill>
              <a:srgbClr val="D6C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6319391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 · Sơ cấp / A1 · 45 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731788"/>
            <a:ext cx="11125200" cy="0"/>
          </a:xfrm>
          <a:prstGeom prst="line">
            <a:avLst/>
          </a:prstGeom>
          <a:noFill/>
          <a:ln w="9525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400" y="355550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HỆ THỐNG HỌC LIỆU AI · HUASHU DESIGN · BẢN DÀNH CHO GIẢNG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1041350"/>
            <a:ext cx="2202079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学习目标 · MỤC TIÊU HỌC TẬP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400" y="1396901"/>
            <a:ext cx="11347704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Sau bài học, sinh viên có thể làm gì?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489150"/>
            <a:ext cx="11125200" cy="1984772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2727275"/>
            <a:ext cx="10648950" cy="139422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7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 có thể chào nhân viên và xin bàn.</a:t>
            </a:r>
            <a:endParaRPr lang="en-US" sz="1500" dirty="0"/>
          </a:p>
          <a:p>
            <a:pPr algn="l" marL="152400" indent="-152400">
              <a:lnSpc>
                <a:spcPts val="207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 có thể gọi 2–3 món bằng mẫu 我要 / 我想要.</a:t>
            </a:r>
            <a:endParaRPr lang="en-US" sz="1500" dirty="0"/>
          </a:p>
          <a:p>
            <a:pPr algn="l" marL="152400" indent="-152400">
              <a:lnSpc>
                <a:spcPts val="207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 có thể hỏi thanh toán một cách lịch sự.</a:t>
            </a:r>
            <a:endParaRPr lang="en-US" sz="1500" dirty="0"/>
          </a:p>
          <a:p>
            <a:pPr algn="l" marL="152400" indent="-152400">
              <a:lnSpc>
                <a:spcPts val="207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 có thể thực hiện hội thoại gọi món trong 60 giây.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67600" y="5412432"/>
            <a:ext cx="4191000" cy="632817"/>
          </a:xfrm>
          <a:prstGeom prst="roundRect">
            <a:avLst>
              <a:gd name="adj" fmla="val 2006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9525" y="5548908"/>
            <a:ext cx="394449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chú giảng viên: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Trình bày mục tiêu như năng lực thực hành, không đọc như giải thích ngữ pháp.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3400" y="6213128"/>
            <a:ext cx="11125200" cy="0"/>
          </a:xfrm>
          <a:prstGeom prst="line">
            <a:avLst/>
          </a:prstGeom>
          <a:noFill/>
          <a:ln w="9525">
            <a:solidFill>
              <a:srgbClr val="D6C7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6319391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 · Sơ cấp / A1 · 45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731788"/>
            <a:ext cx="11125200" cy="0"/>
          </a:xfrm>
          <a:prstGeom prst="line">
            <a:avLst/>
          </a:prstGeom>
          <a:noFill/>
          <a:ln w="9525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400" y="355550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HỆ THỐNG HỌC LIỆU AI · HUASHU DESIGN · BẢN DÀNH CHO GIẢNG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1041350"/>
            <a:ext cx="2202079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生词 · TỪ MỚI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400" y="1396901"/>
            <a:ext cx="11347704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Ngôn ngữ trọng tâm hôm nay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489150"/>
            <a:ext cx="11125200" cy="3115717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71525" y="3250406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525" y="2854970"/>
            <a:ext cx="155448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wǒ yào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95525" y="2828776"/>
            <a:ext cx="2849829" cy="31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我要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89475" y="2854970"/>
            <a:ext cx="645762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Tôi muốn / cho tôi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1525" y="3778300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25" y="3382863"/>
            <a:ext cx="155448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diǎn cài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95525" y="3356670"/>
            <a:ext cx="2849829" cy="31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点菜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89475" y="3382863"/>
            <a:ext cx="645762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gọi món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1525" y="4306193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525" y="3910757"/>
            <a:ext cx="155448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mǎi dān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95525" y="3884563"/>
            <a:ext cx="2849829" cy="31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买单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89475" y="3910757"/>
            <a:ext cx="645762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tính tiền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1525" y="4834086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525" y="4438650"/>
            <a:ext cx="155448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yí wèi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95525" y="4412456"/>
            <a:ext cx="2849829" cy="31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一位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89475" y="4438650"/>
            <a:ext cx="645762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một người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1525" y="5361980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525" y="4966543"/>
            <a:ext cx="155448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bú yào là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95525" y="4940350"/>
            <a:ext cx="2849829" cy="31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不要辣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89475" y="4966543"/>
            <a:ext cx="645762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không cay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67600" y="5412432"/>
            <a:ext cx="4191000" cy="632817"/>
          </a:xfrm>
          <a:prstGeom prst="roundRect">
            <a:avLst>
              <a:gd name="adj" fmla="val 2006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29525" y="5548908"/>
            <a:ext cx="394449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chú giảng viên: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Luyện pinyin trước, sau đó nghĩa tiếng Việt, rồi thay thế nhanh trong mẫu câu.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3400" y="6213128"/>
            <a:ext cx="11125200" cy="0"/>
          </a:xfrm>
          <a:prstGeom prst="line">
            <a:avLst/>
          </a:prstGeom>
          <a:noFill/>
          <a:ln w="9525">
            <a:solidFill>
              <a:srgbClr val="D6C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319391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 · Sơ cấp / A1 · 45 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731788"/>
            <a:ext cx="11125200" cy="0"/>
          </a:xfrm>
          <a:prstGeom prst="line">
            <a:avLst/>
          </a:prstGeom>
          <a:noFill/>
          <a:ln w="9525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400" y="355550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HỆ THỐNG HỌC LIỆU AI · HUASHU DESIGN · BẢN DÀNH CHO GIẢNG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1041350"/>
            <a:ext cx="2202079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句型 · MẪU CÂU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400" y="1396901"/>
            <a:ext cx="11347704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Mẫu câu trọng tâm: 我要 + món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489150"/>
            <a:ext cx="5448300" cy="1820317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2727275"/>
            <a:ext cx="50714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我要 + 菜名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1525" y="3282851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我要一碗牛肉面。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1525" y="3545681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我要一杯茶。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1525" y="3808512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不要辣，谢谢。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0300" y="2489150"/>
            <a:ext cx="5448300" cy="1820317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8425" y="2727275"/>
            <a:ext cx="507149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Gợi ý tiếng Việt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48425" y="3216176"/>
            <a:ext cx="507149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Dùng gần như “cho tôi / tôi muốn”. Khi gọi món, nói ngắn gọn và tự nhiên.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67600" y="5412432"/>
            <a:ext cx="4191000" cy="632817"/>
          </a:xfrm>
          <a:prstGeom prst="roundRect">
            <a:avLst>
              <a:gd name="adj" fmla="val 2006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9525" y="5548908"/>
            <a:ext cx="394449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chú giảng viên: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Không giải thích ngữ pháp quá nhiều; ưu tiên cho sinh viên nói sớm.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3400" y="6213128"/>
            <a:ext cx="11125200" cy="0"/>
          </a:xfrm>
          <a:prstGeom prst="line">
            <a:avLst/>
          </a:prstGeom>
          <a:noFill/>
          <a:ln w="9525">
            <a:solidFill>
              <a:srgbClr val="D6C7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6319391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 · Sơ cấp / A1 · 45 min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731788"/>
            <a:ext cx="11125200" cy="0"/>
          </a:xfrm>
          <a:prstGeom prst="line">
            <a:avLst/>
          </a:prstGeom>
          <a:noFill/>
          <a:ln w="9525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400" y="355550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HỆ THỐNG HỌC LIỆU AI · HUASHU DESIGN · BẢN DÀNH CHO GIẢNG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1041350"/>
            <a:ext cx="2202079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课堂流程 · TIẾN TRÌNH LỚP HỌC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400" y="1396901"/>
            <a:ext cx="11347704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Kịch bản dạy 45 phút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489150"/>
            <a:ext cx="11125200" cy="3478709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71525" y="3294906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525" y="2816126"/>
            <a:ext cx="82900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0–5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6675" y="2816126"/>
            <a:ext cx="155448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Khởi động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13075" y="2816126"/>
            <a:ext cx="816754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Giảng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Hỏi sinh viên thường gọi món gì. Viết 3 từ đồ ăn sinh viên đã biết lên bảng.
</a:t>
            </a:r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Trả lời bằng từ khóa tiếng Việt hoặc tiếng Trung.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1525" y="3867299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25" y="3388519"/>
            <a:ext cx="82900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5–15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6675" y="3388519"/>
            <a:ext cx="155448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Nhập mẫu câu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13075" y="3388519"/>
            <a:ext cx="816754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Giảng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Làm mẫu cấu trúc 我要 + món ăn. Luyện phát âm và thanh điệu.
</a:t>
            </a:r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Lặp lại và thay thế bằng các món khác.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1525" y="4580186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525" y="3960912"/>
            <a:ext cx="829005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15–25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6675" y="3960912"/>
            <a:ext cx="155448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Luyện có hướng dẫn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13075" y="3960912"/>
            <a:ext cx="816754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Giảng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Cho luyện theo cặp: khách / nhân viên. Chỉnh trật tự từ nhẹ nhàng.
</a:t>
            </a:r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Luyện các lượt trao đổi ngắn.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1525" y="5152579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525" y="4673798"/>
            <a:ext cx="82900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25–38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6675" y="4673798"/>
            <a:ext cx="155448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Đóng vai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13075" y="4673798"/>
            <a:ext cx="816754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Giảng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Phát thẻ tình huống cho từng cặp. Quan sát và ghi lại lỗi phổ biến.
</a:t>
            </a:r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Thực hiện hội thoại gọi món 60 giây.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1525" y="5724971"/>
            <a:ext cx="10648950" cy="0"/>
          </a:xfrm>
          <a:prstGeom prst="line">
            <a:avLst/>
          </a:prstGeom>
          <a:noFill/>
          <a:ln w="9525">
            <a:solidFill>
              <a:srgbClr val="E7DD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525" y="5246191"/>
            <a:ext cx="82900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38–45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36675" y="5246191"/>
            <a:ext cx="155448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Phản hồi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13075" y="5246191"/>
            <a:ext cx="816754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Giảng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Khen các mẫu câu hữu ích, sửa 3 lỗi chính và giao bài tập nhỏ.
</a:t>
            </a:r>
            <a:pPr algn="l" indent="0" marL="0">
              <a:lnSpc>
                <a:spcPts val="1518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Sinh viên:</a:t>
            </a:r>
            <a:pPr algn="l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Lặp lại câu đã được sửa.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67600" y="5412432"/>
            <a:ext cx="4191000" cy="632817"/>
          </a:xfrm>
          <a:prstGeom prst="roundRect">
            <a:avLst>
              <a:gd name="adj" fmla="val 2006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29525" y="5548908"/>
            <a:ext cx="394449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chú giảng viên: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Dùng slide này như bảng điều khiển của giảng viên trong giờ học.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3400" y="6213128"/>
            <a:ext cx="11125200" cy="0"/>
          </a:xfrm>
          <a:prstGeom prst="line">
            <a:avLst/>
          </a:prstGeom>
          <a:noFill/>
          <a:ln w="9525">
            <a:solidFill>
              <a:srgbClr val="D6C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319391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 · Sơ cấp / A1 · 45 min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731788"/>
            <a:ext cx="11125200" cy="0"/>
          </a:xfrm>
          <a:prstGeom prst="line">
            <a:avLst/>
          </a:prstGeom>
          <a:noFill/>
          <a:ln w="9525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400" y="355550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HỆ THỐNG HỌC LIỆU AI · HUASHU DESIGN · BẢN DÀNH CHO GIẢNG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1041350"/>
            <a:ext cx="2202079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课堂活动 · HOẠT ĐỘNG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400" y="1396901"/>
            <a:ext cx="11347704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Kịch bản đóng vai theo cặp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489150"/>
            <a:ext cx="5448300" cy="1978372"/>
          </a:xfrm>
          <a:prstGeom prst="roundRect">
            <a:avLst>
              <a:gd name="adj" fmla="val 7703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2727275"/>
            <a:ext cx="50714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Khách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1525" y="3178076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你好，我要点菜。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1525" y="3440906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我要＿＿＿。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1525" y="3703737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不要辣，谢谢。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1525" y="3966567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买单，谢谢。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0300" y="2489150"/>
            <a:ext cx="5448300" cy="1978372"/>
          </a:xfrm>
          <a:prstGeom prst="roundRect">
            <a:avLst>
              <a:gd name="adj" fmla="val 7703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8425" y="2727275"/>
            <a:ext cx="50714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Nhân viên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8425" y="3178076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您好，几位？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8425" y="3440906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好的，还要什么？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8425" y="3703737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可以，请稍等。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8425" y="3966567"/>
            <a:ext cx="50714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一共＿＿＿元。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67600" y="5412432"/>
            <a:ext cx="4191000" cy="632817"/>
          </a:xfrm>
          <a:prstGeom prst="roundRect">
            <a:avLst>
              <a:gd name="adj" fmla="val 2006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29525" y="5548908"/>
            <a:ext cx="394449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chú giảng viên: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Cho sinh viên đổi vai sau một lượt luyện tập.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3400" y="6213128"/>
            <a:ext cx="11125200" cy="0"/>
          </a:xfrm>
          <a:prstGeom prst="line">
            <a:avLst/>
          </a:prstGeom>
          <a:noFill/>
          <a:ln w="9525">
            <a:solidFill>
              <a:srgbClr val="D6C7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319391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 · Sơ cấp / A1 · 45 min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731788"/>
            <a:ext cx="11125200" cy="0"/>
          </a:xfrm>
          <a:prstGeom prst="line">
            <a:avLst/>
          </a:prstGeom>
          <a:noFill/>
          <a:ln w="9525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400" y="355550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HỆ THỐNG HỌC LIỆU AI · HUASHU DESIGN · BẢN DÀNH CHO GIẢNG VIÊN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3400" y="1041350"/>
            <a:ext cx="2202079" cy="19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课堂检查 · KIỂM TRA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3400" y="1396901"/>
            <a:ext cx="11347704" cy="46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Kiểm tra cuối giờ và bài về nhà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489150"/>
            <a:ext cx="5448300" cy="2321272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2727275"/>
            <a:ext cx="50714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Kiểm tra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1525" y="3178076"/>
            <a:ext cx="4972050" cy="127992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07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Dùng đúng mẫu 我要 / 我想要.</a:t>
            </a:r>
            <a:endParaRPr lang="en-US" sz="1500" dirty="0"/>
          </a:p>
          <a:p>
            <a:pPr algn="l" marL="152400" indent="-152400">
              <a:lnSpc>
                <a:spcPts val="207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Phát âm từ vựng trọng tâm đủ rõ để người nghe hiểu.</a:t>
            </a:r>
            <a:endParaRPr lang="en-US" sz="1500" dirty="0"/>
          </a:p>
          <a:p>
            <a:pPr algn="l" marL="152400" indent="-152400">
              <a:lnSpc>
                <a:spcPts val="207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Hoàn thành hội thoại nhà hàng mà không đọc từng dòng.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0300" y="2489150"/>
            <a:ext cx="5448300" cy="2321272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9525">
            <a:solidFill>
              <a:srgbClr val="D6C7A1"/>
            </a:solidFill>
          </a:ln>
          <a:effectLst>
            <a:outerShdw sx="100000" sy="100000" kx="0" ky="0" algn="bl" rotWithShape="0" blurRad="177800" dist="50800" dir="5400000">
              <a:srgbClr val="0f172a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48425" y="2727275"/>
            <a:ext cx="50714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7255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Bài về nhà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8425" y="3178076"/>
            <a:ext cx="507149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âm 45 giây bằng tiếng Trung để gọi món; thêm một yêu cầu đặc biệt như 不要辣.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67600" y="5412432"/>
            <a:ext cx="4191000" cy="632817"/>
          </a:xfrm>
          <a:prstGeom prst="roundRect">
            <a:avLst>
              <a:gd name="adj" fmla="val 2006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9525" y="5548908"/>
            <a:ext cx="3944493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Ghi chú giảng viên: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7835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Thu một tin nhắn thoại của mỗi sinh viên trước buổi học sau.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3400" y="6213128"/>
            <a:ext cx="11125200" cy="0"/>
          </a:xfrm>
          <a:prstGeom prst="line">
            <a:avLst/>
          </a:prstGeom>
          <a:noFill/>
          <a:ln w="9525">
            <a:solidFill>
              <a:srgbClr val="D6C7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6319391"/>
            <a:ext cx="11347704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在餐厅点菜 · Gọi món trong nhà hàng · Sơ cấp / A1 · 45 min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2026-05-08T09:59:49Z</dcterms:created>
  <dcterms:modified xsi:type="dcterms:W3CDTF">2026-05-08T09:59:49Z</dcterms:modified>
</cp:coreProperties>
</file>