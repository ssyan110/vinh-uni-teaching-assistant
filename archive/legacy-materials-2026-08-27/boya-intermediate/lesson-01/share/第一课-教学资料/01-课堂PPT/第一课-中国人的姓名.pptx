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21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课本部分：第一课
课本内容：课程导入或回顾
学生任务：你的名字有什么意思？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课本部分：第一课
课本内容：课程导入或回顾
学生任务：学完这课后，我能……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课本部分：听说（一）
课本内容：课本部分：听说（一）
学生任务：听说（一）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课本内容：课堂小组交流：用汉语介绍自己名字的意思和来历。
学生任务：用汉语介绍自己的名字：它有什么意思？为什么这样取？
材料：预习卡A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课本内容：小调查：采访至少三位中国朋友，了解他们名字的意思和来历，然后在班里汇报。
学生任务：采访三位同学，记录名字的意思和来历。准备介绍其中一位同学。
材料：活动一《姓名访谈》：访谈者角色卡（含访谈问题）、观察者角色卡（含观察记录）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课本内容：课本部分：词语理解
学生任务：词语理解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课本内容：听对话，回答问题：
学生任务：完成问题1到6。
音频：音频1-2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课本内容：选出与所听到的句子意思相近的一项。
学生任务：完成问题1到5。
音频：音频1-3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课本内容：用三至五句话回答问题，并使用画线词语：
学生任务：完成问题1到5。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课本内容：课本部分：语句理解
学生任务：语句理解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课本内容：听录音，跟读句子，并替换画线词语各说一句话：
学生任务：完成句子1到6。
音频：音频1-4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课本内容：听录音，复述并模仿对话：
学生任务：先盖住课本。听录音，复述并模仿对话1到3。
音频：音频1-5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课本内容：课本部分：语段理解
学生任务：语段理解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课本内容：听第一遍录音，填空：
学生任务：完成填空。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课本内容：听第二遍录音，判断正误：
学生任务：判断正误。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课本内容：听后回答：老常的朋友们是否赞成他给孩子起“殊”这个名字？说说他们的理由。
学生任务：老常的朋友们赞成给孩子起“殊”这个名字吗？说说他们的理由。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课本内容：听后回答：老常的朋友们是否赞成他给孩子起“殊”这个名字？说说他们的理由。
学生任务：你赞成给孩子起“殊”这个名字吗？为什么？和同学讨论。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课本内容：课本部分：口语句式
学生任务：口语句式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课本内容：用“总不能……吧”完成对话：
学生任务：总不能……吧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课本内容：用“……才怪呢”改写句子：
学生任务：……才怪呢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课本内容：说一说在什么情况下会说出下面的句子：
学生任务：到时候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课本内容：用“话说回来”从不同的角度谈谈你对下面问题的看法：
学生任务：话说回来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课本内容：课本部分：文化知识
学生任务：文化知识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课本内容：请你说说：
学生任务：你们国家的人读到你的名字时，常常会想到什么人或什么事物？；在你们国家，人们一般喜欢叫什么名字？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学生任务：读课本短文，完成问题1到3。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学生任务：用五句话说明这篇文章在说什么。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学生任务：两人一组，共同完成一份总结。 完成后，和大家报告。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课本内容：课本部分：拓展练习
学生任务：拓展练习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课本内容：成段叙述：汉语中同音字很多，比如“殊”和“舒”“叔”“输”同音，如果在交际中表达不清楚，有时会引起歧义，造成误会。请你举两个例子，说说你所知道的谐音字趣闻。
学生任务：举两个谐音字的例子，说说它们可能带来的愿望或误会。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课本内容：模拟空间：三四人组建一家起名儿公司，向客户询问相关问题，然后按他们的要求给孩子起名儿。
学生任务：拿出客户卡，完成一个中文名字提案。
材料：活动二《起名儿公司》：客户角色卡（含四张客户卡）、命名顾问角色卡（含姓名提案）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课本内容：模拟空间：三四人组建一家起名儿公司，向客户询问相关问题，然后按他们的要求给孩子起名儿。
学生任务：每组介绍一个名字。 听其他组发表，记下三个最重要的命名条件。
材料：活动二《起名儿公司》：命名顾问角色卡（含姓名提案）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课本内容：选看一部欧美经典电影的片段，根据影片中主要演员名字的发音及含义，给他们各起一个中文名字。
学生任务：给两位电影演员起中文名字，准备说明读音和含义。
材料：活动三《电影演员中文名》：演员卡与小组呈现卡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调查报告：中国人在给孩子起名字的时候，有的注重名字的时代意义，如“解放”；有的具有地域特点，如“长江”；有的体现父母对孩子的美好愿望，如“美丽”等。请你根据上面的说明向你的中国朋友了解下面名字的含义，按类别分别填写在后面的空格内。
学生任务：把课本上的姓名填入三类。
材料：课本《调查报告》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课本部分：听说（二）
课本内容：课本部分：听说（二）
学生任务：听说（二）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课本内容：课堂小组交流：介绍自己国家几个常见的姓和名字，说说为什么这些姓和名字比较常见。
学生任务：用《预习卡B》的资料介绍本国常见的姓和名字。
材料：预习卡B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课本内容：课本部分：词语理解
学生任务：词语理解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课本内容：听对话，回答问题：
学生任务：完成问题1到5。
音频：音频2-2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课本内容：用三至五句话回答问题，并使用画线词语：
学生任务：完成问题1到6。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课本内容：课本部分：语句理解
学生任务：语句理解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课本内容：听录音，跟读句子，并替换画线词语各说一句话：
学生任务：完成句子1到5。
音频：音频2-3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课本内容：听录音，复述并模仿对话：
学生任务：先盖住课本。听录音，复述并模仿对话1到5。
音频：音频2-4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课本内容：课本部分：语段理解
学生任务：语段理解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课本内容：听第一遍录音，填空：
学生任务：完成填空。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课本内容：听第二遍录音，判断正误：
学生任务：判断正误。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课本内容：听后回答：文中介绍了姓“老”的人在与人交往中遇到的一些麻烦，请你说说他们遇到了哪些麻烦。
学生任务：姓“老”的人在与人交往中遇到了哪些麻烦？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课本内容：课本部分：口语句式
学生任务：口语句式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学生任务：不然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学生任务：是……还是……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学生任务：怎么……怎么……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学生任务：拿出01·句式任务卡，完成三个句式任务。
材料：活动四《姓氏信息站》：01·句式任务卡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课本内容：课本部分：文化知识
学生任务：文化知识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课本内容：请你说说：
学生任务：中国人的姓名是姓在前、名在后，你们国家呢？；在你们国家，人的姓名是什么时候产生的？
材料：活动四《姓氏信息站》：02·文化比较卡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学生任务：阅读短文，写下一个重点。
材料：活动四《姓氏信息站》：03·课文重点记录卡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学生任务：用三到五句话说明单姓、复姓和中国姓氏的来源。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学生任务：两人一组，共同完成一份总结。 完成后，和大家报告。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课本内容：课本部分：拓展练习
学生任务：拓展练习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课本内容：成段叙述：中国有句话“张王李赵遍地流（刘）”，请你解释这句话的意思，并谈谈你知道的中国人的姓。
学生任务：解释“张王李赵遍地流（刘）”，再介绍你知道的中国姓氏。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课本内容：寻找历史名人：在中国，张、王、李、赵、陈、杨、吴、刘、黄、周，这10个姓占人口的40%左右。请你分别列举几个中国历史上姓这些姓的名人，并简单介绍他们的情况。
学生任务：介绍一位中国历史人物，并说明他的姓和一件重要的事。
材料：活动五《调查与研究》：小组报告大纲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课本内容：读一读，说一说：下面是《百家姓》中的部分单姓和复姓，请大声朗读，并说一说你认识的同学和朋友中是否有这些姓。
学生任务：每人读五个姓，同学写下听到的姓。
材料：活动四《姓氏信息站》：07·姓氏读法卡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课本内容：读对话，谈体会。
学生任务：两人一组，共同用五句话总结对话。
材料：活动四《姓氏信息站》：08·对话总结记录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课本内容：读对话，谈体会。
学生任务：每组报告一个重点。
材料：活动四《姓氏信息站》：08·对话总结记录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课本部分：课末
课本内容：课程导入或回顾
学生任务：你现在能听懂哪些内容？；你会怎样介绍姓名和姓氏？；你会使用哪些句式？；你还想再练哪一部分？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KaiT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32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Times New Roman" pitchFamily="34" charset="0"/>
        <a:buChar char="–"/>
        <a:defRPr sz="2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4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Times New Roman" pitchFamily="34" charset="0"/>
        <a:buChar char="–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Times New Roman" pitchFamily="34" charset="0"/>
        <a:buChar char="»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347472" y="347472"/>
            <a:ext cx="2468880" cy="2468880"/>
          </a:xfrm>
          <a:prstGeom prst="arc">
            <a:avLst/>
          </a:prstGeom>
          <a:solidFill>
            <a:srgbClr val="A9D8CB"/>
          </a:solidFill>
          <a:ln w="12700">
            <a:solidFill>
              <a:srgbClr val="A9D8C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530352"/>
            <a:ext cx="841248" cy="841248"/>
          </a:xfrm>
          <a:prstGeom prst="ellipse">
            <a:avLst/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94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</a:t>
            </a:r>
            <a:endParaRPr lang="zh-CN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5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中国人的姓名</a:t>
            </a:r>
            <a:endParaRPr lang="zh-CN" sz="5200" dirty="0"/>
          </a:p>
        </p:txBody>
      </p:sp>
      <p:sp>
        <p:nvSpPr>
          <p:cNvPr id="6" name="Text 4"/>
          <p:cNvSpPr/>
          <p:nvPr/>
        </p:nvSpPr>
        <p:spPr>
          <a:xfrm>
            <a:off x="859536" y="2743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你的名字有什么意思？</a:t>
            </a:r>
            <a:endParaRPr lang="zh-CN" sz="2600" dirty="0"/>
          </a:p>
        </p:txBody>
      </p:sp>
      <p:sp>
        <p:nvSpPr>
          <p:cNvPr id="7" name="Shape 5"/>
          <p:cNvSpPr/>
          <p:nvPr/>
        </p:nvSpPr>
        <p:spPr>
          <a:xfrm>
            <a:off x="859536" y="3547872"/>
            <a:ext cx="3794760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82219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姓  ·  名  ·  意思  ·  来历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6931152" y="713232"/>
            <a:ext cx="4462272" cy="5413248"/>
          </a:xfrm>
          <a:prstGeom prst="roundRect">
            <a:avLst>
              <a:gd name="adj" fmla="val 1639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0656" y="85953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7214616" y="1490472"/>
            <a:ext cx="4078224" cy="4078224"/>
          </a:xfrm>
          <a:prstGeom prst="roundRect">
            <a:avLst>
              <a:gd name="adj" fmla="val 134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7123176" y="1380744"/>
            <a:ext cx="4078224" cy="4078224"/>
          </a:xfrm>
          <a:prstGeom prst="roundRect">
            <a:avLst>
              <a:gd name="adj" fmla="val 134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7196328" y="1453896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学完这课后，我能……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听懂 · 介绍 · 讨论 · 起名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49808" y="2212848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450592"/>
            <a:ext cx="73152" cy="731520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4597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听懂关于姓名和姓氏的主要信息。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212848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450592"/>
            <a:ext cx="73152" cy="731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4597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介绍自己姓名和姓氏的意思或来历。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3877056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1148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12394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回答问题，并和同学讨论。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3877056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1148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14282D"/>
          </a:solidFill>
          <a:ln w="12700">
            <a:solidFill>
              <a:srgbClr val="1428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412394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根据要求起一个中文名字，并说明理由。</a:t>
            </a:r>
            <a:endParaRPr 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听说（一）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课堂小组交流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302752" y="157276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1E5D1"/>
          </a:solidFill>
          <a:ln w="12700">
            <a:solidFill>
              <a:srgbClr val="F1E5D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158984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8577072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8485632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558784" y="3156966"/>
            <a:ext cx="1312164" cy="13121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10181844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10090404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10163556" y="3156966"/>
            <a:ext cx="1312164" cy="13121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1810512"/>
            <a:ext cx="6629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用汉语介绍自己的名字：它有什么意思？为什么这样取？</a:t>
            </a:r>
            <a:endParaRPr lang="zh-CN" sz="3200" dirty="0"/>
          </a:p>
        </p:txBody>
      </p:sp>
      <p:sp>
        <p:nvSpPr>
          <p:cNvPr id="16" name="Shape 12"/>
          <p:cNvSpPr/>
          <p:nvPr/>
        </p:nvSpPr>
        <p:spPr>
          <a:xfrm>
            <a:off x="786384" y="3675888"/>
            <a:ext cx="6080760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6384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</a:t>
            </a:r>
            <a:endParaRPr lang="zh-CN" sz="1500" dirty="0"/>
          </a:p>
        </p:txBody>
      </p:sp>
      <p:sp>
        <p:nvSpPr>
          <p:cNvPr id="18" name="Shape 14"/>
          <p:cNvSpPr/>
          <p:nvPr/>
        </p:nvSpPr>
        <p:spPr>
          <a:xfrm>
            <a:off x="859536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990088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来历</a:t>
            </a:r>
            <a:endParaRPr lang="zh-CN" sz="1500" dirty="0"/>
          </a:p>
        </p:txBody>
      </p:sp>
      <p:sp>
        <p:nvSpPr>
          <p:cNvPr id="20" name="Shape 16"/>
          <p:cNvSpPr/>
          <p:nvPr/>
        </p:nvSpPr>
        <p:spPr>
          <a:xfrm>
            <a:off x="3063240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读音</a:t>
            </a:r>
            <a:endParaRPr lang="zh-CN" sz="1500" dirty="0"/>
          </a:p>
        </p:txBody>
      </p:sp>
      <p:sp>
        <p:nvSpPr>
          <p:cNvPr id="22" name="Shape 18"/>
          <p:cNvSpPr/>
          <p:nvPr/>
        </p:nvSpPr>
        <p:spPr>
          <a:xfrm>
            <a:off x="5266944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502920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87552" y="5010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25" name="Text 21"/>
          <p:cNvSpPr/>
          <p:nvPr/>
        </p:nvSpPr>
        <p:spPr>
          <a:xfrm>
            <a:off x="1536192" y="4992624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预习卡A</a:t>
            </a:r>
            <a:endParaRPr lang="zh-CN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小调查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采访三位同学，记录名字的意思和来历。准备介绍其中一位同学。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活动一《姓名访谈》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访谈者角色卡（含访谈问题） · 观察者角色卡（含观察记录）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完成：一张访谈记录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词语理解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完成问题1到6。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1-2</a:t>
            </a:r>
            <a:endParaRPr lang="zh-CN" sz="1300" dirty="0"/>
          </a:p>
        </p:txBody>
      </p:sp>
      <p:pic>
        <p:nvPicPr>
          <p:cNvPr id="21" name="播放 1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完成问题1到5。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1-3</a:t>
            </a:r>
            <a:endParaRPr lang="zh-CN" sz="1300" dirty="0"/>
          </a:p>
        </p:txBody>
      </p:sp>
      <p:pic>
        <p:nvPicPr>
          <p:cNvPr id="21" name="播放 1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用三到五句话回答问题，并使用画线词语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完成问题1到5。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发音</a:t>
            </a:r>
            <a:endParaRPr lang="zh-CN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2864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头等大事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3176016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768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别扭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5455920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糟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2864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低调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176016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536192"/>
            <a:ext cx="3401568" cy="4498848"/>
          </a:xfrm>
          <a:prstGeom prst="roundRect">
            <a:avLst>
              <a:gd name="adj" fmla="val 21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9829800" y="168249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66000">
            <a:off x="8275320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66000">
            <a:off x="8183880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257032" y="3136392"/>
            <a:ext cx="1298448" cy="12984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 rot="66000">
            <a:off x="9866376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66000">
            <a:off x="9774936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48088" y="3136392"/>
            <a:ext cx="1298448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语句理解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听录音，跟读句子，并替换画线词语各说一句话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18688" cy="4462272"/>
          </a:xfrm>
          <a:prstGeom prst="roundRect">
            <a:avLst>
              <a:gd name="adj" fmla="val 2273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1005840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914400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987552" y="3200400"/>
            <a:ext cx="1207008" cy="1207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66000">
            <a:off x="2505456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6000">
            <a:off x="2414016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2487168" y="3200400"/>
            <a:ext cx="1207008" cy="1207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0" y="1810512"/>
            <a:ext cx="73152" cy="237744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1938528"/>
            <a:ext cx="65105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完成句子1到6。</a:t>
            </a:r>
            <a:endParaRPr lang="zh-CN" sz="3500" dirty="0"/>
          </a:p>
        </p:txBody>
      </p:sp>
      <p:sp>
        <p:nvSpPr>
          <p:cNvPr id="16" name="Shape 12"/>
          <p:cNvSpPr/>
          <p:nvPr/>
        </p:nvSpPr>
        <p:spPr>
          <a:xfrm>
            <a:off x="4864608" y="3986784"/>
            <a:ext cx="6053328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先听，再跟读，再替换。</a:t>
            </a:r>
            <a:endParaRPr lang="zh-CN" sz="1700" dirty="0"/>
          </a:p>
        </p:txBody>
      </p:sp>
      <p:sp>
        <p:nvSpPr>
          <p:cNvPr id="18" name="Shape 14"/>
          <p:cNvSpPr/>
          <p:nvPr/>
        </p:nvSpPr>
        <p:spPr>
          <a:xfrm>
            <a:off x="4864608" y="5230368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5330952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6672" y="5330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1-4</a:t>
            </a:r>
            <a:endParaRPr lang="zh-CN" sz="1300" dirty="0"/>
          </a:p>
        </p:txBody>
      </p:sp>
      <p:pic>
        <p:nvPicPr>
          <p:cNvPr id="21" name="播放 1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83480" y="534924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听录音，复述并模仿对话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先盖住课本。听录音，复述并模仿。</a:t>
            </a:r>
            <a:endParaRPr lang="zh-CN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盖住课本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3931920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</a:t>
            </a:r>
            <a:endParaRPr lang="zh-CN" sz="2500" dirty="0"/>
          </a:p>
        </p:txBody>
      </p:sp>
      <p:sp>
        <p:nvSpPr>
          <p:cNvPr id="14" name="Shape 12"/>
          <p:cNvSpPr/>
          <p:nvPr/>
        </p:nvSpPr>
        <p:spPr>
          <a:xfrm>
            <a:off x="7662672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复述并模仿</a:t>
            </a:r>
            <a:endParaRPr lang="zh-CN" sz="2500" dirty="0"/>
          </a:p>
        </p:txBody>
      </p:sp>
      <p:sp>
        <p:nvSpPr>
          <p:cNvPr id="18" name="Shape 16"/>
          <p:cNvSpPr/>
          <p:nvPr/>
        </p:nvSpPr>
        <p:spPr>
          <a:xfrm>
            <a:off x="5029200" y="5285232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5385816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5385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1-5</a:t>
            </a:r>
            <a:endParaRPr lang="zh-CN" sz="1300" dirty="0"/>
          </a:p>
        </p:txBody>
      </p:sp>
      <p:pic>
        <p:nvPicPr>
          <p:cNvPr id="21" name="播放 1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8072" y="540410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语段理解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完成填空。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8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判断正误。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8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16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1700784"/>
            <a:ext cx="914400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93392"/>
            <a:ext cx="9985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7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老常的朋友们赞成给孩子起“殊”这个名字吗？说说他们的理由。</a:t>
            </a:r>
            <a:endParaRPr lang="zh-CN" sz="37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609844" y="4325112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518404" y="4215384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5591556" y="4288536"/>
            <a:ext cx="1024128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5943600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53728" y="6044184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6044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6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62872" y="6062472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你呢？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50976" y="1554480"/>
            <a:ext cx="10287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你赞成给孩子起“殊”这个名字吗？为什么？和同学讨论。</a:t>
            </a:r>
            <a:endParaRPr lang="zh-CN" sz="2900" dirty="0"/>
          </a:p>
        </p:txBody>
      </p:sp>
      <p:sp>
        <p:nvSpPr>
          <p:cNvPr id="8" name="Shape 6"/>
          <p:cNvSpPr/>
          <p:nvPr/>
        </p:nvSpPr>
        <p:spPr>
          <a:xfrm>
            <a:off x="877824" y="2798064"/>
            <a:ext cx="5029200" cy="2121408"/>
          </a:xfrm>
          <a:prstGeom prst="roundRect">
            <a:avLst>
              <a:gd name="adj" fmla="val 344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2798064"/>
            <a:ext cx="5029200" cy="2121408"/>
          </a:xfrm>
          <a:prstGeom prst="roundRect">
            <a:avLst>
              <a:gd name="adj" fmla="val 3448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赞成</a:t>
            </a:r>
            <a:endParaRPr lang="zh-CN" sz="4200" dirty="0"/>
          </a:p>
        </p:txBody>
      </p:sp>
      <p:sp>
        <p:nvSpPr>
          <p:cNvPr id="11" name="Text 9"/>
          <p:cNvSpPr/>
          <p:nvPr/>
        </p:nvSpPr>
        <p:spPr>
          <a:xfrm>
            <a:off x="6638544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EA927E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不赞成</a:t>
            </a:r>
            <a:endParaRPr lang="zh-CN" sz="4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口语句式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总不能……吧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总不能……吧</a:t>
            </a:r>
            <a:endParaRPr lang="zh-CN" sz="3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说一件无论如何都不能做的事。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牙疼好几天了，还是不去看医生。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总不能一直疼下去吧！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……才怪呢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……才怪呢</a:t>
            </a:r>
            <a:endParaRPr lang="zh-CN" sz="32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说出一定会出现的结果。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每天都不复习，还想考试通过。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能考及格才怪呢！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到时候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到时候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说将来某个时间会发生的事。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下午要接孩子，朋友现在问你什么时候有空。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到时候再给你打电话。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话说回来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话说回来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先说一面，再说另一面。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这个名字很有意义，但是写起来有点儿难。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话说回来，写起来还是有点儿难。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A9D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文化知识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你们国家的人读到你的名字时，常常会想到什么人或什么事物？</a:t>
            </a:r>
            <a:endParaRPr lang="zh-CN" sz="2600" dirty="0"/>
          </a:p>
        </p:txBody>
      </p:sp>
      <p:sp>
        <p:nvSpPr>
          <p:cNvPr id="10" name="Shape 8"/>
          <p:cNvSpPr/>
          <p:nvPr/>
        </p:nvSpPr>
        <p:spPr>
          <a:xfrm>
            <a:off x="63276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85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在你们国家，人们一般喜欢叫什么名字？</a:t>
            </a:r>
            <a:endParaRPr lang="zh-CN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阅读短文，回答问题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73152" cy="318211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38528"/>
            <a:ext cx="6291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读课本短文，完成问题1到3。</a:t>
            </a:r>
            <a:endParaRPr lang="zh-CN" sz="3500" dirty="0"/>
          </a:p>
        </p:txBody>
      </p:sp>
      <p:sp>
        <p:nvSpPr>
          <p:cNvPr id="9" name="Shape 7"/>
          <p:cNvSpPr/>
          <p:nvPr/>
        </p:nvSpPr>
        <p:spPr>
          <a:xfrm>
            <a:off x="7882128" y="1609344"/>
            <a:ext cx="3520440" cy="4443984"/>
          </a:xfrm>
          <a:prstGeom prst="roundRect">
            <a:avLst>
              <a:gd name="adj" fmla="val 20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9800" y="1755648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8165592" y="2372868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074152" y="2263140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147304" y="2336292"/>
            <a:ext cx="2990088" cy="29900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26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总结文章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用五句话说明这篇文章在说什么。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什么是谐音</a:t>
            </a:r>
            <a:endParaRPr lang="zh-CN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怎样表达愿望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5157216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怎样避免误会</a:t>
            </a:r>
            <a:endParaRPr lang="zh-CN" sz="2400" dirty="0"/>
          </a:p>
        </p:txBody>
      </p:sp>
      <p:sp>
        <p:nvSpPr>
          <p:cNvPr id="19" name="Shape 17"/>
          <p:cNvSpPr/>
          <p:nvPr/>
        </p:nvSpPr>
        <p:spPr>
          <a:xfrm>
            <a:off x="8942832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两人一组，共同完成一份总结。</a:t>
            </a:r>
            <a:endParaRPr lang="zh-CN" sz="3100" dirty="0"/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完成后，和大家报告。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E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拓展练习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成段叙述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42416" y="1572768"/>
            <a:ext cx="10040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举两个谐音字的例子，说说它们可能带来的愿望或误会。</a:t>
            </a:r>
            <a:endParaRPr lang="zh-CN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7726680" cy="82296"/>
          </a:xfrm>
          <a:prstGeom prst="roundRect">
            <a:avLst>
              <a:gd name="adj" fmla="val 33333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529584"/>
            <a:ext cx="2578608" cy="1920240"/>
          </a:xfrm>
          <a:prstGeom prst="roundRect">
            <a:avLst>
              <a:gd name="adj" fmla="val 381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5084064" y="4082796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4992624" y="3973068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5065776" y="4046220"/>
            <a:ext cx="886968" cy="8869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 rot="66000">
            <a:off x="6263640" y="4082796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66000">
            <a:off x="6172200" y="3973068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6245352" y="4046220"/>
            <a:ext cx="886968" cy="8869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模拟空间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47888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241280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8531352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8439912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513064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拿出客户卡，完成一个中文名字提案。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768096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517904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活动二《起名儿公司》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517904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客户角色卡（含四张客户卡） · 命名顾问角色卡（含姓名提案）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768096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完成：一个中文名字＋两个理由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768096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小组发表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852928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1042416" y="3145536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950976" y="303580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1024128" y="3108960"/>
            <a:ext cx="1426464" cy="14264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2761488" y="3145536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2670048" y="303580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2743200" y="3108960"/>
            <a:ext cx="1426464" cy="1426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4336" y="1901952"/>
            <a:ext cx="6108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每组介绍一个名字。</a:t>
            </a:r>
            <a:endParaRPr lang="zh-CN" sz="3300" dirty="0"/>
          </a:p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听其他组发表，记下三个最重要的命名条件。</a:t>
            </a:r>
            <a:endParaRPr lang="zh-CN" sz="3300" dirty="0"/>
          </a:p>
        </p:txBody>
      </p:sp>
      <p:sp>
        <p:nvSpPr>
          <p:cNvPr id="16" name="Shape 12"/>
          <p:cNvSpPr/>
          <p:nvPr/>
        </p:nvSpPr>
        <p:spPr>
          <a:xfrm>
            <a:off x="4992624" y="3822192"/>
            <a:ext cx="5303520" cy="7315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92624" y="429768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93792" y="42793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9" name="Text 15"/>
          <p:cNvSpPr/>
          <p:nvPr/>
        </p:nvSpPr>
        <p:spPr>
          <a:xfrm>
            <a:off x="5742432" y="4261104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活动二《起名儿公司》</a:t>
            </a:r>
            <a:endParaRPr lang="zh-CN" sz="1500" dirty="0"/>
          </a:p>
        </p:txBody>
      </p:sp>
      <p:sp>
        <p:nvSpPr>
          <p:cNvPr id="20" name="Text 16"/>
          <p:cNvSpPr/>
          <p:nvPr/>
        </p:nvSpPr>
        <p:spPr>
          <a:xfrm>
            <a:off x="5742432" y="450799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命名顾问角色卡（含姓名提案）</a:t>
            </a:r>
            <a:endParaRPr lang="zh-CN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课堂实践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给两位电影演员起中文名字，准备说明读音和含义。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活动三《电影演员中文名》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演员卡与小组呈现卡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完成：两个中文名字＋说明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调查报告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40817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把课本上的姓名填入三类。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68096" y="1993392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139696"/>
            <a:ext cx="10113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梁开放　余胜男　吴建国　李小龙　于国庆</a:t>
            </a:r>
            <a:endParaRPr lang="zh-CN" sz="1900" dirty="0"/>
          </a:p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康有为　王豫　苏东坡　孙湘　郑板桥</a:t>
            </a:r>
            <a:endParaRPr lang="zh-CN" sz="1900" dirty="0"/>
          </a:p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刘为民　郑成功　王沪生　陈招娣　钱卫东</a:t>
            </a:r>
            <a:endParaRPr lang="zh-CN" sz="1900" dirty="0"/>
          </a:p>
        </p:txBody>
      </p:sp>
      <p:sp>
        <p:nvSpPr>
          <p:cNvPr id="10" name="Shape 8"/>
          <p:cNvSpPr/>
          <p:nvPr/>
        </p:nvSpPr>
        <p:spPr>
          <a:xfrm>
            <a:off x="768096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注重时代意义</a:t>
            </a:r>
            <a:endParaRPr lang="zh-CN" sz="2300" dirty="0"/>
          </a:p>
        </p:txBody>
      </p:sp>
      <p:sp>
        <p:nvSpPr>
          <p:cNvPr id="12" name="Shape 10"/>
          <p:cNvSpPr/>
          <p:nvPr/>
        </p:nvSpPr>
        <p:spPr>
          <a:xfrm>
            <a:off x="1243584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具有地域特点</a:t>
            </a:r>
            <a:endParaRPr lang="zh-CN" sz="2300" dirty="0"/>
          </a:p>
        </p:txBody>
      </p:sp>
      <p:sp>
        <p:nvSpPr>
          <p:cNvPr id="17" name="Shape 15"/>
          <p:cNvSpPr/>
          <p:nvPr/>
        </p:nvSpPr>
        <p:spPr>
          <a:xfrm>
            <a:off x="4846320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EA927E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体现美好愿望</a:t>
            </a:r>
            <a:endParaRPr lang="zh-CN" sz="2300" dirty="0"/>
          </a:p>
        </p:txBody>
      </p:sp>
      <p:sp>
        <p:nvSpPr>
          <p:cNvPr id="22" name="Shape 20"/>
          <p:cNvSpPr/>
          <p:nvPr/>
        </p:nvSpPr>
        <p:spPr>
          <a:xfrm>
            <a:off x="8449056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49056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88873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8704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27" name="Text 25"/>
          <p:cNvSpPr/>
          <p:nvPr/>
        </p:nvSpPr>
        <p:spPr>
          <a:xfrm>
            <a:off x="1572768" y="5852160"/>
            <a:ext cx="9491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课本《调查报告》</a:t>
            </a:r>
            <a:endParaRPr lang="zh-CN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听说（二）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课堂小组交流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302752" y="157276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1E5D1"/>
          </a:solidFill>
          <a:ln w="12700">
            <a:solidFill>
              <a:srgbClr val="F1E5D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158984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8577072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8485632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558784" y="3156966"/>
            <a:ext cx="1312164" cy="13121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10181844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10090404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10163556" y="3156966"/>
            <a:ext cx="1312164" cy="13121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1810512"/>
            <a:ext cx="6629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用《预习卡B》的资料介绍本国常见的姓和名字。</a:t>
            </a:r>
            <a:endParaRPr lang="zh-CN" sz="3200" dirty="0"/>
          </a:p>
        </p:txBody>
      </p:sp>
      <p:sp>
        <p:nvSpPr>
          <p:cNvPr id="16" name="Shape 12"/>
          <p:cNvSpPr/>
          <p:nvPr/>
        </p:nvSpPr>
        <p:spPr>
          <a:xfrm>
            <a:off x="786384" y="3675888"/>
            <a:ext cx="6080760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6384" y="502920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7552" y="5010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9" name="Text 15"/>
          <p:cNvSpPr/>
          <p:nvPr/>
        </p:nvSpPr>
        <p:spPr>
          <a:xfrm>
            <a:off x="1536192" y="4992624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预习卡B</a:t>
            </a:r>
            <a:endParaRPr lang="zh-CN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1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词语理解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完成问题1到5。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2-2</a:t>
            </a:r>
            <a:endParaRPr lang="zh-CN" sz="1300" dirty="0"/>
          </a:p>
        </p:txBody>
      </p:sp>
      <p:pic>
        <p:nvPicPr>
          <p:cNvPr id="21" name="播放 2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用三到五句话回答问题，并使用画线词语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完成问题1到6。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操心</a:t>
            </a:r>
            <a:endParaRPr lang="zh-CN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2864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啼笑皆非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3176016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768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少见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5455920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尊称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2864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称呼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176016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2768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交往</a:t>
            </a:r>
            <a:endParaRPr lang="zh-CN" sz="1500" dirty="0"/>
          </a:p>
        </p:txBody>
      </p:sp>
      <p:sp>
        <p:nvSpPr>
          <p:cNvPr id="19" name="Shape 17"/>
          <p:cNvSpPr/>
          <p:nvPr/>
        </p:nvSpPr>
        <p:spPr>
          <a:xfrm>
            <a:off x="5455920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536192"/>
            <a:ext cx="3401568" cy="4498848"/>
          </a:xfrm>
          <a:prstGeom prst="roundRect">
            <a:avLst>
              <a:gd name="adj" fmla="val 21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9829800" y="168249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66000">
            <a:off x="8275320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66000">
            <a:off x="8183880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257032" y="3136392"/>
            <a:ext cx="1298448" cy="129844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 rot="66000">
            <a:off x="9866376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66000">
            <a:off x="9774936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48088" y="3136392"/>
            <a:ext cx="1298448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F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语句理解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听录音，跟读句子，并替换画线词语各说一句话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18688" cy="4462272"/>
          </a:xfrm>
          <a:prstGeom prst="roundRect">
            <a:avLst>
              <a:gd name="adj" fmla="val 2273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1005840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914400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987552" y="3200400"/>
            <a:ext cx="1207008" cy="1207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66000">
            <a:off x="2505456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6000">
            <a:off x="2414016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2487168" y="3200400"/>
            <a:ext cx="1207008" cy="1207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0" y="1810512"/>
            <a:ext cx="73152" cy="237744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1938528"/>
            <a:ext cx="65105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完成句子1到5。</a:t>
            </a:r>
            <a:endParaRPr lang="zh-CN" sz="3500" dirty="0"/>
          </a:p>
        </p:txBody>
      </p:sp>
      <p:sp>
        <p:nvSpPr>
          <p:cNvPr id="16" name="Shape 12"/>
          <p:cNvSpPr/>
          <p:nvPr/>
        </p:nvSpPr>
        <p:spPr>
          <a:xfrm>
            <a:off x="4864608" y="3986784"/>
            <a:ext cx="6053328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先听，再跟读，再替换。</a:t>
            </a:r>
            <a:endParaRPr lang="zh-CN" sz="1700" dirty="0"/>
          </a:p>
        </p:txBody>
      </p:sp>
      <p:sp>
        <p:nvSpPr>
          <p:cNvPr id="18" name="Shape 14"/>
          <p:cNvSpPr/>
          <p:nvPr/>
        </p:nvSpPr>
        <p:spPr>
          <a:xfrm>
            <a:off x="4864608" y="5230368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5330952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6672" y="5330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2-3</a:t>
            </a:r>
            <a:endParaRPr lang="zh-CN" sz="1300" dirty="0"/>
          </a:p>
        </p:txBody>
      </p:sp>
      <p:pic>
        <p:nvPicPr>
          <p:cNvPr id="21" name="播放 2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83480" y="534924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听录音，复述并模仿对话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先盖住课本。听录音，复述并模仿。</a:t>
            </a:r>
            <a:endParaRPr lang="zh-CN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盖住课本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3931920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</a:t>
            </a:r>
            <a:endParaRPr lang="zh-CN" sz="2500" dirty="0"/>
          </a:p>
        </p:txBody>
      </p:sp>
      <p:sp>
        <p:nvSpPr>
          <p:cNvPr id="14" name="Shape 12"/>
          <p:cNvSpPr/>
          <p:nvPr/>
        </p:nvSpPr>
        <p:spPr>
          <a:xfrm>
            <a:off x="7662672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复述并模仿</a:t>
            </a:r>
            <a:endParaRPr lang="zh-CN" sz="2500" dirty="0"/>
          </a:p>
        </p:txBody>
      </p:sp>
      <p:sp>
        <p:nvSpPr>
          <p:cNvPr id="18" name="Shape 16"/>
          <p:cNvSpPr/>
          <p:nvPr/>
        </p:nvSpPr>
        <p:spPr>
          <a:xfrm>
            <a:off x="5029200" y="5285232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5385816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5385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2-4</a:t>
            </a:r>
            <a:endParaRPr lang="zh-CN" sz="1300" dirty="0"/>
          </a:p>
        </p:txBody>
      </p:sp>
      <p:pic>
        <p:nvPicPr>
          <p:cNvPr id="21" name="播放 2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8072" y="540410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语段理解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完成填空。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8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判断正误。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8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1700784"/>
            <a:ext cx="914400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93392"/>
            <a:ext cx="9985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7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姓“老”的人在与人交往中遇到了哪些麻烦？</a:t>
            </a:r>
            <a:endParaRPr lang="zh-CN" sz="37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609844" y="4325112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518404" y="4215384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5591556" y="4288536"/>
            <a:ext cx="1024128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5943600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53728" y="6044184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6044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6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62872" y="6062472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口语句式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不然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不然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说出不这样做的结果。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你提醒同学带雨伞。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夏天出门一定要带雨伞，不然会被雨淋湿。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是……还是……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是……还是……</a:t>
            </a:r>
            <a:endParaRPr lang="zh-CN" sz="3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请同学在两个选择中选一个。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你和同学决定去哪里。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我们是去颐和园，还是去圆明园？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怎么……怎么……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怎么……怎么……</a:t>
            </a:r>
            <a:endParaRPr lang="zh-CN" sz="23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说不管怎么做，结果都一样。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大家不知道应该怎样称呼她。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怎么叫怎么别扭。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句式练习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162763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拿出01·句式任务卡，完成三个句式任务。</a:t>
            </a:r>
            <a:endParaRPr lang="zh-CN" sz="3600" dirty="0"/>
          </a:p>
        </p:txBody>
      </p:sp>
      <p:sp>
        <p:nvSpPr>
          <p:cNvPr id="8" name="Shape 6"/>
          <p:cNvSpPr/>
          <p:nvPr/>
        </p:nvSpPr>
        <p:spPr>
          <a:xfrm>
            <a:off x="4645152" y="2852928"/>
            <a:ext cx="2907792" cy="2011680"/>
          </a:xfrm>
          <a:prstGeom prst="roundRect">
            <a:avLst>
              <a:gd name="adj" fmla="val 363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5980176" y="29992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5376672" y="3154680"/>
            <a:ext cx="1627632" cy="1627632"/>
          </a:xfrm>
          <a:prstGeom prst="roundRect">
            <a:avLst>
              <a:gd name="adj" fmla="val 337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5285232" y="3044952"/>
            <a:ext cx="1627632" cy="1627632"/>
          </a:xfrm>
          <a:prstGeom prst="roundRect">
            <a:avLst>
              <a:gd name="adj" fmla="val 337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5358384" y="3118104"/>
            <a:ext cx="1481328" cy="14813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93392" y="5230368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521208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5" name="Text 12"/>
          <p:cNvSpPr/>
          <p:nvPr/>
        </p:nvSpPr>
        <p:spPr>
          <a:xfrm>
            <a:off x="2743200" y="5193792"/>
            <a:ext cx="7479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6" name="Text 13"/>
          <p:cNvSpPr/>
          <p:nvPr/>
        </p:nvSpPr>
        <p:spPr>
          <a:xfrm>
            <a:off x="2743200" y="5440680"/>
            <a:ext cx="7479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01·句式任务卡</a:t>
            </a:r>
            <a:endParaRPr lang="zh-CN" sz="1150" dirty="0"/>
          </a:p>
        </p:txBody>
      </p:sp>
      <p:sp>
        <p:nvSpPr>
          <p:cNvPr id="17" name="Text 14"/>
          <p:cNvSpPr/>
          <p:nvPr/>
        </p:nvSpPr>
        <p:spPr>
          <a:xfrm>
            <a:off x="3108960" y="59070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完成：每个人说三句话</a:t>
            </a:r>
            <a:endParaRPr lang="zh-CN" sz="1400" dirty="0"/>
          </a:p>
        </p:txBody>
      </p:sp>
      <p:sp>
        <p:nvSpPr>
          <p:cNvPr id="18" name="Shape 15"/>
          <p:cNvSpPr/>
          <p:nvPr/>
        </p:nvSpPr>
        <p:spPr>
          <a:xfrm>
            <a:off x="3108960" y="6318504"/>
            <a:ext cx="594360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A9D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文化知识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中国人的姓名是姓在前、名在后，你们国家呢？</a:t>
            </a:r>
            <a:endParaRPr lang="zh-CN" sz="2600" dirty="0"/>
          </a:p>
        </p:txBody>
      </p:sp>
      <p:sp>
        <p:nvSpPr>
          <p:cNvPr id="10" name="Shape 8"/>
          <p:cNvSpPr/>
          <p:nvPr/>
        </p:nvSpPr>
        <p:spPr>
          <a:xfrm>
            <a:off x="63276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85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在你们国家，人的姓名是什么时候产生的？</a:t>
            </a:r>
            <a:endParaRPr lang="zh-CN" sz="2600" dirty="0"/>
          </a:p>
        </p:txBody>
      </p:sp>
      <p:sp>
        <p:nvSpPr>
          <p:cNvPr id="13" name="Shape 11"/>
          <p:cNvSpPr/>
          <p:nvPr/>
        </p:nvSpPr>
        <p:spPr>
          <a:xfrm>
            <a:off x="1901952" y="5504688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54864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5468112"/>
            <a:ext cx="7662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6" name="Text 14"/>
          <p:cNvSpPr/>
          <p:nvPr/>
        </p:nvSpPr>
        <p:spPr>
          <a:xfrm>
            <a:off x="2651760" y="5715000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02·文化比较卡</a:t>
            </a:r>
            <a:endParaRPr lang="zh-CN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阅读短文，回答问题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73152" cy="318211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38528"/>
            <a:ext cx="6291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阅读短文，写下一个重点。</a:t>
            </a:r>
            <a:endParaRPr lang="zh-CN" sz="3500" dirty="0"/>
          </a:p>
        </p:txBody>
      </p:sp>
      <p:sp>
        <p:nvSpPr>
          <p:cNvPr id="9" name="Shape 7"/>
          <p:cNvSpPr/>
          <p:nvPr/>
        </p:nvSpPr>
        <p:spPr>
          <a:xfrm>
            <a:off x="7882128" y="1609344"/>
            <a:ext cx="3520440" cy="4443984"/>
          </a:xfrm>
          <a:prstGeom prst="roundRect">
            <a:avLst>
              <a:gd name="adj" fmla="val 20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9800" y="1755648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8165592" y="2372868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074152" y="2263140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147304" y="2336292"/>
            <a:ext cx="2990088" cy="29900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33856" y="5266944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52486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883664" y="5230368"/>
            <a:ext cx="550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883664" y="5477256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03·课文重点记录卡</a:t>
            </a:r>
            <a:endParaRPr lang="zh-CN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总结文章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用三到五句话说明单姓、复姓和中国姓氏的来源。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单姓</a:t>
            </a:r>
            <a:endParaRPr lang="zh-CN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复姓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5157216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姓氏来源</a:t>
            </a:r>
            <a:endParaRPr lang="zh-CN" sz="2400" dirty="0"/>
          </a:p>
        </p:txBody>
      </p:sp>
      <p:sp>
        <p:nvSpPr>
          <p:cNvPr id="19" name="Shape 17"/>
          <p:cNvSpPr/>
          <p:nvPr/>
        </p:nvSpPr>
        <p:spPr>
          <a:xfrm>
            <a:off x="8942832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两人一组，共同完成一份总结。</a:t>
            </a:r>
            <a:endParaRPr lang="zh-CN" sz="3100" dirty="0"/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完成后，和大家报告。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E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拓展练习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成段叙述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42416" y="1572768"/>
            <a:ext cx="10040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解释“张王李赵遍地流（刘）”，再介绍你知道的中国姓氏。</a:t>
            </a:r>
            <a:endParaRPr lang="zh-CN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7726680" cy="82296"/>
          </a:xfrm>
          <a:prstGeom prst="roundRect">
            <a:avLst>
              <a:gd name="adj" fmla="val 33333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529584"/>
            <a:ext cx="2578608" cy="1920240"/>
          </a:xfrm>
          <a:prstGeom prst="roundRect">
            <a:avLst>
              <a:gd name="adj" fmla="val 381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422392" y="3831336"/>
            <a:ext cx="1536192" cy="1536192"/>
          </a:xfrm>
          <a:prstGeom prst="roundRect">
            <a:avLst>
              <a:gd name="adj" fmla="val 357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330952" y="3721608"/>
            <a:ext cx="1536192" cy="1536192"/>
          </a:xfrm>
          <a:prstGeom prst="roundRect">
            <a:avLst>
              <a:gd name="adj" fmla="val 357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72000">
            <a:off x="5404104" y="3794760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寻找历史名人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介绍一位中国历史人物，并说明他的姓和一件重要的事。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活动五《调查与研究》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小组报告大纲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完成：一段人物介绍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读一读，说一说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47888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241280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8531352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8439912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513064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每人读五个姓，同学写下听到的姓。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768096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517904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517904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07·姓氏读法卡</a:t>
            </a:r>
            <a:endParaRPr lang="zh-CN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60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读对话，谈体会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两人一组，共同用五句话总结对话。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61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852928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1051560" y="2295144"/>
            <a:ext cx="3273552" cy="3273552"/>
          </a:xfrm>
          <a:prstGeom prst="roundRect">
            <a:avLst>
              <a:gd name="adj" fmla="val 1676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60120" y="2185416"/>
            <a:ext cx="3273552" cy="3273552"/>
          </a:xfrm>
          <a:prstGeom prst="roundRect">
            <a:avLst>
              <a:gd name="adj" fmla="val 1676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1033272" y="2258568"/>
            <a:ext cx="3127248" cy="31272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74336" y="1901952"/>
            <a:ext cx="6108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每组报告一个重点。</a:t>
            </a:r>
            <a:endParaRPr lang="zh-CN" sz="3300" dirty="0"/>
          </a:p>
        </p:txBody>
      </p:sp>
      <p:sp>
        <p:nvSpPr>
          <p:cNvPr id="13" name="Shape 10"/>
          <p:cNvSpPr/>
          <p:nvPr/>
        </p:nvSpPr>
        <p:spPr>
          <a:xfrm>
            <a:off x="4992624" y="3822192"/>
            <a:ext cx="5303520" cy="7315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92624" y="429768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3792" y="42793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742432" y="4261104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742432" y="450799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08·对话总结记录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992624" y="534009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完成：一段口头报告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992624" y="5751576"/>
            <a:ext cx="525780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62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想一想：这课学了什么？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回想这课，你现在会什么？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23113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48716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48716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你现在能听懂哪些内容？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6254496" y="223113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48716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248716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你会怎样介绍姓名和姓氏？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786384" y="396849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422452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22452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你会使用哪些句式？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254496" y="396849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22452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14282D"/>
          </a:solidFill>
          <a:ln w="12700">
            <a:solidFill>
              <a:srgbClr val="1428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422452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你还想再练哪一部分？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ajorFont>
      <a:minorFont>
        <a:latin typeface="Times New Roman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ajorFont>
      <a:minorFont>
        <a:latin typeface="Times New Roman" panose="020F0502020204030204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3783</Words>
  <Application>Microsoft Macintosh PowerPoint</Application>
  <PresentationFormat>Widescreen</PresentationFormat>
  <Paragraphs>489</Paragraphs>
  <Slides>62</Slides>
  <Notes>62</Notes>
  <HiddenSlides>0</HiddenSlides>
  <MMClips>13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KaiTi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荣市大学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第一课：中国人的姓名</dc:title>
  <dc:subject>第一课：中国人的姓名</dc:subject>
  <dc:creator>荣市大学华语听说课程</dc:creator>
  <cp:lastModifiedBy>Adam Yan - Journey Beyond Asia</cp:lastModifiedBy>
  <cp:revision>1</cp:revision>
  <dcterms:created xsi:type="dcterms:W3CDTF">2026-08-21T11:46:11Z</dcterms:created>
  <dcterms:modified xsi:type="dcterms:W3CDTF">2026-08-21T12:23:22Z</dcterms:modified>
</cp:coreProperties>
</file>