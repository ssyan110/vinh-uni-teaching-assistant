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KaiTi"/>
          <a:cs typeface="Times New Roman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3200" kern="1200">
          <a:solidFill>
            <a:schemeClr val="tx1"/>
          </a:solidFill>
          <a:latin typeface="Times New Roman"/>
          <a:ea typeface="KaiTi"/>
          <a:cs typeface="Times New Roman"/>
        </a:defRPr>
      </a:lvl1pPr>
      <a:lvl2pPr marL="742950" indent="-285750" algn="l" defTabSz="914400" rtl="0" eaLnBrk="1" latinLnBrk="0" hangingPunct="1">
        <a:spcBef>
          <a:spcPct val="20000"/>
        </a:spcBef>
        <a:buFont typeface="Times New Roman" pitchFamily="34" charset="0"/>
        <a:buChar char="–"/>
        <a:defRPr sz="2800" kern="1200">
          <a:solidFill>
            <a:schemeClr val="tx1"/>
          </a:solidFill>
          <a:latin typeface="Times New Roman"/>
          <a:ea typeface="KaiTi"/>
          <a:cs typeface="Times New Roman"/>
        </a:defRPr>
      </a:lvl2pPr>
      <a:lvl3pPr marL="11430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400" kern="1200">
          <a:solidFill>
            <a:schemeClr val="tx1"/>
          </a:solidFill>
          <a:latin typeface="Times New Roman"/>
          <a:ea typeface="KaiTi"/>
          <a:cs typeface="Times New Roman"/>
        </a:defRPr>
      </a:lvl3pPr>
      <a:lvl4pPr marL="1600200" indent="-228600" algn="l" defTabSz="914400" rtl="0" eaLnBrk="1" latinLnBrk="0" hangingPunct="1">
        <a:spcBef>
          <a:spcPct val="20000"/>
        </a:spcBef>
        <a:buFont typeface="Times New Roman" pitchFamily="34" charset="0"/>
        <a:buChar char="–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4pPr>
      <a:lvl5pPr marL="2057400" indent="-228600" algn="l" defTabSz="914400" rtl="0" eaLnBrk="1" latinLnBrk="0" hangingPunct="1">
        <a:spcBef>
          <a:spcPct val="20000"/>
        </a:spcBef>
        <a:buFont typeface="Times New Roman" pitchFamily="34" charset="0"/>
        <a:buChar char="»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5pPr>
      <a:lvl6pPr marL="25146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6pPr>
      <a:lvl7pPr marL="29718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7pPr>
      <a:lvl8pPr marL="34290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8pPr>
      <a:lvl9pPr marL="38862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</a:t>
            </a:r>
            <a:endParaRPr lang="zh-CN" sz="1500" dirty="0"/>
          </a:p>
        </p:txBody>
      </p:sp>
      <p:sp>
        <p:nvSpPr>
          <p:cNvPr id="3" name="Text 1"/>
          <p:cNvSpPr/>
          <p:nvPr/>
        </p:nvSpPr>
        <p:spPr>
          <a:xfrm>
            <a:off x="10927080" y="2926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01</a:t>
            </a:r>
            <a:endParaRPr lang="zh-CN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27080" cy="0"/>
          </a:xfrm>
          <a:prstGeom prst="line">
            <a:avLst/>
          </a:prstGeom>
          <a:noFill/>
          <a:ln w="12700">
            <a:solidFill>
              <a:srgbClr val="C9D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078992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3D70D9"/>
          </a:solidFill>
          <a:ln w="12700">
            <a:solidFill>
              <a:srgbClr val="3D70D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中国人的姓名</a:t>
            </a:r>
            <a:endParaRPr lang="zh-CN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altLang="en-US" sz="39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你的名字</a:t>
            </a:r>
            <a:endParaRPr lang="zh-CN" sz="3900" dirty="0"/>
          </a:p>
          <a:p>
            <a:pPr indent="0" marL="0">
              <a:buNone/>
            </a:pPr>
            <a:r>
              <a:rPr lang="zh-CN" altLang="en-US" sz="39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有什么意思？</a:t>
            </a:r>
            <a:endParaRPr lang="zh-CN" sz="3900" dirty="0"/>
          </a:p>
        </p:txBody>
      </p:sp>
      <p:sp>
        <p:nvSpPr>
          <p:cNvPr id="8" name="Text 6"/>
          <p:cNvSpPr/>
          <p:nvPr/>
        </p:nvSpPr>
        <p:spPr>
          <a:xfrm>
            <a:off x="685800" y="331012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先听一听，再问一问。</a:t>
            </a:r>
            <a:endParaRPr lang="zh-CN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4069080"/>
            <a:ext cx="4114800" cy="0"/>
          </a:xfrm>
          <a:prstGeom prst="line">
            <a:avLst/>
          </a:prstGeom>
          <a:noFill/>
          <a:ln w="12700">
            <a:solidFill>
              <a:srgbClr val="E978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3159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3D70D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姓  ·  名  ·  意思</a:t>
            </a:r>
            <a:endParaRPr lang="zh-CN" sz="2300" dirty="0"/>
          </a:p>
        </p:txBody>
      </p:sp>
      <p:sp>
        <p:nvSpPr>
          <p:cNvPr id="11" name="Shape 9"/>
          <p:cNvSpPr/>
          <p:nvPr/>
        </p:nvSpPr>
        <p:spPr>
          <a:xfrm>
            <a:off x="5989320" y="1078992"/>
            <a:ext cx="5230368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12" name="Image 0" descr="/Users/ssyan110/Development/vinh-uni-teaching-assistant/output/boya-intermediate/lesson-01/visual-prototype/assets/textbook-cell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170432"/>
            <a:ext cx="5047488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</a:t>
            </a:r>
            <a:endParaRPr lang="zh-CN" sz="1500" dirty="0"/>
          </a:p>
        </p:txBody>
      </p:sp>
      <p:sp>
        <p:nvSpPr>
          <p:cNvPr id="3" name="Text 1"/>
          <p:cNvSpPr/>
          <p:nvPr/>
        </p:nvSpPr>
        <p:spPr>
          <a:xfrm>
            <a:off x="10927080" y="2926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02</a:t>
            </a:r>
            <a:endParaRPr lang="zh-CN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27080" cy="0"/>
          </a:xfrm>
          <a:prstGeom prst="line">
            <a:avLst/>
          </a:prstGeom>
          <a:noFill/>
          <a:ln w="12700">
            <a:solidFill>
              <a:srgbClr val="C9D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5156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38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学完这课后，我能……</a:t>
            </a:r>
            <a:endParaRPr lang="zh-CN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今天用听和说完成四件事。</a:t>
            </a:r>
            <a:endParaRPr lang="zh-CN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441448"/>
            <a:ext cx="274320" cy="274320"/>
          </a:xfrm>
          <a:prstGeom prst="ellipse">
            <a:avLst/>
          </a:prstGeom>
          <a:solidFill>
            <a:srgbClr val="3D70D9"/>
          </a:solidFill>
          <a:ln w="12700">
            <a:solidFill>
              <a:srgbClr val="3D70D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23865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听懂姓名和姓氏的对话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3044952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154680"/>
            <a:ext cx="274320" cy="274320"/>
          </a:xfrm>
          <a:prstGeom prst="ellipse">
            <a:avLst/>
          </a:prstGeom>
          <a:solidFill>
            <a:srgbClr val="E97862"/>
          </a:solidFill>
          <a:ln w="12700">
            <a:solidFill>
              <a:srgbClr val="E9786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30998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介绍自己的姓名和姓氏</a:t>
            </a:r>
            <a:endParaRPr lang="zh-CN" sz="2000" dirty="0"/>
          </a:p>
        </p:txBody>
      </p:sp>
      <p:sp>
        <p:nvSpPr>
          <p:cNvPr id="13" name="Shape 11"/>
          <p:cNvSpPr/>
          <p:nvPr/>
        </p:nvSpPr>
        <p:spPr>
          <a:xfrm>
            <a:off x="685800" y="3758184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867912"/>
            <a:ext cx="274320" cy="274320"/>
          </a:xfrm>
          <a:prstGeom prst="ellipse">
            <a:avLst/>
          </a:prstGeom>
          <a:solidFill>
            <a:srgbClr val="4B9D9A"/>
          </a:solidFill>
          <a:ln w="12700">
            <a:solidFill>
              <a:srgbClr val="4B9D9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3813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问、答，再问一个问题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685800" y="4471416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581144"/>
            <a:ext cx="274320" cy="274320"/>
          </a:xfrm>
          <a:prstGeom prst="ellipse">
            <a:avLst/>
          </a:prstGeom>
          <a:solidFill>
            <a:srgbClr val="B28B32"/>
          </a:solidFill>
          <a:ln w="12700">
            <a:solidFill>
              <a:srgbClr val="B28B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4526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给别人起一个中文名，说明理由</a:t>
            </a:r>
            <a:endParaRPr lang="zh-CN" sz="2000" dirty="0"/>
          </a:p>
        </p:txBody>
      </p:sp>
      <p:sp>
        <p:nvSpPr>
          <p:cNvPr id="19" name="Shape 17"/>
          <p:cNvSpPr/>
          <p:nvPr/>
        </p:nvSpPr>
        <p:spPr>
          <a:xfrm>
            <a:off x="7315200" y="1115568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20" name="Image 0" descr="/Users/ssyan110/Development/vinh-uni-teaching-assistant/output/boya-intermediate/lesson-01/visual-prototype/assets/textbook-cell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1179576"/>
            <a:ext cx="1746504" cy="1746504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9326880" y="1115568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8E6E0"/>
            </a:solidFill>
            <a:prstDash val="solid"/>
          </a:ln>
        </p:spPr>
      </p:sp>
      <p:pic>
        <p:nvPicPr>
          <p:cNvPr id="22" name="Image 1" descr="/Users/ssyan110/Development/vinh-uni-teaching-assistant/output/boya-intermediate/lesson-01/visual-prototype/assets/textbook-cell-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88" y="1179576"/>
            <a:ext cx="1746504" cy="1746504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315200" y="3401568"/>
            <a:ext cx="38862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F0EE"/>
            </a:solidFill>
            <a:prstDash val="solid"/>
          </a:ln>
        </p:spPr>
      </p:sp>
      <p:pic>
        <p:nvPicPr>
          <p:cNvPr id="24" name="Image 2" descr="/Users/ssyan110/Development/vinh-uni-teaching-assistant/output/boya-intermediate/lesson-01/visual-prototype/assets/textbook-cell-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3465576"/>
            <a:ext cx="3758184" cy="23865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</a:t>
            </a:r>
            <a:endParaRPr lang="zh-CN" sz="1500" dirty="0"/>
          </a:p>
        </p:txBody>
      </p:sp>
      <p:sp>
        <p:nvSpPr>
          <p:cNvPr id="3" name="Text 1"/>
          <p:cNvSpPr/>
          <p:nvPr/>
        </p:nvSpPr>
        <p:spPr>
          <a:xfrm>
            <a:off x="10927080" y="2926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03</a:t>
            </a:r>
            <a:endParaRPr lang="zh-CN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27080" cy="0"/>
          </a:xfrm>
          <a:prstGeom prst="line">
            <a:avLst/>
          </a:prstGeom>
          <a:noFill/>
          <a:ln w="12700">
            <a:solidFill>
              <a:srgbClr val="C9D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170432"/>
            <a:ext cx="91440" cy="4297680"/>
          </a:xfrm>
          <a:prstGeom prst="rect">
            <a:avLst/>
          </a:prstGeom>
          <a:solidFill>
            <a:srgbClr val="3D70D9"/>
          </a:solidFill>
          <a:ln w="12700">
            <a:solidFill>
              <a:srgbClr val="3D70D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353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3D70D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第一部分</a:t>
            </a:r>
            <a:endParaRPr lang="zh-CN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altLang="en-US" sz="42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先认识</a:t>
            </a:r>
            <a:endParaRPr lang="zh-CN" sz="4200" dirty="0"/>
          </a:p>
          <a:p>
            <a:pPr indent="0" marL="0">
              <a:buNone/>
            </a:pPr>
            <a:r>
              <a:rPr lang="zh-CN" altLang="en-US" sz="42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自己的名字</a:t>
            </a:r>
            <a:endParaRPr lang="zh-CN" sz="4200" dirty="0"/>
          </a:p>
        </p:txBody>
      </p:sp>
      <p:sp>
        <p:nvSpPr>
          <p:cNvPr id="8" name="Text 6"/>
          <p:cNvSpPr/>
          <p:nvPr/>
        </p:nvSpPr>
        <p:spPr>
          <a:xfrm>
            <a:off x="1024128" y="3566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300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你的名字有什么意思？</a:t>
            </a:r>
            <a:endParaRPr lang="zh-CN" sz="2300" dirty="0"/>
          </a:p>
        </p:txBody>
      </p:sp>
      <p:sp>
        <p:nvSpPr>
          <p:cNvPr id="9" name="Shape 7"/>
          <p:cNvSpPr/>
          <p:nvPr/>
        </p:nvSpPr>
        <p:spPr>
          <a:xfrm>
            <a:off x="1024128" y="4681728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E97862"/>
          </a:solidFill>
          <a:ln w="12700">
            <a:solidFill>
              <a:srgbClr val="E9786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700016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先和同伴说一说</a:t>
            </a:r>
            <a:endParaRPr lang="zh-CN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1234440"/>
            <a:ext cx="48920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12" name="Image 0" descr="/Users/ssyan110/Development/vinh-uni-teaching-assistant/output/boya-intermediate/lesson-01/visual-prototype/assets/textbook-cell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325880"/>
            <a:ext cx="470916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</a:t>
            </a:r>
            <a:endParaRPr lang="zh-CN" sz="1500" dirty="0"/>
          </a:p>
        </p:txBody>
      </p:sp>
      <p:sp>
        <p:nvSpPr>
          <p:cNvPr id="3" name="Text 1"/>
          <p:cNvSpPr/>
          <p:nvPr/>
        </p:nvSpPr>
        <p:spPr>
          <a:xfrm>
            <a:off x="10927080" y="2926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04</a:t>
            </a:r>
            <a:endParaRPr lang="zh-CN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27080" cy="0"/>
          </a:xfrm>
          <a:prstGeom prst="line">
            <a:avLst/>
          </a:prstGeom>
          <a:noFill/>
          <a:ln w="12700">
            <a:solidFill>
              <a:srgbClr val="C9D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33856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43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先听大意</a:t>
            </a:r>
            <a:endParaRPr lang="zh-CN" sz="43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第一次听：回答三个问题。</a:t>
            </a:r>
            <a:endParaRPr lang="zh-CN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2578608"/>
            <a:ext cx="1783080" cy="512064"/>
          </a:xfrm>
          <a:prstGeom prst="roundRect">
            <a:avLst>
              <a:gd name="adj" fmla="val 16071"/>
            </a:avLst>
          </a:prstGeom>
          <a:solidFill>
            <a:srgbClr val="E97862"/>
          </a:solidFill>
          <a:ln w="12700">
            <a:solidFill>
              <a:srgbClr val="E9786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6334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&gt;  音频 1-2</a:t>
            </a:r>
            <a:endParaRPr lang="zh-CN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342900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E6EEF9"/>
          </a:solidFill>
          <a:ln w="12700">
            <a:solidFill>
              <a:srgbClr val="E6EEF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68503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听完以后，和同伴说一说：</a:t>
            </a:r>
            <a:endParaRPr lang="zh-CN" sz="2200" dirty="0"/>
          </a:p>
          <a:p>
            <a:pPr indent="0" marL="0">
              <a:buNone/>
            </a:pPr>
            <a:r>
              <a:rPr lang="zh-CN" altLang="en-US" sz="22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你听到了什么？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704088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3D70D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先听，再说。</a:t>
            </a:r>
            <a:endParaRPr lang="zh-CN" sz="1900" dirty="0"/>
          </a:p>
        </p:txBody>
      </p:sp>
      <p:sp>
        <p:nvSpPr>
          <p:cNvPr id="12" name="Shape 10"/>
          <p:cNvSpPr/>
          <p:nvPr/>
        </p:nvSpPr>
        <p:spPr>
          <a:xfrm>
            <a:off x="6400800" y="1097280"/>
            <a:ext cx="50292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F8E6E0"/>
            </a:solidFill>
            <a:prstDash val="solid"/>
          </a:ln>
        </p:spPr>
      </p:sp>
      <p:pic>
        <p:nvPicPr>
          <p:cNvPr id="13" name="Image 0" descr="/Users/ssyan110/Development/vinh-uni-teaching-assistant/output/boya-intermediate/lesson-01/visual-prototype/assets/textbook-cell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18872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</a:t>
            </a:r>
            <a:endParaRPr lang="zh-CN" sz="1500" dirty="0"/>
          </a:p>
        </p:txBody>
      </p:sp>
      <p:sp>
        <p:nvSpPr>
          <p:cNvPr id="3" name="Text 1"/>
          <p:cNvSpPr/>
          <p:nvPr/>
        </p:nvSpPr>
        <p:spPr>
          <a:xfrm>
            <a:off x="10927080" y="2926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05</a:t>
            </a:r>
            <a:endParaRPr lang="zh-CN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27080" cy="0"/>
          </a:xfrm>
          <a:prstGeom prst="line">
            <a:avLst/>
          </a:prstGeom>
          <a:noFill/>
          <a:ln w="12700">
            <a:solidFill>
              <a:srgbClr val="C9D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05156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4B9D9A"/>
          </a:solidFill>
          <a:ln w="12700">
            <a:solidFill>
              <a:srgbClr val="4B9D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6984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一起完成任务</a:t>
            </a:r>
            <a:endParaRPr lang="zh-CN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91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45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起名儿公司</a:t>
            </a:r>
            <a:endParaRPr lang="zh-CN" sz="45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先问清楚，再提出一个名字。</a:t>
            </a:r>
            <a:endParaRPr lang="zh-CN" sz="2000" dirty="0"/>
          </a:p>
        </p:txBody>
      </p:sp>
      <p:sp>
        <p:nvSpPr>
          <p:cNvPr id="9" name="Shape 7"/>
          <p:cNvSpPr/>
          <p:nvPr/>
        </p:nvSpPr>
        <p:spPr>
          <a:xfrm>
            <a:off x="749808" y="3310128"/>
            <a:ext cx="384048" cy="384048"/>
          </a:xfrm>
          <a:prstGeom prst="ellipse">
            <a:avLst/>
          </a:prstGeom>
          <a:solidFill>
            <a:srgbClr val="3D70D9"/>
          </a:solidFill>
          <a:ln w="12700">
            <a:solidFill>
              <a:srgbClr val="3D70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3284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1316736" y="33009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问要求</a:t>
            </a:r>
            <a:endParaRPr lang="zh-CN" sz="2400" dirty="0"/>
          </a:p>
        </p:txBody>
      </p:sp>
      <p:sp>
        <p:nvSpPr>
          <p:cNvPr id="12" name="Shape 10"/>
          <p:cNvSpPr/>
          <p:nvPr/>
        </p:nvSpPr>
        <p:spPr>
          <a:xfrm>
            <a:off x="749808" y="4041648"/>
            <a:ext cx="384048" cy="384048"/>
          </a:xfrm>
          <a:prstGeom prst="ellipse">
            <a:avLst/>
          </a:prstGeom>
          <a:solidFill>
            <a:srgbClr val="E97862"/>
          </a:solidFill>
          <a:ln w="12700">
            <a:solidFill>
              <a:srgbClr val="E9786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599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</a:t>
            </a:r>
            <a:endParaRPr lang="zh-CN" sz="1400" dirty="0"/>
          </a:p>
        </p:txBody>
      </p:sp>
      <p:sp>
        <p:nvSpPr>
          <p:cNvPr id="14" name="Text 12"/>
          <p:cNvSpPr/>
          <p:nvPr/>
        </p:nvSpPr>
        <p:spPr>
          <a:xfrm>
            <a:off x="1316736" y="40325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想名字</a:t>
            </a:r>
            <a:endParaRPr lang="zh-CN" sz="2400" dirty="0"/>
          </a:p>
        </p:txBody>
      </p:sp>
      <p:sp>
        <p:nvSpPr>
          <p:cNvPr id="15" name="Shape 13"/>
          <p:cNvSpPr/>
          <p:nvPr/>
        </p:nvSpPr>
        <p:spPr>
          <a:xfrm>
            <a:off x="749808" y="4773168"/>
            <a:ext cx="384048" cy="384048"/>
          </a:xfrm>
          <a:prstGeom prst="ellipse">
            <a:avLst/>
          </a:prstGeom>
          <a:solidFill>
            <a:srgbClr val="4B9D9A"/>
          </a:solidFill>
          <a:ln w="12700">
            <a:solidFill>
              <a:srgbClr val="4B9D9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7914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</a:t>
            </a:r>
            <a:endParaRPr lang="zh-CN" sz="1400" dirty="0"/>
          </a:p>
        </p:txBody>
      </p:sp>
      <p:sp>
        <p:nvSpPr>
          <p:cNvPr id="17" name="Text 15"/>
          <p:cNvSpPr/>
          <p:nvPr/>
        </p:nvSpPr>
        <p:spPr>
          <a:xfrm>
            <a:off x="1316736" y="47640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说理由</a:t>
            </a:r>
            <a:endParaRPr lang="zh-CN" sz="2400" dirty="0"/>
          </a:p>
        </p:txBody>
      </p:sp>
      <p:sp>
        <p:nvSpPr>
          <p:cNvPr id="18" name="Text 16"/>
          <p:cNvSpPr/>
          <p:nvPr/>
        </p:nvSpPr>
        <p:spPr>
          <a:xfrm>
            <a:off x="749808" y="55961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E9786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客户会问：为什么？</a:t>
            </a:r>
            <a:endParaRPr lang="zh-CN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1097280"/>
            <a:ext cx="50292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2F0EE"/>
            </a:solidFill>
            <a:prstDash val="solid"/>
          </a:ln>
        </p:spPr>
      </p:sp>
      <p:pic>
        <p:nvPicPr>
          <p:cNvPr id="20" name="Image 0" descr="/Users/ssyan110/Development/vinh-uni-teaching-assistant/output/boya-intermediate/lesson-01/visual-prototype/assets/textbook-cell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18872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</a:t>
            </a:r>
            <a:endParaRPr lang="zh-CN" sz="1500" dirty="0"/>
          </a:p>
        </p:txBody>
      </p:sp>
      <p:sp>
        <p:nvSpPr>
          <p:cNvPr id="3" name="Text 1"/>
          <p:cNvSpPr/>
          <p:nvPr/>
        </p:nvSpPr>
        <p:spPr>
          <a:xfrm>
            <a:off x="10927080" y="2926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06</a:t>
            </a:r>
            <a:endParaRPr lang="zh-CN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27080" cy="0"/>
          </a:xfrm>
          <a:prstGeom prst="line">
            <a:avLst/>
          </a:prstGeom>
          <a:noFill/>
          <a:ln w="12700">
            <a:solidFill>
              <a:srgbClr val="C9D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78992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37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交换资料，讲给同伴听</a:t>
            </a:r>
            <a:endParaRPr lang="zh-CN" sz="37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每个人讲一个姓氏，再回答一个问题。</a:t>
            </a:r>
            <a:endParaRPr lang="zh-CN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8" name="Image 0" descr="/Users/ssyan110/Development/vinh-uni-teaching-assistant/output/boya-intermediate/lesson-01/visual-prototype/assets/textbook-cell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770632"/>
            <a:ext cx="2962656" cy="29626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41648" y="269748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8E6E0"/>
            </a:solidFill>
            <a:prstDash val="solid"/>
          </a:ln>
        </p:spPr>
      </p:sp>
      <p:pic>
        <p:nvPicPr>
          <p:cNvPr id="10" name="Image 1" descr="/Users/ssyan110/Development/vinh-uni-teaching-assistant/output/boya-intermediate/lesson-01/visual-prototype/assets/textbook-cell-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770632"/>
            <a:ext cx="2962656" cy="29626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543800" y="4251960"/>
            <a:ext cx="594360" cy="0"/>
          </a:xfrm>
          <a:prstGeom prst="line">
            <a:avLst/>
          </a:prstGeom>
          <a:noFill/>
          <a:ln w="12700">
            <a:solidFill>
              <a:srgbClr val="4B9D9A"/>
            </a:solidFill>
            <a:prstDash val="solid"/>
            <a:headEnd type="none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8394192" y="2880360"/>
            <a:ext cx="384048" cy="384048"/>
          </a:xfrm>
          <a:prstGeom prst="ellipse">
            <a:avLst/>
          </a:prstGeom>
          <a:solidFill>
            <a:srgbClr val="3D70D9"/>
          </a:solidFill>
          <a:ln w="12700">
            <a:solidFill>
              <a:srgbClr val="3D70D9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94192" y="28986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</a:t>
            </a:r>
            <a:endParaRPr lang="zh-CN" sz="1400" dirty="0"/>
          </a:p>
        </p:txBody>
      </p:sp>
      <p:sp>
        <p:nvSpPr>
          <p:cNvPr id="14" name="Text 10"/>
          <p:cNvSpPr/>
          <p:nvPr/>
        </p:nvSpPr>
        <p:spPr>
          <a:xfrm>
            <a:off x="8961120" y="28712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换一张卡</a:t>
            </a:r>
            <a:endParaRPr lang="zh-CN" sz="2400" dirty="0"/>
          </a:p>
        </p:txBody>
      </p:sp>
      <p:sp>
        <p:nvSpPr>
          <p:cNvPr id="15" name="Shape 11"/>
          <p:cNvSpPr/>
          <p:nvPr/>
        </p:nvSpPr>
        <p:spPr>
          <a:xfrm>
            <a:off x="8394192" y="3703320"/>
            <a:ext cx="384048" cy="384048"/>
          </a:xfrm>
          <a:prstGeom prst="ellipse">
            <a:avLst/>
          </a:prstGeom>
          <a:solidFill>
            <a:srgbClr val="E97862"/>
          </a:solidFill>
          <a:ln w="12700">
            <a:solidFill>
              <a:srgbClr val="E97862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394192" y="37216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</a:t>
            </a:r>
            <a:endParaRPr lang="zh-CN" sz="1400" dirty="0"/>
          </a:p>
        </p:txBody>
      </p:sp>
      <p:sp>
        <p:nvSpPr>
          <p:cNvPr id="17" name="Text 13"/>
          <p:cNvSpPr/>
          <p:nvPr/>
        </p:nvSpPr>
        <p:spPr>
          <a:xfrm>
            <a:off x="8961120" y="36941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讲一个姓</a:t>
            </a:r>
            <a:endParaRPr lang="zh-CN" sz="2400" dirty="0"/>
          </a:p>
        </p:txBody>
      </p:sp>
      <p:sp>
        <p:nvSpPr>
          <p:cNvPr id="18" name="Shape 14"/>
          <p:cNvSpPr/>
          <p:nvPr/>
        </p:nvSpPr>
        <p:spPr>
          <a:xfrm>
            <a:off x="8394192" y="4526280"/>
            <a:ext cx="384048" cy="384048"/>
          </a:xfrm>
          <a:prstGeom prst="ellipse">
            <a:avLst/>
          </a:prstGeom>
          <a:solidFill>
            <a:srgbClr val="4B9D9A"/>
          </a:solidFill>
          <a:ln w="12700">
            <a:solidFill>
              <a:srgbClr val="4B9D9A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394192" y="45445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</a:t>
            </a:r>
            <a:endParaRPr lang="zh-CN" sz="1400" dirty="0"/>
          </a:p>
        </p:txBody>
      </p:sp>
      <p:sp>
        <p:nvSpPr>
          <p:cNvPr id="20" name="Text 16"/>
          <p:cNvSpPr/>
          <p:nvPr/>
        </p:nvSpPr>
        <p:spPr>
          <a:xfrm>
            <a:off x="8961120" y="45171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033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回答问题</a:t>
            </a:r>
            <a:endParaRPr lang="zh-CN" sz="2400" dirty="0"/>
          </a:p>
        </p:txBody>
      </p:sp>
      <p:sp>
        <p:nvSpPr>
          <p:cNvPr id="21" name="Text 17"/>
          <p:cNvSpPr/>
          <p:nvPr/>
        </p:nvSpPr>
        <p:spPr>
          <a:xfrm>
            <a:off x="8412480" y="546811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5F6E82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听清楚，再换一位同伴。</a:t>
            </a:r>
            <a:endParaRPr lang="zh-CN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KaiTi"/>
        <a:cs typeface="Times New Roman"/>
        <a:font script="Jpan" typeface="Times New Roman"/>
        <a:font script="Hang" typeface="Times New Roman"/>
        <a:font script="Hans" typeface="KaiTi"/>
        <a:font script="Hant" typeface="KaiT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  <a:font script="Armn" typeface="Times New Roman"/>
        <a:font script="Bugi" typeface="Times New Roman"/>
        <a:font script="Bopo" typeface="KaiTi"/>
        <a:font script="Java" typeface="Times New Roman"/>
        <a:font script="Lisu" typeface="Times New Roman"/>
        <a:font script="Mymr" typeface="Times New Roman"/>
        <a:font script="Nkoo" typeface="Times New Roman"/>
        <a:font script="Olck" typeface="Times New Roman"/>
        <a:font script="Osma" typeface="Times New Roman"/>
        <a:font script="Phag" typeface="Times New Roman"/>
        <a:font script="Syrn" typeface="Times New Roman"/>
        <a:font script="Syrj" typeface="Times New Roman"/>
        <a:font script="Syre" typeface="Times New Roman"/>
        <a:font script="Sora" typeface="Times New Roman"/>
        <a:font script="Tale" typeface="Times New Roman"/>
        <a:font script="Talu" typeface="Times New Roman"/>
        <a:font script="Tfng" typeface="Times New Roman"/>
      </a:majorFont>
      <a:minorFont>
        <a:latin typeface="Times New Roman"/>
        <a:ea typeface="KaiTi"/>
        <a:cs typeface="Times New Roman"/>
        <a:font script="Jpan" typeface="Times New Roman"/>
        <a:font script="Hang" typeface="Times New Roman"/>
        <a:font script="Hans" typeface="KaiTi"/>
        <a:font script="Hant" typeface="KaiT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  <a:font script="Armn" typeface="Times New Roman"/>
        <a:font script="Bugi" typeface="Times New Roman"/>
        <a:font script="Bopo" typeface="KaiTi"/>
        <a:font script="Java" typeface="Times New Roman"/>
        <a:font script="Lisu" typeface="Times New Roman"/>
        <a:font script="Mymr" typeface="Times New Roman"/>
        <a:font script="Nkoo" typeface="Times New Roman"/>
        <a:font script="Olck" typeface="Times New Roman"/>
        <a:font script="Osma" typeface="Times New Roman"/>
        <a:font script="Phag" typeface="Times New Roman"/>
        <a:font script="Syrn" typeface="Times New Roman"/>
        <a:font script="Syrj" typeface="Times New Roman"/>
        <a:font script="Syre" typeface="Times New Roman"/>
        <a:font script="Sora" typeface="Times New Roman"/>
        <a:font script="Tale" typeface="Times New Roman"/>
        <a:font script="Talu" typeface="Times New Roman"/>
        <a:font script="Tfng"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Times New Roman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榮市大學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第一課｜中國人的姓名</dc:title>
  <dc:subject>第一課中國人的姓名</dc:subject>
  <dc:creator>榮市大學華語聽說課程</dc:creator>
  <cp:lastModifiedBy>榮市大學華語聽說課程</cp:lastModifiedBy>
  <cp:revision>1</cp:revision>
  <dcterms:created xsi:type="dcterms:W3CDTF">2026-08-20T08:36:33Z</dcterms:created>
  <dcterms:modified xsi:type="dcterms:W3CDTF">2026-08-20T08:36:33Z</dcterms:modified>
</cp:coreProperties>
</file>