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27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32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29" r:id="rId64"/>
    <p:sldId id="316" r:id="rId65"/>
    <p:sldId id="317" r:id="rId66"/>
    <p:sldId id="331" r:id="rId67"/>
    <p:sldId id="330" r:id="rId68"/>
    <p:sldId id="326" r:id="rId69"/>
    <p:sldId id="318" r:id="rId70"/>
    <p:sldId id="320" r:id="rId71"/>
    <p:sldId id="321" r:id="rId72"/>
    <p:sldId id="322" r:id="rId73"/>
    <p:sldId id="323" r:id="rId74"/>
    <p:sldId id="324" r:id="rId75"/>
    <p:sldId id="325" r:id="rId7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24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43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线上预习封面。学生先看本课主题。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线上课程路线；不显示教师时间或内部制作标签。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快速朗读四项学习结果；学生知道今天要用听、问、说完成任务。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进入词语部分。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上（菜）；来源：canonical-source.json#sections.vocabulary。词类为空时保留“—”，扩展内容按共用契约留空，待本课精修时由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司机；来源：canonical-source.json#sections.vocabulary。词类为空时保留“—”，扩展内容按共用契约留空，待本课精修时由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快餐店；来源：canonical-source.json#sections.vocabulary。词类为空时保留“—”，扩展内容按共用契约留空，待本课精修时由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点（菜）；来源：canonical-source.json#sections.vocabulary。词类为空时保留“—”，扩展内容按共用契约留空，待本课精修时由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阅读；来源：canonical-source.json#sections.vocabulary。词类为空时保留“—”，扩展内容按共用契约留空，待本课精修时由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完成五个词语的口语练习：说出词语并各造一句话。来源：canonical-source.json#sections.vocabulary。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语伴；来源：canonical-source.json#sections.vocabulary。词类为空时保留“—”，扩展内容按共用契约留空，待本课精修时由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讲座；来源：canonical-source.json#sections.vocabulary。词类为空时保留“—”，扩展内容按共用契约留空，待本课精修时由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国际；来源：canonical-source.json#sections.vocabulary。词类为空时保留“—”，扩展内容按共用契约留空，待本课精修时由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发现；来源：canonical-source.json#sections.vocabulary。词类为空时保留“—”，扩展内容按共用契约留空，待本课精修时由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习惯；来源：canonical-source.json#sections.vocabulary。词类为空时保留“—”，扩展内容按共用契约留空，待本课精修时由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完成五个词语的口语练习：说出词语并各造一句话。来源：canonical-source.json#sections.vocabulary。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新闻；来源：canonical-source.json#sections.vocabulary。词类为空时保留“—”，扩展内容按共用契约留空，待本课精修时由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字幕；来源：canonical-source.json#sections.vocabulary。词类为空时保留“—”，扩展内容按共用契约留空，待本课精修时由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加倍；来源：canonical-source.json#sections.vocabulary。词类为空时保留“—”，扩展内容按共用契约留空，待本课精修时由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解释；来源：canonical-source.json#sections.vocabulary。词类为空时保留“—”，扩展内容按共用契约留空，待本课精修时由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词语；来源：canonical-source.json#sections.vocabulary。词类为空时保留“—”，扩展内容按共用契约留空，待本课精修时由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完成五个词语的口语练习：说出词语并各造一句话。来源：canonical-source.json#sections.vocabulary。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效率；来源：canonical-source.json#sections.vocabulary。词类为空时保留“—”，扩展内容按共用契约留空，待本课精修时由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印象；来源：canonical-source.json#sections.vocabulary。词类为空时保留“—”，扩展内容按共用契约留空，待本课精修时由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吃惊；来源：canonical-source.json#sections.vocabulary。词类为空时保留“—”，扩展内容按共用契约留空，待本课精修时由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聊；来源：canonical-source.json#sections.vocabulary。词类为空时保留“—”，扩展内容按共用契约留空，待本课精修时由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通常；来源：canonical-source.json#sections.vocabulary。词类为空时保留“—”，扩展内容按共用契约留空，待本课精修时由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完成五个词语的口语练习：说出词语并各造一句话。来源：canonical-source.json#sections.vocabulary。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听力；来源：canonical-source.json#sections.vocabulary。词类为空时保留“—”，扩展内容按共用契约留空，待本课精修时由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异同；来源：canonical-source.json#sections.vocabulary。词类为空时保留“—”，扩展内容按共用契约留空，待本课精修时由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量；来源：canonical-source.json#sections.vocabulary。词类为空时保留“—”，扩展内容按共用契约留空，待本课精修时由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53EDA-1DA5-BCD2-7E9C-CB5C6DBD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DB125-659A-D4BB-B2A6-30BF83B24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40A90-5084-B217-224E-E90CE0D9D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量；来源：canonical-source.json#sections.vocabulary。词类为空时保留“—”，扩展内容按共用契约留空，待本课精修时由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7356E-3DA8-FC69-D3D0-25B3C29E6C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355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词语 饿；来源：canonical-source.json#sections.vocabulary。词类为空时保留“—”，扩展内容按共用契约留空，待本课精修时由 Adam 明确提供。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进入听力和阅读练习部分。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进入短文（一）部分。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线上阅读和听取 short_text_1；学生在教材阅读／听取后写摘要并标记卡点，投影片不复制短文全文。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短文一记录练习；学生把教材重点整理成可说的词语和短句。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进入句式部分。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年级；学生先读两条短例句，再准备三句话，课堂用于任务。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专业；学生先读两条短例句，再准备三句话，课堂用于任务。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这／那是……的事了；学生先读两条短例句，再准备三句话，课堂用于任务。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发现；学生先读两条短例句，再准备三句话，课堂用于任务。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到处；学生先读两条短例句，再准备三句话，课堂用于任务。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又（1）；学生先读两条短例句，再准备三句话，课堂用于任务。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69EB9-5059-C7DA-1410-4FF5F1454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0551B-4CF3-8AF7-85E4-1EF2E3FA1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83E46-36E4-5627-CDBB-610D93D3C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又（1）；学生先读两条短例句，再准备三句话，课堂用于任务。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FC015-C193-6C5E-2483-007DA402B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926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进入短文（二）部分。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线上阅读和听取 short_text_2；学生在教材阅读／听取后写摘要并标记卡点，投影片不复制短文全文。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短文二记录练习；学生把教材重点整理成可说的词语和短句。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进入句式部分。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通常；学生先读两条短例句，再准备三句话，课堂用于任务。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既……又……；学生先读两条短例句，再准备三句话，课堂用于任务。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不过；学生先读两条短例句，再准备三句话，课堂用于任务。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决定；学生先读两条短例句，再准备三句话，课堂用于任务。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加倍；学生先读两条短例句，再准备三句话，课堂用于任务。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进入短文（三）部分。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线上阅读和听取 short_text_3；学生在教材阅读／听取后写摘要并标记卡点，投影片不复制短文全文。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短文三记录练习；学生把教材重点整理成可说的词语和短句。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进入句式部分。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左右；学生先读两条短例句，再准备三句话，课堂用于任务。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只有；学生先读两条短例句，再准备三句话，课堂用于任务。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另外；学生先读两条短例句，再准备三句话，课堂用于任务。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常用表达 动词+上</a:t>
            </a:r>
            <a:r>
              <a:rPr lang="en-US" dirty="0"/>
              <a:t>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AA19D-1339-AFFA-1A92-71CC07DA5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00435-886D-620B-8E00-50A97B266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36AEE-1710-9359-16AB-9C7176BC4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常用表达 动词+上</a:t>
            </a:r>
            <a:r>
              <a:rPr lang="en-US" dirty="0"/>
              <a:t>；学生先读两条短例句，再准备三句话，课堂用于任务。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F988D-F427-3AF7-C320-7454305228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9769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常用表达 形容词+一些</a:t>
            </a:r>
            <a:r>
              <a:rPr lang="en-US" dirty="0"/>
              <a:t>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记得住／看得清楚；学生先读两条短例句，再准备三句话，课堂用于任务。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6B71C-D9F1-4E54-4A46-E339B5DC1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E2772-466C-B4BF-BFE5-6C84D0F8E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62DFE-A3F2-88C0-82B0-7D845C1BA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记得住／看得清楚；学生先读两条短例句，再准备三句话，课堂用于任务。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90F1F-3CC8-6D42-0C62-462EA7C4F0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0557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3BBC-E006-BC2C-0D93-68A1EB82B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CDE1E-37E1-F922-A018-41483461B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C9459-047A-4C95-5A6C-4FD1E1A4C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常用表达 记得住／看得清楚；学生先读两条短例句，再准备三句话，课堂用于任务。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7C05E-34A6-6BDE-F7EE-15D194A3AA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7342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常用表达 动词+两／几+量词</a:t>
            </a:r>
            <a:r>
              <a:rPr lang="en-US" dirty="0"/>
              <a:t>；学生先读两条短例句，再准备三句话，课堂用于任务。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进入综合练习部分。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开放信息表；学生使用教材短文和自己的记录填写，不把开放栏改写成唯一答案。comprehensive_1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学生按三个主题准备自己的信息；不要求把完整答案写在投影片上。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学生写下不太懂的词语、句式、短文或听力，带到实体课。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学生逐项检查预习证据；不要求计时或记录学习分钟数。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线上预习完成。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46520" y="987552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713232" y="987552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3C8F86"/>
          </a:solidFill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86384" y="1014984"/>
            <a:ext cx="104241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在线课</a:t>
            </a:r>
            <a:endParaRPr lang="zh-CN" sz="2000" dirty="0"/>
          </a:p>
        </p:txBody>
      </p:sp>
      <p:sp>
        <p:nvSpPr>
          <p:cNvPr id="9" name="Text 6"/>
          <p:cNvSpPr/>
          <p:nvPr/>
        </p:nvSpPr>
        <p:spPr>
          <a:xfrm>
            <a:off x="713232" y="1572768"/>
            <a:ext cx="54864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4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在中国学汉语</a:t>
            </a:r>
            <a:endParaRPr lang="zh-CN" sz="4400" dirty="0"/>
          </a:p>
        </p:txBody>
      </p:sp>
      <p:sp>
        <p:nvSpPr>
          <p:cNvPr id="10" name="Text 7"/>
          <p:cNvSpPr/>
          <p:nvPr/>
        </p:nvSpPr>
        <p:spPr>
          <a:xfrm>
            <a:off x="749808" y="2468880"/>
            <a:ext cx="5303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endParaRPr lang="zh-C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697842-EA12-0923-E066-20D9173A1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649" y="1087120"/>
            <a:ext cx="4904543" cy="41046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学习流程图</a:t>
            </a:r>
            <a:endParaRPr lang="zh-CN" sz="3400" dirty="0"/>
          </a:p>
        </p:txBody>
      </p:sp>
      <p:pic>
        <p:nvPicPr>
          <p:cNvPr id="6" name="Image 0" descr="/Users/ssyan110/Development/vinh-uni-teaching-assistant/lessons/boya-quasi-intermediate-i/lesson-01/10-design/image-assets-draft/learning-route-user-supplie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44752"/>
            <a:ext cx="10881360" cy="50109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学完这课后，我能……</a:t>
            </a:r>
            <a:endParaRPr lang="zh-CN" sz="3600" dirty="0">
              <a:latin typeface="Times New Roman"/>
              <a:ea typeface="KaiTi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3232" y="15819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听懂 · 介绍 · 讨论 · 准备</a:t>
            </a:r>
            <a:endParaRPr lang="zh-CN" sz="2300" dirty="0">
              <a:latin typeface="Times New Roman"/>
              <a:ea typeface="KaiTi"/>
              <a:cs typeface="Times New Roman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96112" y="2286000"/>
            <a:ext cx="347472" cy="347472"/>
          </a:xfrm>
          <a:prstGeom prst="ellipse">
            <a:avLst/>
          </a:prstGeom>
          <a:solidFill>
            <a:srgbClr val="3C8F8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23591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FFFDF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>
              <a:latin typeface="Times New Roman"/>
              <a:ea typeface="KaiTi"/>
              <a:cs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7320" y="2240280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200" dirty="0" err="1">
                <a:latin typeface="Times New Roman"/>
                <a:ea typeface="KaiTi"/>
                <a:cs typeface="Times New Roman"/>
              </a:rPr>
              <a:t>听懂关于家庭、工作和爱好的主要信息</a:t>
            </a:r>
            <a:r>
              <a:rPr sz="2200" dirty="0">
                <a:latin typeface="Times New Roman"/>
                <a:ea typeface="KaiTi"/>
                <a:cs typeface="Times New Roman"/>
              </a:rPr>
              <a:t>。</a:t>
            </a:r>
          </a:p>
        </p:txBody>
      </p:sp>
      <p:sp>
        <p:nvSpPr>
          <p:cNvPr id="10" name="Shape 8"/>
          <p:cNvSpPr/>
          <p:nvPr/>
        </p:nvSpPr>
        <p:spPr>
          <a:xfrm>
            <a:off x="896112" y="2999232"/>
            <a:ext cx="347472" cy="347472"/>
          </a:xfrm>
          <a:prstGeom prst="ellipse">
            <a:avLst/>
          </a:prstGeom>
          <a:solidFill>
            <a:srgbClr val="EA927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96112" y="30723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FFFDF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>
              <a:latin typeface="Times New Roman"/>
              <a:ea typeface="KaiTi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17320" y="29535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200" dirty="0" err="1">
                <a:latin typeface="Times New Roman"/>
                <a:ea typeface="KaiTi"/>
                <a:cs typeface="Times New Roman"/>
              </a:rPr>
              <a:t>用本课词语介绍自己的</a:t>
            </a:r>
            <a:r>
              <a:rPr lang="en-VN" sz="2200" dirty="0">
                <a:latin typeface="Times New Roman"/>
                <a:ea typeface="KaiTi"/>
                <a:cs typeface="Times New Roman"/>
              </a:rPr>
              <a:t>对北京的印象和</a:t>
            </a:r>
            <a:r>
              <a:rPr sz="2200" dirty="0" err="1">
                <a:latin typeface="Times New Roman"/>
                <a:ea typeface="KaiTi"/>
                <a:cs typeface="Times New Roman"/>
              </a:rPr>
              <a:t>学习</a:t>
            </a:r>
            <a:r>
              <a:rPr lang="en-VN" sz="2200" dirty="0">
                <a:latin typeface="Times New Roman"/>
                <a:ea typeface="KaiTi"/>
                <a:cs typeface="Times New Roman"/>
              </a:rPr>
              <a:t>经历</a:t>
            </a:r>
            <a:r>
              <a:rPr lang="zh-CN" altLang="en-US" sz="2200" dirty="0">
                <a:latin typeface="Times New Roman"/>
                <a:ea typeface="Times New Roman"/>
                <a:cs typeface="Times New Roman"/>
              </a:rPr>
              <a:t>。</a:t>
            </a:r>
            <a:endParaRPr sz="2200" dirty="0"/>
          </a:p>
        </p:txBody>
      </p:sp>
      <p:sp>
        <p:nvSpPr>
          <p:cNvPr id="13" name="Shape 11"/>
          <p:cNvSpPr/>
          <p:nvPr/>
        </p:nvSpPr>
        <p:spPr>
          <a:xfrm>
            <a:off x="896112" y="3712464"/>
            <a:ext cx="347472" cy="347472"/>
          </a:xfrm>
          <a:prstGeom prst="ellipse">
            <a:avLst/>
          </a:prstGeom>
          <a:solidFill>
            <a:srgbClr val="8C78D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6112" y="37856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FFFDF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>
              <a:latin typeface="Times New Roman"/>
              <a:ea typeface="KaiTi"/>
              <a:cs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17320" y="3666744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VN" sz="2200" dirty="0">
                <a:latin typeface="Times New Roman"/>
                <a:ea typeface="KaiTi"/>
                <a:cs typeface="Times New Roman"/>
              </a:rPr>
              <a:t>讨论在中国学习汉语和本国学习汉语的异同</a:t>
            </a:r>
            <a:r>
              <a:rPr lang="zh-CN" altLang="en-US" sz="2200" dirty="0">
                <a:latin typeface="Times New Roman"/>
                <a:ea typeface="Times New Roman"/>
                <a:cs typeface="Times New Roman"/>
              </a:rPr>
              <a:t>。</a:t>
            </a:r>
            <a:endParaRPr sz="2200" dirty="0"/>
          </a:p>
        </p:txBody>
      </p:sp>
      <p:sp>
        <p:nvSpPr>
          <p:cNvPr id="17" name="Text 15"/>
          <p:cNvSpPr/>
          <p:nvPr/>
        </p:nvSpPr>
        <p:spPr>
          <a:xfrm>
            <a:off x="896112" y="449884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endParaRPr lang="en-US" sz="2000" dirty="0">
              <a:latin typeface="Times New Roman"/>
              <a:ea typeface="KaiTi"/>
              <a:cs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17320" y="4379976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65836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8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词语</a:t>
            </a:r>
            <a:endParaRPr lang="zh-CN" sz="48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58521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看图、读音、词类、意思、用法和例句。</a:t>
            </a:r>
            <a:endParaRPr lang="zh-CN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3703320"/>
            <a:ext cx="5212080" cy="0"/>
          </a:xfrm>
          <a:prstGeom prst="line">
            <a:avLst/>
          </a:prstGeom>
          <a:noFill/>
          <a:ln w="12700">
            <a:solidFill>
              <a:srgbClr val="EA92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315200" y="132588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Users/ssyan110/Development/vinh-uni-teaching-assistant/lessons/boya-quasi-intermediate-i/lesson-01/10-design/image-assets-draft/symbolic-vocabul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380744"/>
            <a:ext cx="3776472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05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上（菜）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上（菜）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shàng (cài)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词类：动词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</a:t>
            </a:r>
            <a:r>
              <a:rPr lang="vi-VN" altLang="zh-CN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lên</a:t>
            </a: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 món ăn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使用场合：说明动作、经历或计划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8F0E9"/>
          </a:solidFill>
          <a:ln w="12700">
            <a:solidFill>
              <a:srgbClr val="D8F0E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例句1：服务员准备上菜了。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例句2：我们等了三十分钟，菜还没上。</a:t>
            </a:r>
            <a:endParaRPr lang="zh-CN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06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司机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37439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司机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sījī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词类：名词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意思：tài xế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使用场合：介绍人、事物或生活信息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59943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r>
              <a:rPr sz="23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扩展</a:t>
            </a:r>
            <a:r>
              <a:rPr lang="zh-CN" altLang="en-US" sz="2300" dirty="0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：</a:t>
            </a:r>
            <a:r>
              <a:rPr sz="23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：</a:t>
            </a:r>
            <a:endParaRPr lang="en-US" sz="2300" dirty="0">
              <a:solidFill>
                <a:schemeClr val="accent2"/>
              </a:solidFill>
            </a:endParaRPr>
          </a:p>
          <a:p>
            <a:r>
              <a:rPr sz="23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中国人常常称呼司机“师傅</a:t>
            </a:r>
            <a:r>
              <a:rPr sz="23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”</a:t>
            </a:r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FECF5"/>
          </a:solidFill>
          <a:ln w="12700">
            <a:solidFill>
              <a:srgbClr val="DFEC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例句1：司机在路口停下车。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例句2：那位司机很熟悉北京的路。</a:t>
            </a:r>
            <a:endParaRPr lang="zh-CN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07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快餐店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快餐店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kuàicāndiàn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词类：名词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意思：cửa hàng thức ăn nhanh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使用场合：介绍人、事物或生活信息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937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VN" sz="2300" dirty="0">
                <a:solidFill>
                  <a:schemeClr val="accent2"/>
                </a:solidFill>
                <a:ea typeface="KaiTi"/>
                <a:cs typeface="Times New Roman"/>
              </a:rPr>
              <a:t>小问题</a:t>
            </a:r>
            <a:r>
              <a:rPr sz="2300" dirty="0">
                <a:solidFill>
                  <a:schemeClr val="accent2"/>
                </a:solidFill>
                <a:ea typeface="Times New Roman"/>
                <a:cs typeface="Times New Roman"/>
              </a:rPr>
              <a:t>：</a:t>
            </a:r>
            <a:r>
              <a:rPr lang="zh-CN" altLang="en-US" sz="2300" dirty="0">
                <a:solidFill>
                  <a:schemeClr val="accent2"/>
                </a:solidFill>
                <a:ea typeface="Times New Roman"/>
                <a:cs typeface="Times New Roman"/>
              </a:rPr>
              <a:t>：：</a:t>
            </a:r>
            <a:r>
              <a:rPr lang="vi-VN" altLang="zh-CN" sz="2300" dirty="0">
                <a:solidFill>
                  <a:schemeClr val="accent2"/>
                </a:solidFill>
                <a:ea typeface="Times New Roman"/>
                <a:cs typeface="Times New Roman"/>
              </a:rPr>
              <a:t>:</a:t>
            </a:r>
            <a:endParaRPr lang="en-US" sz="2300" dirty="0">
              <a:solidFill>
                <a:schemeClr val="accent2"/>
              </a:solidFill>
            </a:endParaRPr>
          </a:p>
          <a:p>
            <a:r>
              <a:rPr sz="2300" dirty="0" err="1">
                <a:solidFill>
                  <a:schemeClr val="accent2"/>
                </a:solidFill>
                <a:ea typeface="KaiTi"/>
                <a:cs typeface="Times New Roman"/>
              </a:rPr>
              <a:t>麦当劳、肯德基是什么意思</a:t>
            </a:r>
            <a:r>
              <a:rPr lang="zh-CN" altLang="en-US" sz="2300" dirty="0">
                <a:solidFill>
                  <a:schemeClr val="accent2"/>
                </a:solidFill>
                <a:ea typeface="KaiTi"/>
                <a:cs typeface="Times New Roman"/>
              </a:rPr>
              <a:t>？</a:t>
            </a:r>
            <a:r>
              <a:rPr sz="2300" dirty="0">
                <a:solidFill>
                  <a:schemeClr val="accent2"/>
                </a:solidFill>
                <a:ea typeface="Times New Roman"/>
                <a:cs typeface="Times New Roman"/>
              </a:rPr>
              <a:t>？</a:t>
            </a:r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FFF1BE"/>
          </a:solidFill>
          <a:ln w="12700">
            <a:solidFill>
              <a:srgbClr val="FFF1B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例句1：这家快餐店中午人很多。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例句2：学生常在快餐店吃午饭。</a:t>
            </a:r>
            <a:endParaRPr lang="zh-CN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08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点（菜）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点（菜）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diǎn (cài)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词类：动词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意思：gọi món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使用场合：说明动作、经历或计划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8F0E9"/>
          </a:solidFill>
          <a:ln w="12700">
            <a:solidFill>
              <a:srgbClr val="D8F0E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例句1：请先看菜单，再点菜。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例句2：你想点什么菜？</a:t>
            </a:r>
            <a:endParaRPr lang="zh-CN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09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阅读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阅读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yuèdú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词类：动词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意思：đọc; đọc hiểu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使用场合：说明动作、经历或计划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FECF5"/>
          </a:solidFill>
          <a:ln w="12700">
            <a:solidFill>
              <a:srgbClr val="DFEC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例句1：睡前阅读让我很安静。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例句2：周末我会阅读一本小说。</a:t>
            </a:r>
            <a:endParaRPr lang="zh-CN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10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请你说说它们的中文并造句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49808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D8F0E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/Users/ssyan110/Development/vinh-uni-teaching-assistant/lessons/boya-quasi-intermediate-i/lesson-04/10-design/assets/generated-vocab-images/l04-vocab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19656"/>
            <a:ext cx="1719072" cy="2596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85800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上（菜）</a:t>
            </a:r>
            <a:endParaRPr lang="zh-CN" sz="2100" dirty="0"/>
          </a:p>
        </p:txBody>
      </p:sp>
      <p:sp>
        <p:nvSpPr>
          <p:cNvPr id="11" name="Shape 8"/>
          <p:cNvSpPr/>
          <p:nvPr/>
        </p:nvSpPr>
        <p:spPr>
          <a:xfrm>
            <a:off x="3017520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DFECF5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1" descr="/Users/ssyan110/Development/vinh-uni-teaching-assistant/lessons/boya-quasi-intermediate-i/lesson-04/10-design/assets/generated-vocab-images/l04-vocab-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819656"/>
            <a:ext cx="1719072" cy="2596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182112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2953512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司机</a:t>
            </a:r>
            <a:endParaRPr lang="zh-CN" sz="2100" dirty="0"/>
          </a:p>
        </p:txBody>
      </p:sp>
      <p:sp>
        <p:nvSpPr>
          <p:cNvPr id="15" name="Shape 11"/>
          <p:cNvSpPr/>
          <p:nvPr/>
        </p:nvSpPr>
        <p:spPr>
          <a:xfrm>
            <a:off x="5285232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FFF1BE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/Users/ssyan110/Development/vinh-uni-teaching-assistant/lessons/boya-quasi-intermediate-i/lesson-04/10-design/assets/generated-vocab-images/l04-vocab-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819656"/>
            <a:ext cx="1719072" cy="259689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49824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5221224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快餐店</a:t>
            </a:r>
            <a:endParaRPr lang="zh-CN" sz="2100" dirty="0"/>
          </a:p>
        </p:txBody>
      </p:sp>
      <p:sp>
        <p:nvSpPr>
          <p:cNvPr id="19" name="Shape 14"/>
          <p:cNvSpPr/>
          <p:nvPr/>
        </p:nvSpPr>
        <p:spPr>
          <a:xfrm>
            <a:off x="7552944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EEE9FF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3" descr="/Users/ssyan110/Development/vinh-uni-teaching-assistant/lessons/boya-quasi-intermediate-i/lesson-04/10-design/assets/generated-vocab-images/l04-vocab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096" y="1819656"/>
            <a:ext cx="1719072" cy="259689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717536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6"/>
          <p:cNvSpPr/>
          <p:nvPr/>
        </p:nvSpPr>
        <p:spPr>
          <a:xfrm>
            <a:off x="7488936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点（菜）</a:t>
            </a:r>
            <a:endParaRPr lang="zh-CN" sz="2100" dirty="0"/>
          </a:p>
        </p:txBody>
      </p:sp>
      <p:sp>
        <p:nvSpPr>
          <p:cNvPr id="23" name="Shape 17"/>
          <p:cNvSpPr/>
          <p:nvPr/>
        </p:nvSpPr>
        <p:spPr>
          <a:xfrm>
            <a:off x="9820656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F9DED4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4" descr="/Users/ssyan110/Development/vinh-uni-teaching-assistant/lessons/boya-quasi-intermediate-i/lesson-04/10-design/assets/generated-vocab-images/l04-vocab-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808" y="1819656"/>
            <a:ext cx="1719072" cy="2596896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985248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/>
          <p:nvPr/>
        </p:nvSpPr>
        <p:spPr>
          <a:xfrm>
            <a:off x="9756648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阅读</a:t>
            </a:r>
            <a:endParaRPr lang="zh-CN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11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语伴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语伴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yǔbàn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词类：名词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意思：bạn ngôn ngữ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使用场合：介绍人、事物或生活信息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FFF1BE"/>
          </a:solidFill>
          <a:ln w="12700">
            <a:solidFill>
              <a:srgbClr val="FFF1B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例句1：我的语伴会纠正发音。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例句2：我和语伴约在图书馆见面。</a:t>
            </a:r>
            <a:endParaRPr lang="zh-CN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12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讲座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讲座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jiǎngzuò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词类：名词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意思：buổi thuyết giảng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使用场合：介绍人、事物或生活信息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8F0E9"/>
          </a:solidFill>
          <a:ln w="12700">
            <a:solidFill>
              <a:srgbClr val="D8F0E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例句1：这场讲座介绍北京文化。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例句2：讲座结束后可以提问。</a:t>
            </a:r>
            <a:endParaRPr lang="zh-CN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13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国际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国际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guójì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词类：形容词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意思：quốc tế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使用场合：介绍人、事物或生活信息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FECF5"/>
          </a:solidFill>
          <a:ln w="12700">
            <a:solidFill>
              <a:srgbClr val="DFEC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例句1：学校有国际学生中心。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例句2：她昨天参加了国际讲座。</a:t>
            </a:r>
            <a:endParaRPr lang="zh-CN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14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发现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发现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fāxiàn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词类：动词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意思：phát hiện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使用场合：说明动作、经历或计划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FFF1BE"/>
          </a:solidFill>
          <a:ln w="12700">
            <a:solidFill>
              <a:srgbClr val="FFF1B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例句1：我在地图上发现了新路线。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例句2：他发现自己听错了一个词。</a:t>
            </a:r>
            <a:endParaRPr lang="zh-CN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15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习惯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习惯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xíguàn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>
                <a:latin typeface="Times New Roman"/>
                <a:ea typeface="KaiTi"/>
                <a:cs typeface="Times New Roman"/>
              </a:rPr>
              <a:t>词类：动词、名词</a:t>
            </a:r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意思：thói quen; quen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使用场合：说明动作、经历或计划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8F0E9"/>
          </a:solidFill>
          <a:ln w="12700">
            <a:solidFill>
              <a:srgbClr val="D8F0E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2200" dirty="0">
                <a:latin typeface="Times New Roman"/>
                <a:ea typeface="KaiTi"/>
                <a:cs typeface="Times New Roman"/>
              </a:rPr>
              <a:t>例句1：他很快习惯了早起。</a:t>
            </a:r>
          </a:p>
          <a:p>
            <a:r>
              <a:rPr sz="2200" dirty="0">
                <a:latin typeface="Times New Roman"/>
                <a:ea typeface="KaiTi"/>
                <a:cs typeface="Times New Roman"/>
              </a:rPr>
              <a:t>例句2：小明有很好的生活习惯。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16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请你说说它们的中文并造句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49808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D8F0E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/Users/ssyan110/Development/vinh-uni-teaching-assistant/lessons/boya-quasi-intermediate-i/lesson-04/10-design/assets/generated-vocab-images/l04-vocab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19656"/>
            <a:ext cx="1719072" cy="2596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85800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语伴</a:t>
            </a:r>
            <a:endParaRPr lang="zh-CN" sz="2100" dirty="0"/>
          </a:p>
        </p:txBody>
      </p:sp>
      <p:sp>
        <p:nvSpPr>
          <p:cNvPr id="11" name="Shape 8"/>
          <p:cNvSpPr/>
          <p:nvPr/>
        </p:nvSpPr>
        <p:spPr>
          <a:xfrm>
            <a:off x="3017520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DFECF5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1" descr="/Users/ssyan110/Development/vinh-uni-teaching-assistant/lessons/boya-quasi-intermediate-i/lesson-04/10-design/assets/generated-vocab-images/l04-vocab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819656"/>
            <a:ext cx="1719072" cy="2596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182112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2953512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讲座</a:t>
            </a:r>
            <a:endParaRPr lang="zh-CN" sz="2100" dirty="0"/>
          </a:p>
        </p:txBody>
      </p:sp>
      <p:sp>
        <p:nvSpPr>
          <p:cNvPr id="15" name="Shape 11"/>
          <p:cNvSpPr/>
          <p:nvPr/>
        </p:nvSpPr>
        <p:spPr>
          <a:xfrm>
            <a:off x="5285232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FFF1BE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/Users/ssyan110/Development/vinh-uni-teaching-assistant/lessons/boya-quasi-intermediate-i/lesson-04/10-design/assets/generated-vocab-images/l04-vocab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819656"/>
            <a:ext cx="1719072" cy="259689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49824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5221224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国际</a:t>
            </a:r>
            <a:endParaRPr lang="zh-CN" sz="2100" dirty="0"/>
          </a:p>
        </p:txBody>
      </p:sp>
      <p:sp>
        <p:nvSpPr>
          <p:cNvPr id="19" name="Shape 14"/>
          <p:cNvSpPr/>
          <p:nvPr/>
        </p:nvSpPr>
        <p:spPr>
          <a:xfrm>
            <a:off x="7552944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EEE9FF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3" descr="/Users/ssyan110/Development/vinh-uni-teaching-assistant/lessons/boya-quasi-intermediate-i/lesson-04/10-design/assets/generated-vocab-images/l04-vocab-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096" y="1819656"/>
            <a:ext cx="1719072" cy="259689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717536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6"/>
          <p:cNvSpPr/>
          <p:nvPr/>
        </p:nvSpPr>
        <p:spPr>
          <a:xfrm>
            <a:off x="7488936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发现</a:t>
            </a:r>
            <a:endParaRPr lang="zh-CN" sz="2100" dirty="0"/>
          </a:p>
        </p:txBody>
      </p:sp>
      <p:sp>
        <p:nvSpPr>
          <p:cNvPr id="23" name="Shape 17"/>
          <p:cNvSpPr/>
          <p:nvPr/>
        </p:nvSpPr>
        <p:spPr>
          <a:xfrm>
            <a:off x="9820656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F9DED4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4" descr="/Users/ssyan110/Development/vinh-uni-teaching-assistant/lessons/boya-quasi-intermediate-i/lesson-04/10-design/assets/generated-vocab-images/l04-vocab-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808" y="1819656"/>
            <a:ext cx="1719072" cy="2596896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985248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/>
          <p:nvPr/>
        </p:nvSpPr>
        <p:spPr>
          <a:xfrm>
            <a:off x="9756648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习惯</a:t>
            </a:r>
            <a:endParaRPr lang="zh-CN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17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新闻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新闻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xīnwén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词类：名词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意思：tin tức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使用场合：介绍人、事物或生活信息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FECF5"/>
          </a:solidFill>
          <a:ln w="12700">
            <a:solidFill>
              <a:srgbClr val="DFEC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例句1：爸爸早上听新闻。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例句2：这条新闻</a:t>
            </a:r>
            <a:r>
              <a:rPr lang="zh-CN" altLang="vi-VN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现在</a:t>
            </a: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很火。</a:t>
            </a:r>
            <a:endParaRPr lang="zh-CN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18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字幕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字幕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zìmù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词类：名词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意思：phụ đề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使用场合：介绍人、事物或生活信息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FFF1BE"/>
          </a:solidFill>
          <a:ln w="12700">
            <a:solidFill>
              <a:srgbClr val="FFF1B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2200" dirty="0">
                <a:latin typeface="Times New Roman"/>
                <a:ea typeface="KaiTi"/>
                <a:cs typeface="Times New Roman"/>
              </a:rPr>
              <a:t>例句1：我打开字幕学习发音。</a:t>
            </a:r>
          </a:p>
          <a:p>
            <a:r>
              <a:rPr sz="2200" dirty="0">
                <a:latin typeface="Times New Roman"/>
                <a:ea typeface="KaiTi"/>
                <a:cs typeface="Times New Roman"/>
              </a:rPr>
              <a:t>例句2：没有字幕，我看不懂这部电影。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19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加倍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加倍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jiābèi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词类：副词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意思：tăng gấp đôi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使用场合：修饰动作或状态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23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扩展：加倍</a:t>
            </a:r>
            <a:r>
              <a:rPr lang="en-VN" sz="23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23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动词</a:t>
            </a:r>
            <a:endParaRPr sz="2300" dirty="0">
              <a:solidFill>
                <a:schemeClr val="accent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8F0E9"/>
          </a:solidFill>
          <a:ln w="12700">
            <a:solidFill>
              <a:srgbClr val="D8F0E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例句1：考试前她加倍练习听力。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例句2：为了赶上进度，他加倍工作。</a:t>
            </a:r>
            <a:endParaRPr lang="zh-CN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20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解释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解释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jiěshì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词类：动词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意思：giải thích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使用场合：说明动作、经历或计划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FECF5"/>
          </a:solidFill>
          <a:ln w="12700">
            <a:solidFill>
              <a:srgbClr val="DFEC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例句1：请你解释这个词的意思。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例句2：她耐心地解释了原因。</a:t>
            </a:r>
            <a:endParaRPr lang="zh-CN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21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词语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词语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cíyǔ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词类：名词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2200" dirty="0" err="1">
                <a:latin typeface="Times New Roman"/>
                <a:ea typeface="KaiTi"/>
                <a:cs typeface="Times New Roman"/>
              </a:rPr>
              <a:t>意思：từ</a:t>
            </a:r>
            <a:r>
              <a:rPr sz="2200" dirty="0">
                <a:latin typeface="Times New Roman"/>
                <a:ea typeface="KaiTi"/>
                <a:cs typeface="Times New Roman"/>
              </a:rPr>
              <a:t> </a:t>
            </a:r>
            <a:r>
              <a:rPr sz="2200" dirty="0" err="1">
                <a:latin typeface="Times New Roman"/>
                <a:ea typeface="KaiTi"/>
                <a:cs typeface="Times New Roman"/>
              </a:rPr>
              <a:t>ngữ</a:t>
            </a:r>
            <a:endParaRPr sz="2200" dirty="0">
              <a:latin typeface="Times New Roman"/>
              <a:ea typeface="KaiTi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使用场合：介绍语言或学习的时候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FFF1BE"/>
          </a:solidFill>
          <a:ln w="12700">
            <a:solidFill>
              <a:srgbClr val="FFF1B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例句1：每一课都有很多新词语。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例句2：这个词语在课文里出现两次。</a:t>
            </a:r>
            <a:endParaRPr lang="zh-CN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22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请你说说它们的中文并造句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49808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D8F0E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/Users/ssyan110/Development/vinh-uni-teaching-assistant/lessons/boya-quasi-intermediate-i/lesson-04/10-design/assets/generated-vocab-images/l04-vocab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19656"/>
            <a:ext cx="1719072" cy="2596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85800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新闻</a:t>
            </a:r>
            <a:endParaRPr lang="zh-CN" sz="2100" dirty="0"/>
          </a:p>
        </p:txBody>
      </p:sp>
      <p:sp>
        <p:nvSpPr>
          <p:cNvPr id="11" name="Shape 8"/>
          <p:cNvSpPr/>
          <p:nvPr/>
        </p:nvSpPr>
        <p:spPr>
          <a:xfrm>
            <a:off x="3017520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DFECF5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1" descr="/Users/ssyan110/Development/vinh-uni-teaching-assistant/lessons/boya-quasi-intermediate-i/lesson-04/10-design/assets/generated-vocab-images/l04-vocab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819656"/>
            <a:ext cx="1719072" cy="2596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182112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2953512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字幕</a:t>
            </a:r>
            <a:endParaRPr lang="zh-CN" sz="2100" dirty="0"/>
          </a:p>
        </p:txBody>
      </p:sp>
      <p:sp>
        <p:nvSpPr>
          <p:cNvPr id="15" name="Shape 11"/>
          <p:cNvSpPr/>
          <p:nvPr/>
        </p:nvSpPr>
        <p:spPr>
          <a:xfrm>
            <a:off x="5285232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FFF1BE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/Users/ssyan110/Development/vinh-uni-teaching-assistant/lessons/boya-quasi-intermediate-i/lesson-04/10-design/assets/generated-vocab-images/l04-vocab-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819656"/>
            <a:ext cx="1719072" cy="259689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49824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5221224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加倍</a:t>
            </a:r>
            <a:endParaRPr lang="zh-CN" sz="2100" dirty="0"/>
          </a:p>
        </p:txBody>
      </p:sp>
      <p:sp>
        <p:nvSpPr>
          <p:cNvPr id="19" name="Shape 14"/>
          <p:cNvSpPr/>
          <p:nvPr/>
        </p:nvSpPr>
        <p:spPr>
          <a:xfrm>
            <a:off x="7552944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EEE9FF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3" descr="/Users/ssyan110/Development/vinh-uni-teaching-assistant/lessons/boya-quasi-intermediate-i/lesson-04/10-design/assets/generated-vocab-images/l04-vocab-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096" y="1819656"/>
            <a:ext cx="1719072" cy="259689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717536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6"/>
          <p:cNvSpPr/>
          <p:nvPr/>
        </p:nvSpPr>
        <p:spPr>
          <a:xfrm>
            <a:off x="7488936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解释</a:t>
            </a:r>
            <a:endParaRPr lang="zh-CN" sz="2100" dirty="0"/>
          </a:p>
        </p:txBody>
      </p:sp>
      <p:sp>
        <p:nvSpPr>
          <p:cNvPr id="23" name="Shape 17"/>
          <p:cNvSpPr/>
          <p:nvPr/>
        </p:nvSpPr>
        <p:spPr>
          <a:xfrm>
            <a:off x="9820656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F9DED4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4" descr="/Users/ssyan110/Development/vinh-uni-teaching-assistant/lessons/boya-quasi-intermediate-i/lesson-04/10-design/assets/generated-vocab-images/l04-vocab-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808" y="1819656"/>
            <a:ext cx="1719072" cy="2596896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985248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/>
          <p:nvPr/>
        </p:nvSpPr>
        <p:spPr>
          <a:xfrm>
            <a:off x="9756648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词语</a:t>
            </a:r>
            <a:endParaRPr lang="zh-CN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23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效率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效率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xiàolǜ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词类：名词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意思：hiệu quả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使用场合：介绍人、事物或生活信息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8F0E9"/>
          </a:solidFill>
          <a:ln w="12700">
            <a:solidFill>
              <a:srgbClr val="D8F0E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例句1：安静的房间能提高效率。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例句2：一起讨论可以提高学习效率。</a:t>
            </a:r>
            <a:endParaRPr lang="zh-CN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24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印象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印象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yìnxiàng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词类：名词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意思：ấn tượng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使用场合：介绍经历或生活信息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996696" y="4754880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r>
              <a:rPr lang="zh-CN" altLang="en-US" sz="2300" b="1" dirty="0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扩展用法：</a:t>
            </a:r>
          </a:p>
          <a:p>
            <a:r>
              <a:rPr lang="en-US" altLang="zh-CN" sz="2300" dirty="0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-</a:t>
            </a:r>
            <a:r>
              <a:rPr lang="zh-CN" altLang="en-US" sz="2300" dirty="0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 </a:t>
            </a:r>
            <a:r>
              <a:rPr lang="en-US" sz="23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对+人</a:t>
            </a:r>
            <a:r>
              <a:rPr lang="en-US" sz="23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lang="en-US" sz="23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事+的+印象+形容词</a:t>
            </a:r>
            <a:endParaRPr lang="en-US" sz="2300" dirty="0">
              <a:solidFill>
                <a:schemeClr val="accent2"/>
              </a:solidFill>
            </a:endParaRPr>
          </a:p>
          <a:p>
            <a:r>
              <a:rPr lang="en-US" altLang="zh-CN" sz="2300" dirty="0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-</a:t>
            </a:r>
            <a:r>
              <a:rPr lang="zh-CN" altLang="en-US" sz="2300" dirty="0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 </a:t>
            </a:r>
            <a:r>
              <a:rPr sz="23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给</a:t>
            </a:r>
            <a:r>
              <a:rPr lang="en-VN" sz="23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23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人</a:t>
            </a:r>
            <a:r>
              <a:rPr lang="en-VN" sz="23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23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留下</a:t>
            </a:r>
            <a:r>
              <a:rPr lang="en-VN" sz="23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23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形容词</a:t>
            </a:r>
            <a:r>
              <a:rPr lang="en-VN" sz="23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23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印象</a:t>
            </a:r>
            <a:endParaRPr sz="2300" dirty="0">
              <a:solidFill>
                <a:schemeClr val="accent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FECF5"/>
          </a:solidFill>
          <a:ln w="12700">
            <a:solidFill>
              <a:srgbClr val="DFEC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例句1：我对越南的印象特别好。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例句2：那位老师给我留下了好印象。</a:t>
            </a:r>
            <a:endParaRPr lang="zh-CN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25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P33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吃惊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吃惊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chījīng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>
                <a:latin typeface="Times New Roman"/>
                <a:ea typeface="KaiTi"/>
                <a:cs typeface="Times New Roman"/>
              </a:rPr>
              <a:t>词类：形容词</a:t>
            </a:r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意思：ngạc nhiên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使用场合：表达感受或经历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FFF1BE"/>
          </a:solidFill>
          <a:ln w="12700">
            <a:solidFill>
              <a:srgbClr val="FFF1B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例句1：听到这个消息，他非常吃惊。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例句2：看到这么大的雪，大家都很吃惊。</a:t>
            </a:r>
            <a:endParaRPr lang="zh-CN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26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P33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聊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聊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liáo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词类：动词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意思：trò chuyện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使用场合：说明动作、经历或计划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23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扩展：口语也常说“聊天</a:t>
            </a:r>
            <a:r>
              <a:rPr sz="23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”</a:t>
            </a:r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8F0E9"/>
          </a:solidFill>
          <a:ln w="12700">
            <a:solidFill>
              <a:srgbClr val="D8F0E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例句1：晚饭后我们聊了几分钟。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例句2：他们边喝茶边聊旅行。</a:t>
            </a:r>
            <a:endParaRPr lang="zh-CN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27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P33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通常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通常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tōngcháng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词类：副词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意思：thường; thông thường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使用场合：修饰动作或状态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FECF5"/>
          </a:solidFill>
          <a:ln w="12700">
            <a:solidFill>
              <a:srgbClr val="DFEC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例句1：我通常坐公交车上学。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例句2：商店通常九点开门。</a:t>
            </a:r>
            <a:endParaRPr lang="zh-CN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28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P32–33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请你说说它们的中文并造句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49808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D8F0E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/Users/ssyan110/Development/vinh-uni-teaching-assistant/lessons/boya-quasi-intermediate-i/lesson-04/10-design/assets/generated-vocab-images/l04-vocab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19656"/>
            <a:ext cx="1719072" cy="2596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85800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效率</a:t>
            </a:r>
            <a:endParaRPr lang="zh-CN" sz="2100" dirty="0"/>
          </a:p>
        </p:txBody>
      </p:sp>
      <p:sp>
        <p:nvSpPr>
          <p:cNvPr id="11" name="Shape 8"/>
          <p:cNvSpPr/>
          <p:nvPr/>
        </p:nvSpPr>
        <p:spPr>
          <a:xfrm>
            <a:off x="3017520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DFECF5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1" descr="/Users/ssyan110/Development/vinh-uni-teaching-assistant/lessons/boya-quasi-intermediate-i/lesson-04/10-design/assets/generated-vocab-images/l04-vocab-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819656"/>
            <a:ext cx="1719072" cy="2596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182112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2953512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印象</a:t>
            </a:r>
            <a:endParaRPr lang="zh-CN" sz="2100" dirty="0"/>
          </a:p>
        </p:txBody>
      </p:sp>
      <p:sp>
        <p:nvSpPr>
          <p:cNvPr id="15" name="Shape 11"/>
          <p:cNvSpPr/>
          <p:nvPr/>
        </p:nvSpPr>
        <p:spPr>
          <a:xfrm>
            <a:off x="5285232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FFF1BE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/Users/ssyan110/Development/vinh-uni-teaching-assistant/lessons/boya-quasi-intermediate-i/lesson-04/10-design/assets/generated-vocab-images/l04-vocab-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819656"/>
            <a:ext cx="1719072" cy="259689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49824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5221224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吃惊</a:t>
            </a:r>
            <a:endParaRPr lang="zh-CN" sz="2100" dirty="0"/>
          </a:p>
        </p:txBody>
      </p:sp>
      <p:sp>
        <p:nvSpPr>
          <p:cNvPr id="19" name="Shape 14"/>
          <p:cNvSpPr/>
          <p:nvPr/>
        </p:nvSpPr>
        <p:spPr>
          <a:xfrm>
            <a:off x="7552944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EEE9FF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3" descr="/Users/ssyan110/Development/vinh-uni-teaching-assistant/lessons/boya-quasi-intermediate-i/lesson-04/10-design/assets/generated-vocab-images/l04-vocab-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096" y="1819656"/>
            <a:ext cx="1719072" cy="259689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717536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6"/>
          <p:cNvSpPr/>
          <p:nvPr/>
        </p:nvSpPr>
        <p:spPr>
          <a:xfrm>
            <a:off x="7488936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聊</a:t>
            </a:r>
            <a:endParaRPr lang="zh-CN" sz="2100" dirty="0"/>
          </a:p>
        </p:txBody>
      </p:sp>
      <p:sp>
        <p:nvSpPr>
          <p:cNvPr id="23" name="Shape 17"/>
          <p:cNvSpPr/>
          <p:nvPr/>
        </p:nvSpPr>
        <p:spPr>
          <a:xfrm>
            <a:off x="9820656" y="1737360"/>
            <a:ext cx="1865376" cy="2843784"/>
          </a:xfrm>
          <a:prstGeom prst="roundRect">
            <a:avLst>
              <a:gd name="adj" fmla="val 3922"/>
            </a:avLst>
          </a:prstGeom>
          <a:solidFill>
            <a:srgbClr val="F9DED4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4" descr="/Users/ssyan110/Development/vinh-uni-teaching-assistant/lessons/boya-quasi-intermediate-i/lesson-04/10-design/assets/generated-vocab-images/l04-vocab-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808" y="1819656"/>
            <a:ext cx="1719072" cy="2596896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985248" y="4663440"/>
            <a:ext cx="1536192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/>
          <p:nvPr/>
        </p:nvSpPr>
        <p:spPr>
          <a:xfrm>
            <a:off x="9756648" y="4919472"/>
            <a:ext cx="19933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通常</a:t>
            </a:r>
            <a:endParaRPr lang="zh-CN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29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P33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tīnglì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词类：名词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意思：nghe hiểu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使用场合：介绍人、事物或生活信息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FFF1BE"/>
          </a:solidFill>
          <a:ln w="12700">
            <a:solidFill>
              <a:srgbClr val="FFF1B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例句1：每天听十分钟，听力会进步。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</a:t>
            </a:r>
            <a:r>
              <a:rPr lang="zh-CN" altLang="vi-VN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</a:t>
            </a: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每天都练习中文听力。</a:t>
            </a:r>
            <a:endParaRPr lang="zh-CN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30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P33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异同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异同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yìtóng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词类：名词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意思：điểm giống và khác</a:t>
            </a:r>
            <a:endParaRPr lang="zh-CN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使用场合：介绍人、事物或生活信息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r>
              <a:rPr sz="23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扩展</a:t>
            </a:r>
            <a:r>
              <a:rPr lang="zh-CN" altLang="en-US" sz="2300" dirty="0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：</a:t>
            </a:r>
            <a:r>
              <a:rPr sz="23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：</a:t>
            </a:r>
            <a:endParaRPr lang="en-US" sz="2300" dirty="0">
              <a:solidFill>
                <a:schemeClr val="accent2"/>
              </a:solidFill>
            </a:endParaRPr>
          </a:p>
          <a:p>
            <a:r>
              <a:rPr sz="23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口语也常说“不一样的地方</a:t>
            </a:r>
            <a:r>
              <a:rPr sz="23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”</a:t>
            </a:r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8F0E9"/>
          </a:solidFill>
          <a:ln w="12700">
            <a:solidFill>
              <a:srgbClr val="D8F0E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例句1：小组正在讨论两地的异同。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例句2：你能说出这两个词的异同吗？</a:t>
            </a:r>
            <a:endParaRPr lang="zh-CN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31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P33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量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量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liàng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词类：名词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1"/>
            <a:ext cx="4297680" cy="8038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sz="2200" dirty="0" err="1">
                <a:latin typeface="Times New Roman"/>
                <a:ea typeface="KaiTi"/>
                <a:cs typeface="Times New Roman"/>
              </a:rPr>
              <a:t>意思：số</a:t>
            </a:r>
            <a:r>
              <a:rPr sz="2200" dirty="0">
                <a:latin typeface="Times New Roman"/>
                <a:ea typeface="KaiTi"/>
                <a:cs typeface="Times New Roman"/>
              </a:rPr>
              <a:t> </a:t>
            </a:r>
            <a:r>
              <a:rPr sz="2200" dirty="0" err="1">
                <a:latin typeface="Times New Roman"/>
                <a:ea typeface="KaiTi"/>
                <a:cs typeface="Times New Roman"/>
              </a:rPr>
              <a:t>lượng</a:t>
            </a:r>
            <a:endParaRPr sz="2200" dirty="0">
              <a:latin typeface="Times New Roman"/>
              <a:ea typeface="KaiTi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使用场合：介绍人、事物或生活信息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DFECF5"/>
          </a:solidFill>
          <a:ln w="12700">
            <a:solidFill>
              <a:srgbClr val="DFEC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例句1：请少放一点儿盐，菜量够了。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例句2：这杯水的量刚刚好。</a:t>
            </a:r>
            <a:endParaRPr lang="zh-CN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15D1E-1518-482F-8C8D-89019B5BC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4472BA-194C-2731-B1B5-BC6BF2F9B195}"/>
              </a:ext>
            </a:extLst>
          </p:cNvPr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277047-B57C-EE8D-EF9E-3F72C9A15FEF}"/>
              </a:ext>
            </a:extLst>
          </p:cNvPr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8556ED4-C053-A552-830B-55C1304750F6}"/>
              </a:ext>
            </a:extLst>
          </p:cNvPr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31">
            <a:extLst>
              <a:ext uri="{FF2B5EF4-FFF2-40B4-BE49-F238E27FC236}">
                <a16:creationId xmlns:a16="http://schemas.microsoft.com/office/drawing/2014/main" id="{18C4AEA9-1EB2-4956-CD23-0F3CE0D77DDB}"/>
              </a:ext>
            </a:extLst>
          </p:cNvPr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P33</a:t>
            </a:r>
            <a:endParaRPr lang="zh-CN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B751B8-F6AC-9A13-E31C-A4F51A775F41}"/>
              </a:ext>
            </a:extLst>
          </p:cNvPr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量</a:t>
            </a:r>
            <a:endParaRPr lang="zh-CN" sz="3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878FFA1-7ED3-F601-0132-C2CBCD84C6C1}"/>
              </a:ext>
            </a:extLst>
          </p:cNvPr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471CEAD-45FB-EDA7-2BB2-C8A6BA8F9C44}"/>
              </a:ext>
            </a:extLst>
          </p:cNvPr>
          <p:cNvSpPr/>
          <p:nvPr/>
        </p:nvSpPr>
        <p:spPr>
          <a:xfrm>
            <a:off x="844296" y="1828800"/>
            <a:ext cx="4751832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VN" sz="2800" dirty="0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用法</a:t>
            </a:r>
            <a:r>
              <a:rPr lang="zh-CN" altLang="en-US" sz="2800" dirty="0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：</a:t>
            </a:r>
            <a:endParaRPr lang="en-US" sz="2800" dirty="0">
              <a:solidFill>
                <a:schemeClr val="accent2"/>
              </a:solidFill>
            </a:endParaRPr>
          </a:p>
          <a:p>
            <a:pPr marL="457200" indent="-457200">
              <a:buFontTx/>
              <a:buChar char="-"/>
            </a:pPr>
            <a:r>
              <a:rPr sz="28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名词／动词</a:t>
            </a:r>
            <a:r>
              <a:rPr lang="zh-CN" altLang="en-US" sz="2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VN" sz="2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量</a:t>
            </a:r>
            <a:r>
              <a:rPr lang="zh-CN" altLang="en-US" sz="2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，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r>
              <a:rPr sz="28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例如</a:t>
            </a:r>
            <a:r>
              <a:rPr lang="zh-CN" altLang="en-US" sz="2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：：</a:t>
            </a:r>
            <a:r>
              <a:rPr lang="zh-CN" altLang="en-US" sz="2800" dirty="0">
                <a:solidFill>
                  <a:schemeClr val="accent2"/>
                </a:solidFill>
              </a:rPr>
              <a:t>：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r>
              <a:rPr sz="28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饭量、工作量</a:t>
            </a:r>
            <a:endParaRPr lang="en-US" sz="2800" dirty="0">
              <a:solidFill>
                <a:schemeClr val="accent2"/>
              </a:solidFill>
            </a:endParaRPr>
          </a:p>
          <a:p>
            <a:endParaRPr lang="en-VN" sz="2800" dirty="0">
              <a:solidFill>
                <a:schemeClr val="accent2"/>
              </a:solidFill>
            </a:endParaRPr>
          </a:p>
          <a:p>
            <a:pPr marL="457200" indent="-457200">
              <a:buFontTx/>
              <a:buChar char="-"/>
            </a:pPr>
            <a:r>
              <a:rPr sz="28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短语</a:t>
            </a:r>
            <a:r>
              <a:rPr lang="zh-CN" altLang="en-US" sz="2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VN" sz="2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的量</a:t>
            </a:r>
            <a:r>
              <a:rPr lang="zh-CN" altLang="en-US" sz="2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，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r>
              <a:rPr sz="28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例如</a:t>
            </a:r>
            <a:r>
              <a:rPr lang="zh-CN" altLang="en-US" sz="2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：</a:t>
            </a:r>
            <a:r>
              <a:rPr lang="zh-CN" altLang="en-US" sz="2800" dirty="0">
                <a:solidFill>
                  <a:schemeClr val="accent2"/>
                </a:solidFill>
              </a:rPr>
              <a:t>：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r>
              <a:rPr sz="2800" dirty="0" err="1">
                <a:solidFill>
                  <a:schemeClr val="accent2"/>
                </a:solidFill>
                <a:latin typeface="Times New Roman"/>
                <a:ea typeface="KaiTi"/>
                <a:cs typeface="Times New Roman"/>
              </a:rPr>
              <a:t>我今天吃菜的量比较少</a:t>
            </a:r>
            <a:r>
              <a:rPr sz="2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ED947A4-BDBF-1440-F946-3F8F834EE0A1}"/>
              </a:ext>
            </a:extLst>
          </p:cNvPr>
          <p:cNvSpPr/>
          <p:nvPr/>
        </p:nvSpPr>
        <p:spPr>
          <a:xfrm>
            <a:off x="5870448" y="1527047"/>
            <a:ext cx="5623560" cy="4553705"/>
          </a:xfrm>
          <a:prstGeom prst="roundRect">
            <a:avLst>
              <a:gd name="adj" fmla="val 2210"/>
            </a:avLst>
          </a:prstGeom>
          <a:solidFill>
            <a:srgbClr val="DFECF5"/>
          </a:solidFill>
          <a:ln w="12700">
            <a:solidFill>
              <a:srgbClr val="DFEC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23.png">
            <a:extLst>
              <a:ext uri="{FF2B5EF4-FFF2-40B4-BE49-F238E27FC236}">
                <a16:creationId xmlns:a16="http://schemas.microsoft.com/office/drawing/2014/main" id="{B9ECF7AC-1606-25C6-E50C-B376F7B6C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415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6500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32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P33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饿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27048"/>
            <a:ext cx="4892040" cy="4553712"/>
          </a:xfrm>
          <a:prstGeom prst="roundRect">
            <a:avLst>
              <a:gd name="adj" fmla="val 1606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10512"/>
            <a:ext cx="43159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饿</a:t>
            </a:r>
            <a:endParaRPr lang="zh-CN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词类：形容词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4297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意思：đói</a:t>
            </a:r>
            <a:endParaRPr lang="zh-CN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使用场合：说明状态、感觉或评价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73752"/>
            <a:ext cx="4315968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0448" y="1527048"/>
            <a:ext cx="5623560" cy="3310128"/>
          </a:xfrm>
          <a:prstGeom prst="roundRect">
            <a:avLst>
              <a:gd name="adj" fmla="val 2210"/>
            </a:avLst>
          </a:prstGeom>
          <a:solidFill>
            <a:srgbClr val="FFF1BE"/>
          </a:solidFill>
          <a:ln w="12700">
            <a:solidFill>
              <a:srgbClr val="FFF1B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Users/ssyan110/Development/vinh-uni-teaching-assistant/lessons/boya-quasi-intermediate-i/lesson-04/10-design/assets/generated-vocab-images/l04-vocab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73352"/>
            <a:ext cx="5330952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70448" y="5020056"/>
            <a:ext cx="5623560" cy="1069848"/>
          </a:xfrm>
          <a:prstGeom prst="roundRect">
            <a:avLst>
              <a:gd name="adj" fmla="val 6838"/>
            </a:avLst>
          </a:prstGeom>
          <a:solidFill>
            <a:srgbClr val="FFFDF9"/>
          </a:solidFill>
          <a:ln w="12700">
            <a:solidFill>
              <a:srgbClr val="FBF8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144768" y="5202936"/>
            <a:ext cx="50749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例句1：走了一上午，我现在很饿。</a:t>
            </a:r>
            <a:endParaRPr lang="zh-CN" sz="2200" dirty="0"/>
          </a:p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例句2：午饭前我常常觉得饿。</a:t>
            </a:r>
            <a:endParaRPr lang="zh-CN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65836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8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听力和阅读练习</a:t>
            </a:r>
            <a:endParaRPr lang="zh-CN" sz="4800" dirty="0"/>
          </a:p>
        </p:txBody>
      </p:sp>
      <p:sp>
        <p:nvSpPr>
          <p:cNvPr id="6" name="Shape 4"/>
          <p:cNvSpPr/>
          <p:nvPr/>
        </p:nvSpPr>
        <p:spPr>
          <a:xfrm>
            <a:off x="7315200" y="132588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Users/ssyan110/Development/vinh-uni-teaching-assistant/lessons/boya-quasi-intermediate-i/lesson-01/10-design/image-assets-draft/symbolic-liste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380744"/>
            <a:ext cx="3776472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65836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8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短文（一）</a:t>
            </a:r>
            <a:endParaRPr lang="zh-CN" sz="4800" dirty="0"/>
          </a:p>
        </p:txBody>
      </p:sp>
      <p:sp>
        <p:nvSpPr>
          <p:cNvPr id="6" name="Shape 4"/>
          <p:cNvSpPr/>
          <p:nvPr/>
        </p:nvSpPr>
        <p:spPr>
          <a:xfrm>
            <a:off x="7315200" y="132588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Users/ssyan110/Development/vinh-uni-teaching-assistant/lessons/boya-quasi-intermediate-i/lesson-01/10-design/image-assets-draft/divider-fam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380744"/>
            <a:ext cx="3776472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35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P35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对北京的印象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9528048" y="877824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EA927E"/>
          </a:solidFill>
          <a:ln w="12700">
            <a:solidFill>
              <a:srgbClr val="EA92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619488" y="1005840"/>
            <a:ext cx="12618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FFFDF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4-4</a:t>
            </a:r>
            <a:endParaRPr lang="en-US" sz="2000" dirty="0"/>
          </a:p>
        </p:txBody>
      </p:sp>
      <p:pic>
        <p:nvPicPr>
          <p:cNvPr id="9" name="音频 4-4 播放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18520" y="914400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1444752"/>
            <a:ext cx="10058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先听音档 4-4，再写本课要求的简单摘要。</a:t>
            </a:r>
            <a:endParaRPr lang="zh-CN" sz="2500" dirty="0"/>
          </a:p>
        </p:txBody>
      </p:sp>
      <p:sp>
        <p:nvSpPr>
          <p:cNvPr id="11" name="Text 8"/>
          <p:cNvSpPr/>
          <p:nvPr/>
        </p:nvSpPr>
        <p:spPr>
          <a:xfrm>
            <a:off x="841248" y="2084832"/>
            <a:ext cx="5029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记录听不懂的地方：</a:t>
            </a:r>
            <a:endParaRPr lang="zh-CN" sz="2400" dirty="0"/>
          </a:p>
        </p:txBody>
      </p:sp>
      <p:sp>
        <p:nvSpPr>
          <p:cNvPr id="12" name="Text 9"/>
          <p:cNvSpPr/>
          <p:nvPr/>
        </p:nvSpPr>
        <p:spPr>
          <a:xfrm>
            <a:off x="1024128" y="2578608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3" name="Shape 10"/>
          <p:cNvSpPr/>
          <p:nvPr/>
        </p:nvSpPr>
        <p:spPr>
          <a:xfrm>
            <a:off x="1481328" y="2834640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024128" y="3054096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5" name="Shape 12"/>
          <p:cNvSpPr/>
          <p:nvPr/>
        </p:nvSpPr>
        <p:spPr>
          <a:xfrm>
            <a:off x="1481328" y="3310128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024128" y="3529584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7" name="Shape 14"/>
          <p:cNvSpPr/>
          <p:nvPr/>
        </p:nvSpPr>
        <p:spPr>
          <a:xfrm>
            <a:off x="1481328" y="3785616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024128" y="4005072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</a:t>
            </a:r>
            <a:endParaRPr lang="zh-CN" sz="2000" dirty="0"/>
          </a:p>
        </p:txBody>
      </p:sp>
      <p:sp>
        <p:nvSpPr>
          <p:cNvPr id="19" name="Shape 16"/>
          <p:cNvSpPr/>
          <p:nvPr/>
        </p:nvSpPr>
        <p:spPr>
          <a:xfrm>
            <a:off x="1481328" y="4261104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024128" y="4480560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</a:t>
            </a:r>
            <a:endParaRPr lang="zh-CN" sz="2000" dirty="0"/>
          </a:p>
        </p:txBody>
      </p:sp>
      <p:sp>
        <p:nvSpPr>
          <p:cNvPr id="21" name="Shape 18"/>
          <p:cNvSpPr/>
          <p:nvPr/>
        </p:nvSpPr>
        <p:spPr>
          <a:xfrm>
            <a:off x="1481328" y="4736592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236208" y="2084832"/>
            <a:ext cx="4754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我的摘要：</a:t>
            </a:r>
            <a:endParaRPr lang="zh-CN" sz="2400" dirty="0"/>
          </a:p>
        </p:txBody>
      </p:sp>
      <p:sp>
        <p:nvSpPr>
          <p:cNvPr id="23" name="Text 20"/>
          <p:cNvSpPr/>
          <p:nvPr/>
        </p:nvSpPr>
        <p:spPr>
          <a:xfrm>
            <a:off x="6419088" y="2578608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24" name="Shape 21"/>
          <p:cNvSpPr/>
          <p:nvPr/>
        </p:nvSpPr>
        <p:spPr>
          <a:xfrm>
            <a:off x="6876288" y="2834640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6419088" y="3054096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26" name="Shape 23"/>
          <p:cNvSpPr/>
          <p:nvPr/>
        </p:nvSpPr>
        <p:spPr>
          <a:xfrm>
            <a:off x="6876288" y="3310128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6419088" y="3529584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28" name="Shape 25"/>
          <p:cNvSpPr/>
          <p:nvPr/>
        </p:nvSpPr>
        <p:spPr>
          <a:xfrm>
            <a:off x="6876288" y="3785616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6419088" y="4005072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</a:t>
            </a:r>
            <a:endParaRPr lang="zh-CN" sz="2000" dirty="0"/>
          </a:p>
        </p:txBody>
      </p:sp>
      <p:sp>
        <p:nvSpPr>
          <p:cNvPr id="30" name="Shape 27"/>
          <p:cNvSpPr/>
          <p:nvPr/>
        </p:nvSpPr>
        <p:spPr>
          <a:xfrm>
            <a:off x="6876288" y="4261104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6419088" y="4480560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</a:t>
            </a:r>
            <a:endParaRPr lang="zh-CN" sz="2000" dirty="0"/>
          </a:p>
        </p:txBody>
      </p:sp>
      <p:sp>
        <p:nvSpPr>
          <p:cNvPr id="32" name="Shape 29"/>
          <p:cNvSpPr/>
          <p:nvPr/>
        </p:nvSpPr>
        <p:spPr>
          <a:xfrm>
            <a:off x="6876288" y="4736592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36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P35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短文一：记录练习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1490472"/>
            <a:ext cx="6400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5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短文记录练习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2267712"/>
            <a:ext cx="4754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人物：</a:t>
            </a:r>
            <a:endParaRPr lang="zh-CN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2660904"/>
            <a:ext cx="5486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60120" y="2935224"/>
            <a:ext cx="4754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地点：</a:t>
            </a:r>
            <a:endParaRPr lang="zh-CN" sz="2200" dirty="0"/>
          </a:p>
        </p:txBody>
      </p:sp>
      <p:sp>
        <p:nvSpPr>
          <p:cNvPr id="11" name="Shape 9"/>
          <p:cNvSpPr/>
          <p:nvPr/>
        </p:nvSpPr>
        <p:spPr>
          <a:xfrm>
            <a:off x="960120" y="3328416"/>
            <a:ext cx="5486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0120" y="3602736"/>
            <a:ext cx="4754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事情：</a:t>
            </a:r>
            <a:endParaRPr lang="zh-CN" sz="2200" dirty="0"/>
          </a:p>
        </p:txBody>
      </p:sp>
      <p:sp>
        <p:nvSpPr>
          <p:cNvPr id="13" name="Shape 11"/>
          <p:cNvSpPr/>
          <p:nvPr/>
        </p:nvSpPr>
        <p:spPr>
          <a:xfrm>
            <a:off x="960120" y="3995928"/>
            <a:ext cx="5486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086600" y="1554480"/>
            <a:ext cx="4297680" cy="3611880"/>
          </a:xfrm>
          <a:prstGeom prst="roundRect">
            <a:avLst>
              <a:gd name="adj" fmla="val 2025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45236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我的口语准备</a:t>
            </a:r>
            <a:endParaRPr lang="zh-CN" sz="2500" dirty="0"/>
          </a:p>
        </p:txBody>
      </p:sp>
      <p:sp>
        <p:nvSpPr>
          <p:cNvPr id="16" name="Text 14"/>
          <p:cNvSpPr/>
          <p:nvPr/>
        </p:nvSpPr>
        <p:spPr>
          <a:xfrm>
            <a:off x="7424928" y="2542032"/>
            <a:ext cx="3806952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</a:t>
            </a:r>
            <a:r>
              <a:rPr lang="en-US" altLang="zh-CN" sz="2300" b="1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6-8</a:t>
            </a:r>
            <a:r>
              <a:rPr lang="zh-CN" altLang="en-US" sz="2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句介绍他对北京的印象。</a:t>
            </a:r>
            <a:endParaRPr lang="zh-CN" sz="2300" dirty="0"/>
          </a:p>
        </p:txBody>
      </p:sp>
      <p:sp>
        <p:nvSpPr>
          <p:cNvPr id="17" name="Shape 15"/>
          <p:cNvSpPr/>
          <p:nvPr/>
        </p:nvSpPr>
        <p:spPr>
          <a:xfrm>
            <a:off x="7479792" y="3977640"/>
            <a:ext cx="34747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79792" y="4389120"/>
            <a:ext cx="34747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479792" y="4800600"/>
            <a:ext cx="34747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65836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8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句式</a:t>
            </a:r>
            <a:endParaRPr lang="zh-CN" sz="4800" dirty="0"/>
          </a:p>
        </p:txBody>
      </p:sp>
      <p:sp>
        <p:nvSpPr>
          <p:cNvPr id="6" name="Shape 4"/>
          <p:cNvSpPr/>
          <p:nvPr/>
        </p:nvSpPr>
        <p:spPr>
          <a:xfrm>
            <a:off x="7315200" y="132588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Users/ssyan110/Development/vinh-uni-teaching-assistant/lessons/boya-quasi-intermediate-i/lesson-01/10-design/image-assets-draft/symbolic-sentence-pat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380744"/>
            <a:ext cx="3776472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38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数字 </a:t>
            </a:r>
            <a:r>
              <a:rPr lang="en-US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 年级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131820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例句1：今年我上大学二年级。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639312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例句2：我的语伴是四</a:t>
            </a:r>
            <a:r>
              <a:rPr lang="en-VN" sz="3500" dirty="0">
                <a:latin typeface="Times New Roman"/>
                <a:ea typeface="KaiTi"/>
                <a:cs typeface="Times New Roman"/>
              </a:rPr>
              <a:t>年级</a:t>
            </a:r>
            <a:r>
              <a:rPr sz="3500" dirty="0" err="1">
                <a:latin typeface="Times New Roman"/>
                <a:ea typeface="KaiTi"/>
                <a:cs typeface="Times New Roman"/>
              </a:rPr>
              <a:t>的学生</a:t>
            </a:r>
            <a:r>
              <a:rPr lang="zh-CN" altLang="en-US" sz="3500" dirty="0">
                <a:latin typeface="Times New Roman"/>
                <a:ea typeface="KaiTi"/>
                <a:cs typeface="Times New Roman"/>
              </a:rPr>
              <a:t>。</a:t>
            </a:r>
            <a:endParaRPr sz="3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2F90CE28-8D5D-7078-7832-CDF7A801F6C8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用这个句式写出三句话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39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专业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122676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例句1：我想报考英语专业。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602736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>
                <a:latin typeface="Times New Roman"/>
                <a:ea typeface="KaiTi"/>
                <a:cs typeface="Times New Roman"/>
              </a:rPr>
              <a:t>例句2：我大学学习的专业是金融。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222F11DB-47E0-33CD-8C06-6DF9483B73DA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</a:t>
            </a:r>
            <a:r>
              <a:rPr lang="en-VN" sz="2300" b="1" dirty="0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词</a:t>
            </a: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40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这／那是……的事了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151633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</a:t>
            </a:r>
            <a:r>
              <a:rPr lang="en-VN" sz="3500" dirty="0">
                <a:latin typeface="Times New Roman"/>
                <a:ea typeface="KaiTi"/>
                <a:cs typeface="Times New Roman"/>
              </a:rPr>
              <a:t>这</a:t>
            </a:r>
            <a:r>
              <a:rPr sz="3500" dirty="0" err="1">
                <a:latin typeface="Times New Roman"/>
                <a:ea typeface="KaiTi"/>
                <a:cs typeface="Times New Roman"/>
              </a:rPr>
              <a:t>是过去的事了，别</a:t>
            </a:r>
            <a:r>
              <a:rPr lang="en-VN" sz="3500" dirty="0">
                <a:latin typeface="Times New Roman"/>
                <a:ea typeface="KaiTi"/>
                <a:cs typeface="Times New Roman"/>
              </a:rPr>
              <a:t>再</a:t>
            </a:r>
            <a:r>
              <a:rPr sz="3500" dirty="0" err="1">
                <a:latin typeface="Times New Roman"/>
                <a:ea typeface="KaiTi"/>
                <a:cs typeface="Times New Roman"/>
              </a:rPr>
              <a:t>说了</a:t>
            </a:r>
            <a:r>
              <a:rPr lang="zh-CN" altLang="en-US" sz="3500" dirty="0">
                <a:latin typeface="Times New Roman"/>
                <a:ea typeface="KaiTi"/>
                <a:cs typeface="Times New Roman"/>
              </a:rPr>
              <a:t>。</a:t>
            </a:r>
            <a:endParaRPr sz="3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634232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例句2：我爱哭？那是小时候的事了。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9BB66E3E-A4A0-B86B-8E78-AEEF644D641B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用这个句式写出三句话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41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发现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146045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例句1：我在书包里高兴地发现了100块人民币。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662171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例句2：爸爸吃惊地发现他的工作没了。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640466A6-DC02-BAB0-5AC4-A9593A88FD22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</a:t>
            </a:r>
            <a:r>
              <a:rPr lang="en-VN" sz="2300" b="1" dirty="0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词</a:t>
            </a: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42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15340" y="1261873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35380" y="1536193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到处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058669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例句1：越南的街上到处都是摩托车。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547873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例句2：这里到处都是咖啡店。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9B85DF-CC21-7742-8489-D3D84F50D5A1}"/>
              </a:ext>
            </a:extLst>
          </p:cNvPr>
          <p:cNvSpPr txBox="1"/>
          <p:nvPr/>
        </p:nvSpPr>
        <p:spPr>
          <a:xfrm>
            <a:off x="3055620" y="24853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VN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92D617AB-2896-2F5F-A0D1-C3AB04F19C1E}"/>
              </a:ext>
            </a:extLst>
          </p:cNvPr>
          <p:cNvSpPr/>
          <p:nvPr/>
        </p:nvSpPr>
        <p:spPr>
          <a:xfrm>
            <a:off x="1074420" y="2461262"/>
            <a:ext cx="10058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地方 </a:t>
            </a:r>
            <a:r>
              <a:rPr lang="en-US" altLang="zh-CN" sz="2500" b="1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r>
              <a:rPr lang="zh-CN" altLang="en-US" sz="2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 到处 </a:t>
            </a:r>
            <a:r>
              <a:rPr lang="en-US" altLang="zh-CN" sz="2500" b="1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r>
              <a:rPr lang="zh-CN" altLang="en-US" sz="2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 都</a:t>
            </a:r>
            <a:r>
              <a:rPr lang="vi-VN" altLang="zh-CN" sz="2500" b="1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zh-CN" sz="25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B5EE926D-9903-C302-D20B-8F9C377F8861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</a:t>
            </a:r>
            <a:r>
              <a:rPr lang="en-VN" sz="2300" b="1" dirty="0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词</a:t>
            </a: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43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15340" y="1261873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35380" y="1536193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vi-VN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zh-CN" altLang="vi-VN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又</a:t>
            </a:r>
            <a:r>
              <a:rPr lang="vi-VN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)…, </a:t>
            </a: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又</a:t>
            </a:r>
            <a:r>
              <a:rPr lang="vi-VN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2C5BEBA7-3A51-2C53-53C0-7052FECCCD55}"/>
              </a:ext>
            </a:extLst>
          </p:cNvPr>
          <p:cNvSpPr/>
          <p:nvPr/>
        </p:nvSpPr>
        <p:spPr>
          <a:xfrm>
            <a:off x="1066800" y="2588766"/>
            <a:ext cx="10058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vi-VN" sz="2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同一个人或事物</a:t>
            </a:r>
            <a:r>
              <a:rPr lang="zh-CN" altLang="en-US" sz="2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同时有两个特点，常见用法：</a:t>
            </a:r>
            <a:endParaRPr lang="zh-CN" sz="25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FB4CECB-166A-ECE6-9A4C-A19D33E726DA}"/>
              </a:ext>
            </a:extLst>
          </p:cNvPr>
          <p:cNvSpPr/>
          <p:nvPr/>
        </p:nvSpPr>
        <p:spPr>
          <a:xfrm>
            <a:off x="932688" y="3784090"/>
            <a:ext cx="10058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vi-VN" altLang="zh-CN" sz="4500" b="1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zh-CN" altLang="en-US" sz="4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又</a:t>
            </a:r>
            <a:r>
              <a:rPr lang="vi-VN" altLang="zh-CN" sz="4500" b="1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)…,</a:t>
            </a:r>
            <a:r>
              <a:rPr lang="zh-CN" altLang="vi-VN" sz="4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又</a:t>
            </a:r>
            <a:r>
              <a:rPr lang="vi-VN" altLang="zh-CN" sz="4500" b="1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zh-CN" sz="4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F5C6C-EA63-C530-44F2-C6EF8A8E6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7B5126-F647-50B9-DD7B-CFF90037315A}"/>
              </a:ext>
            </a:extLst>
          </p:cNvPr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A396114-5161-ED76-0E58-71E5E79BBF9C}"/>
              </a:ext>
            </a:extLst>
          </p:cNvPr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975A344-4C7F-3958-5CC8-359E3A58F755}"/>
              </a:ext>
            </a:extLst>
          </p:cNvPr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43">
            <a:extLst>
              <a:ext uri="{FF2B5EF4-FFF2-40B4-BE49-F238E27FC236}">
                <a16:creationId xmlns:a16="http://schemas.microsoft.com/office/drawing/2014/main" id="{F6F3015F-411B-F73A-837F-0CC09FA6C151}"/>
              </a:ext>
            </a:extLst>
          </p:cNvPr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P36</a:t>
            </a:r>
            <a:endParaRPr lang="zh-CN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CAC82E-E2A9-9F95-C715-3F3CAAD1BD35}"/>
              </a:ext>
            </a:extLst>
          </p:cNvPr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C530B9B-EE81-4617-FD4B-8655555467F3}"/>
              </a:ext>
            </a:extLst>
          </p:cNvPr>
          <p:cNvSpPr/>
          <p:nvPr/>
        </p:nvSpPr>
        <p:spPr>
          <a:xfrm>
            <a:off x="815340" y="1261873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C8877C3-8625-872D-AFB5-8DC9452D6505}"/>
              </a:ext>
            </a:extLst>
          </p:cNvPr>
          <p:cNvSpPr/>
          <p:nvPr/>
        </p:nvSpPr>
        <p:spPr>
          <a:xfrm>
            <a:off x="1135380" y="1536193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vi-VN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zh-CN" altLang="vi-VN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又</a:t>
            </a:r>
            <a:r>
              <a:rPr lang="vi-VN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)…, </a:t>
            </a: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又</a:t>
            </a:r>
            <a:r>
              <a:rPr lang="vi-VN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zh-CN" sz="3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A0EAD6E-CDED-CC48-D29A-AED65A093DEE}"/>
              </a:ext>
            </a:extLst>
          </p:cNvPr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DFF5109-4E2B-B09B-AFE7-EA771A768F13}"/>
              </a:ext>
            </a:extLst>
          </p:cNvPr>
          <p:cNvSpPr/>
          <p:nvPr/>
        </p:nvSpPr>
        <p:spPr>
          <a:xfrm>
            <a:off x="914400" y="3086100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</a:t>
            </a:r>
            <a:r>
              <a:rPr lang="en-VN" sz="3500" dirty="0">
                <a:latin typeface="Times New Roman"/>
                <a:ea typeface="KaiTi"/>
                <a:cs typeface="Times New Roman"/>
              </a:rPr>
              <a:t>她聪明</a:t>
            </a:r>
            <a:r>
              <a:rPr lang="zh-CN" altLang="en-US" sz="3500" dirty="0">
                <a:latin typeface="Times New Roman"/>
                <a:ea typeface="Times New Roman"/>
                <a:cs typeface="Times New Roman"/>
              </a:rPr>
              <a:t>，</a:t>
            </a:r>
            <a:r>
              <a:rPr lang="en-VN" sz="3500" dirty="0">
                <a:latin typeface="Times New Roman"/>
                <a:ea typeface="KaiTi"/>
                <a:cs typeface="Times New Roman"/>
              </a:rPr>
              <a:t>又认真</a:t>
            </a:r>
            <a:r>
              <a:rPr lang="zh-CN" altLang="en-US" sz="3500" dirty="0">
                <a:latin typeface="Times New Roman"/>
                <a:ea typeface="KaiTi"/>
                <a:cs typeface="Times New Roman"/>
              </a:rPr>
              <a:t>。</a:t>
            </a:r>
            <a:endParaRPr sz="3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47C6021-DE30-47C2-91EB-24CE374D3623}"/>
              </a:ext>
            </a:extLst>
          </p:cNvPr>
          <p:cNvSpPr/>
          <p:nvPr/>
        </p:nvSpPr>
        <p:spPr>
          <a:xfrm>
            <a:off x="914400" y="3634740"/>
            <a:ext cx="1117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例句2：这家饭馆价钱</a:t>
            </a:r>
            <a:r>
              <a:rPr lang="en-VN" sz="3500" dirty="0">
                <a:latin typeface="Times New Roman"/>
                <a:ea typeface="KaiTi"/>
                <a:cs typeface="Times New Roman"/>
              </a:rPr>
              <a:t>又</a:t>
            </a:r>
            <a:r>
              <a:rPr sz="3500" dirty="0" err="1">
                <a:latin typeface="Times New Roman"/>
                <a:ea typeface="KaiTi"/>
                <a:cs typeface="Times New Roman"/>
              </a:rPr>
              <a:t>便宜，东西又好吃</a:t>
            </a:r>
            <a:r>
              <a:rPr lang="zh-CN" altLang="en-US" sz="3500" dirty="0">
                <a:latin typeface="Times New Roman"/>
                <a:ea typeface="KaiTi"/>
                <a:cs typeface="Times New Roman"/>
              </a:rPr>
              <a:t>。</a:t>
            </a:r>
            <a:endParaRPr sz="3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400D90C-A9AA-1960-A66D-7D030E62B968}"/>
              </a:ext>
            </a:extLst>
          </p:cNvPr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64D842A-E9DB-064E-5C97-8DD12F46272C}"/>
              </a:ext>
            </a:extLst>
          </p:cNvPr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97A0E1C-110D-2C7C-3A3A-28EA80774504}"/>
              </a:ext>
            </a:extLst>
          </p:cNvPr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43C3D7B-09E5-4FDE-821E-20DF3A5C2062}"/>
              </a:ext>
            </a:extLst>
          </p:cNvPr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EA06653-3CDA-E92B-8E7F-4F4DA2406060}"/>
              </a:ext>
            </a:extLst>
          </p:cNvPr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115EFB0-4BC0-E809-A75E-BDBE67739656}"/>
              </a:ext>
            </a:extLst>
          </p:cNvPr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76D86AC-2517-6E52-236E-09E9B0B3C57D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用这个句式写出三句话</a:t>
            </a:r>
            <a:endParaRPr lang="zh-CN" sz="2300" dirty="0"/>
          </a:p>
        </p:txBody>
      </p:sp>
    </p:spTree>
    <p:extLst>
      <p:ext uri="{BB962C8B-B14F-4D97-AF65-F5344CB8AC3E}">
        <p14:creationId xmlns:p14="http://schemas.microsoft.com/office/powerpoint/2010/main" val="1697586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65836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8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短文（二）</a:t>
            </a:r>
            <a:endParaRPr lang="zh-CN" sz="4800" dirty="0"/>
          </a:p>
        </p:txBody>
      </p:sp>
      <p:sp>
        <p:nvSpPr>
          <p:cNvPr id="6" name="Shape 4"/>
          <p:cNvSpPr/>
          <p:nvPr/>
        </p:nvSpPr>
        <p:spPr>
          <a:xfrm>
            <a:off x="7315200" y="132588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Users/ssyan110/Development/vinh-uni-teaching-assistant/lessons/boya-quasi-intermediate-i/lesson-01/10-design/image-assets-draft/divider-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380744"/>
            <a:ext cx="3776472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45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P36–37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学习内容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9528048" y="877824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EA927E"/>
          </a:solidFill>
          <a:ln w="12700">
            <a:solidFill>
              <a:srgbClr val="EA92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619488" y="1005840"/>
            <a:ext cx="12618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FFFDF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4-5</a:t>
            </a:r>
            <a:endParaRPr lang="en-US" sz="2000" dirty="0"/>
          </a:p>
        </p:txBody>
      </p:sp>
      <p:pic>
        <p:nvPicPr>
          <p:cNvPr id="9" name="音频 4-5 播放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18520" y="914400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1444752"/>
            <a:ext cx="10058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先听音档 4-5，再写本课要求的简单摘要。</a:t>
            </a:r>
            <a:endParaRPr lang="zh-CN" sz="2500" dirty="0"/>
          </a:p>
        </p:txBody>
      </p:sp>
      <p:sp>
        <p:nvSpPr>
          <p:cNvPr id="11" name="Text 8"/>
          <p:cNvSpPr/>
          <p:nvPr/>
        </p:nvSpPr>
        <p:spPr>
          <a:xfrm>
            <a:off x="841248" y="2084832"/>
            <a:ext cx="5029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记录听不懂的地方：</a:t>
            </a:r>
            <a:endParaRPr lang="zh-CN" sz="2400" dirty="0"/>
          </a:p>
        </p:txBody>
      </p:sp>
      <p:sp>
        <p:nvSpPr>
          <p:cNvPr id="12" name="Text 9"/>
          <p:cNvSpPr/>
          <p:nvPr/>
        </p:nvSpPr>
        <p:spPr>
          <a:xfrm>
            <a:off x="1024128" y="2578608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3" name="Shape 10"/>
          <p:cNvSpPr/>
          <p:nvPr/>
        </p:nvSpPr>
        <p:spPr>
          <a:xfrm>
            <a:off x="1481328" y="2834640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024128" y="3054096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5" name="Shape 12"/>
          <p:cNvSpPr/>
          <p:nvPr/>
        </p:nvSpPr>
        <p:spPr>
          <a:xfrm>
            <a:off x="1481328" y="3310128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024128" y="3529584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7" name="Shape 14"/>
          <p:cNvSpPr/>
          <p:nvPr/>
        </p:nvSpPr>
        <p:spPr>
          <a:xfrm>
            <a:off x="1481328" y="3785616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024128" y="4005072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</a:t>
            </a:r>
            <a:endParaRPr lang="zh-CN" sz="2000" dirty="0"/>
          </a:p>
        </p:txBody>
      </p:sp>
      <p:sp>
        <p:nvSpPr>
          <p:cNvPr id="19" name="Shape 16"/>
          <p:cNvSpPr/>
          <p:nvPr/>
        </p:nvSpPr>
        <p:spPr>
          <a:xfrm>
            <a:off x="1481328" y="4261104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024128" y="4480560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</a:t>
            </a:r>
            <a:endParaRPr lang="zh-CN" sz="2000" dirty="0"/>
          </a:p>
        </p:txBody>
      </p:sp>
      <p:sp>
        <p:nvSpPr>
          <p:cNvPr id="21" name="Shape 18"/>
          <p:cNvSpPr/>
          <p:nvPr/>
        </p:nvSpPr>
        <p:spPr>
          <a:xfrm>
            <a:off x="1481328" y="4736592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236208" y="2084832"/>
            <a:ext cx="4754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我的摘要：</a:t>
            </a:r>
            <a:endParaRPr lang="zh-CN" sz="2400" dirty="0"/>
          </a:p>
        </p:txBody>
      </p:sp>
      <p:sp>
        <p:nvSpPr>
          <p:cNvPr id="23" name="Text 20"/>
          <p:cNvSpPr/>
          <p:nvPr/>
        </p:nvSpPr>
        <p:spPr>
          <a:xfrm>
            <a:off x="6419088" y="2578608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24" name="Shape 21"/>
          <p:cNvSpPr/>
          <p:nvPr/>
        </p:nvSpPr>
        <p:spPr>
          <a:xfrm>
            <a:off x="6876288" y="2834640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6419088" y="3054096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26" name="Shape 23"/>
          <p:cNvSpPr/>
          <p:nvPr/>
        </p:nvSpPr>
        <p:spPr>
          <a:xfrm>
            <a:off x="6876288" y="3310128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6419088" y="3529584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28" name="Shape 25"/>
          <p:cNvSpPr/>
          <p:nvPr/>
        </p:nvSpPr>
        <p:spPr>
          <a:xfrm>
            <a:off x="6876288" y="3785616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6419088" y="4005072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</a:t>
            </a:r>
            <a:endParaRPr lang="zh-CN" sz="2000" dirty="0"/>
          </a:p>
        </p:txBody>
      </p:sp>
      <p:sp>
        <p:nvSpPr>
          <p:cNvPr id="30" name="Shape 27"/>
          <p:cNvSpPr/>
          <p:nvPr/>
        </p:nvSpPr>
        <p:spPr>
          <a:xfrm>
            <a:off x="6876288" y="4261104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6419088" y="4480560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</a:t>
            </a:r>
            <a:endParaRPr lang="zh-CN" sz="2000" dirty="0"/>
          </a:p>
        </p:txBody>
      </p:sp>
      <p:sp>
        <p:nvSpPr>
          <p:cNvPr id="32" name="Shape 29"/>
          <p:cNvSpPr/>
          <p:nvPr/>
        </p:nvSpPr>
        <p:spPr>
          <a:xfrm>
            <a:off x="6876288" y="4736592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46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P37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短文二：记录练习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1490472"/>
            <a:ext cx="6400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5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短文记录练习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2267712"/>
            <a:ext cx="4754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人物：</a:t>
            </a:r>
            <a:endParaRPr lang="zh-CN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2660904"/>
            <a:ext cx="5486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60120" y="2935224"/>
            <a:ext cx="4754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地点：</a:t>
            </a:r>
            <a:endParaRPr lang="zh-CN" sz="2200" dirty="0"/>
          </a:p>
        </p:txBody>
      </p:sp>
      <p:sp>
        <p:nvSpPr>
          <p:cNvPr id="11" name="Shape 9"/>
          <p:cNvSpPr/>
          <p:nvPr/>
        </p:nvSpPr>
        <p:spPr>
          <a:xfrm>
            <a:off x="960120" y="3328416"/>
            <a:ext cx="5486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0120" y="3602736"/>
            <a:ext cx="4754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事情：</a:t>
            </a:r>
            <a:endParaRPr lang="zh-CN" sz="2200" dirty="0"/>
          </a:p>
        </p:txBody>
      </p:sp>
      <p:sp>
        <p:nvSpPr>
          <p:cNvPr id="13" name="Shape 11"/>
          <p:cNvSpPr/>
          <p:nvPr/>
        </p:nvSpPr>
        <p:spPr>
          <a:xfrm>
            <a:off x="960120" y="3995928"/>
            <a:ext cx="5486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086600" y="1554480"/>
            <a:ext cx="4297680" cy="3611880"/>
          </a:xfrm>
          <a:prstGeom prst="roundRect">
            <a:avLst>
              <a:gd name="adj" fmla="val 2025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45236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我的口语准备</a:t>
            </a:r>
            <a:endParaRPr lang="zh-CN" sz="2500" dirty="0"/>
          </a:p>
        </p:txBody>
      </p:sp>
      <p:sp>
        <p:nvSpPr>
          <p:cNvPr id="16" name="Text 14"/>
          <p:cNvSpPr/>
          <p:nvPr/>
        </p:nvSpPr>
        <p:spPr>
          <a:xfrm>
            <a:off x="7424928" y="2542032"/>
            <a:ext cx="36118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zh-CN" sz="2300" dirty="0"/>
          </a:p>
        </p:txBody>
      </p:sp>
      <p:sp>
        <p:nvSpPr>
          <p:cNvPr id="17" name="Shape 15"/>
          <p:cNvSpPr/>
          <p:nvPr/>
        </p:nvSpPr>
        <p:spPr>
          <a:xfrm>
            <a:off x="7479792" y="3977640"/>
            <a:ext cx="34747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79792" y="4389120"/>
            <a:ext cx="34747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479792" y="4800600"/>
            <a:ext cx="34747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7F6998B8-0728-BB6D-9013-4C068CD39602}"/>
              </a:ext>
            </a:extLst>
          </p:cNvPr>
          <p:cNvSpPr/>
          <p:nvPr/>
        </p:nvSpPr>
        <p:spPr>
          <a:xfrm>
            <a:off x="7424928" y="2542032"/>
            <a:ext cx="3806952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</a:t>
            </a:r>
            <a:r>
              <a:rPr lang="en-US" altLang="zh-CN" sz="2300" b="1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6-8</a:t>
            </a:r>
            <a:r>
              <a:rPr lang="zh-CN" altLang="en-US" sz="2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句介绍他的学习内容。</a:t>
            </a:r>
            <a:endParaRPr lang="zh-CN" sz="2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65836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8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句式</a:t>
            </a:r>
            <a:endParaRPr lang="zh-CN" sz="4800" dirty="0"/>
          </a:p>
        </p:txBody>
      </p:sp>
      <p:sp>
        <p:nvSpPr>
          <p:cNvPr id="6" name="Shape 4"/>
          <p:cNvSpPr/>
          <p:nvPr/>
        </p:nvSpPr>
        <p:spPr>
          <a:xfrm>
            <a:off x="7315200" y="132588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Users/ssyan110/Development/vinh-uni-teaching-assistant/lessons/boya-quasi-intermediate-i/lesson-01/10-design/image-assets-draft/symbolic-sentence-pat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380744"/>
            <a:ext cx="3776472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48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P37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15340" y="1246635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35380" y="1520955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通常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207259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例句1：周末我和同学通常去咖啡店学习。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680461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例句2：我通常晚上十点睡觉。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513B706C-ACEE-F1A6-34A0-027EBAD33761}"/>
              </a:ext>
            </a:extLst>
          </p:cNvPr>
          <p:cNvSpPr/>
          <p:nvPr/>
        </p:nvSpPr>
        <p:spPr>
          <a:xfrm>
            <a:off x="1051560" y="2526790"/>
            <a:ext cx="10058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大部分的时候是这样，但不是每次都这样。</a:t>
            </a:r>
            <a:endParaRPr lang="zh-CN" sz="25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87A6A2B0-BA4D-20CD-16C7-4C65267B2382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</a:t>
            </a:r>
            <a:r>
              <a:rPr lang="en-VN" sz="2300" b="1" dirty="0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词</a:t>
            </a: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49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P37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既……又……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085084"/>
            <a:ext cx="10652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000" dirty="0">
                <a:latin typeface="Times New Roman"/>
                <a:ea typeface="KaiTi"/>
                <a:cs typeface="Times New Roman"/>
              </a:rPr>
              <a:t>例句1：看中文电影既可以练习听力，又可以知道有趣的事情。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104698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000" dirty="0">
                <a:latin typeface="Times New Roman"/>
                <a:ea typeface="KaiTi"/>
                <a:cs typeface="Times New Roman"/>
              </a:rPr>
              <a:t>例句2：来学校上课既可以交朋友，又可以学新的东西。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54AD36F4-3957-481A-3F35-7E98D7C26075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用这个句式写出三句话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50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P37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不过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181098"/>
            <a:ext cx="101041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例句1：我说中文说得很流利，不过发音还不太好。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662171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例句2：我想转学，不过我不知道选哪个学校。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7D98C93C-CDDB-2369-D7A6-25465DC9A5CC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</a:t>
            </a:r>
            <a:r>
              <a:rPr lang="en-VN" sz="2300" b="1" dirty="0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词</a:t>
            </a: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51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P37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决定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159251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例句1：我决定利用暑假去实习。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648456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例句2：我觉得英语太难了，所以我决定学汉语。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7CA8C81-377A-C8CB-E505-E27AFEE92D00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</a:t>
            </a:r>
            <a:r>
              <a:rPr lang="en-VN" sz="2300" b="1" dirty="0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词</a:t>
            </a: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52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P37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加倍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207006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例句1：快放假了，我得加倍努力工作。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680461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例句2：我们要加倍珍惜大学时光。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90FB37A8-41B8-1817-2DD2-EED0DC7A43C0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</a:t>
            </a:r>
            <a:r>
              <a:rPr lang="en-VN" sz="2300" b="1" dirty="0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词</a:t>
            </a: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65836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8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短文（三）</a:t>
            </a:r>
            <a:endParaRPr lang="zh-CN" sz="4800" dirty="0"/>
          </a:p>
        </p:txBody>
      </p:sp>
      <p:sp>
        <p:nvSpPr>
          <p:cNvPr id="6" name="Shape 4"/>
          <p:cNvSpPr/>
          <p:nvPr/>
        </p:nvSpPr>
        <p:spPr>
          <a:xfrm>
            <a:off x="7315200" y="132588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Users/ssyan110/Development/vinh-uni-teaching-assistant/lessons/boya-quasi-intermediate-i/lesson-01/10-design/image-assets-draft/divider-hobb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380744"/>
            <a:ext cx="3776472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54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P38–39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在中国学汉语和在本国学汉语的异同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9528048" y="877824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EA927E"/>
          </a:solidFill>
          <a:ln w="12700">
            <a:solidFill>
              <a:srgbClr val="EA92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619488" y="1005840"/>
            <a:ext cx="12618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FFFDF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4-6</a:t>
            </a:r>
            <a:endParaRPr lang="en-US" sz="2000" dirty="0"/>
          </a:p>
        </p:txBody>
      </p:sp>
      <p:pic>
        <p:nvPicPr>
          <p:cNvPr id="9" name="音频 4-6 播放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18520" y="914400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1444752"/>
            <a:ext cx="10058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先听音档 4-6，再写本课要求的简单摘要。</a:t>
            </a:r>
            <a:endParaRPr lang="zh-CN" sz="2500" dirty="0"/>
          </a:p>
        </p:txBody>
      </p:sp>
      <p:sp>
        <p:nvSpPr>
          <p:cNvPr id="11" name="Text 8"/>
          <p:cNvSpPr/>
          <p:nvPr/>
        </p:nvSpPr>
        <p:spPr>
          <a:xfrm>
            <a:off x="841248" y="2084832"/>
            <a:ext cx="5029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记录听不懂的地方：</a:t>
            </a:r>
            <a:endParaRPr lang="zh-CN" sz="2400" dirty="0"/>
          </a:p>
        </p:txBody>
      </p:sp>
      <p:sp>
        <p:nvSpPr>
          <p:cNvPr id="12" name="Text 9"/>
          <p:cNvSpPr/>
          <p:nvPr/>
        </p:nvSpPr>
        <p:spPr>
          <a:xfrm>
            <a:off x="1024128" y="2578608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3" name="Shape 10"/>
          <p:cNvSpPr/>
          <p:nvPr/>
        </p:nvSpPr>
        <p:spPr>
          <a:xfrm>
            <a:off x="1481328" y="2834640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024128" y="3054096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5" name="Shape 12"/>
          <p:cNvSpPr/>
          <p:nvPr/>
        </p:nvSpPr>
        <p:spPr>
          <a:xfrm>
            <a:off x="1481328" y="3310128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024128" y="3529584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7" name="Shape 14"/>
          <p:cNvSpPr/>
          <p:nvPr/>
        </p:nvSpPr>
        <p:spPr>
          <a:xfrm>
            <a:off x="1481328" y="3785616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024128" y="4005072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</a:t>
            </a:r>
            <a:endParaRPr lang="zh-CN" sz="2000" dirty="0"/>
          </a:p>
        </p:txBody>
      </p:sp>
      <p:sp>
        <p:nvSpPr>
          <p:cNvPr id="19" name="Shape 16"/>
          <p:cNvSpPr/>
          <p:nvPr/>
        </p:nvSpPr>
        <p:spPr>
          <a:xfrm>
            <a:off x="1481328" y="4261104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024128" y="4480560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</a:t>
            </a:r>
            <a:endParaRPr lang="zh-CN" sz="2000" dirty="0"/>
          </a:p>
        </p:txBody>
      </p:sp>
      <p:sp>
        <p:nvSpPr>
          <p:cNvPr id="21" name="Shape 18"/>
          <p:cNvSpPr/>
          <p:nvPr/>
        </p:nvSpPr>
        <p:spPr>
          <a:xfrm>
            <a:off x="1481328" y="4736592"/>
            <a:ext cx="4343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236208" y="2084832"/>
            <a:ext cx="4754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我的摘要：</a:t>
            </a:r>
            <a:endParaRPr lang="zh-CN" sz="2400" dirty="0"/>
          </a:p>
        </p:txBody>
      </p:sp>
      <p:sp>
        <p:nvSpPr>
          <p:cNvPr id="23" name="Text 20"/>
          <p:cNvSpPr/>
          <p:nvPr/>
        </p:nvSpPr>
        <p:spPr>
          <a:xfrm>
            <a:off x="6419088" y="2578608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24" name="Shape 21"/>
          <p:cNvSpPr/>
          <p:nvPr/>
        </p:nvSpPr>
        <p:spPr>
          <a:xfrm>
            <a:off x="6876288" y="2834640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6419088" y="3054096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26" name="Shape 23"/>
          <p:cNvSpPr/>
          <p:nvPr/>
        </p:nvSpPr>
        <p:spPr>
          <a:xfrm>
            <a:off x="6876288" y="3310128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6419088" y="3529584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28" name="Shape 25"/>
          <p:cNvSpPr/>
          <p:nvPr/>
        </p:nvSpPr>
        <p:spPr>
          <a:xfrm>
            <a:off x="6876288" y="3785616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6419088" y="4005072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</a:t>
            </a:r>
            <a:endParaRPr lang="zh-CN" sz="2000" dirty="0"/>
          </a:p>
        </p:txBody>
      </p:sp>
      <p:sp>
        <p:nvSpPr>
          <p:cNvPr id="30" name="Shape 27"/>
          <p:cNvSpPr/>
          <p:nvPr/>
        </p:nvSpPr>
        <p:spPr>
          <a:xfrm>
            <a:off x="6876288" y="4261104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6419088" y="4480560"/>
            <a:ext cx="3474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</a:t>
            </a:r>
            <a:endParaRPr lang="zh-CN" sz="2000" dirty="0"/>
          </a:p>
        </p:txBody>
      </p:sp>
      <p:sp>
        <p:nvSpPr>
          <p:cNvPr id="32" name="Shape 29"/>
          <p:cNvSpPr/>
          <p:nvPr/>
        </p:nvSpPr>
        <p:spPr>
          <a:xfrm>
            <a:off x="6876288" y="4736592"/>
            <a:ext cx="41605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55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P39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短文三：记录练习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1490472"/>
            <a:ext cx="6400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5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短文记录练习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2267712"/>
            <a:ext cx="4754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人物：</a:t>
            </a:r>
            <a:endParaRPr lang="zh-CN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2660904"/>
            <a:ext cx="5486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60120" y="2935224"/>
            <a:ext cx="4754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地点：</a:t>
            </a:r>
            <a:endParaRPr lang="zh-CN" sz="2200" dirty="0"/>
          </a:p>
        </p:txBody>
      </p:sp>
      <p:sp>
        <p:nvSpPr>
          <p:cNvPr id="11" name="Shape 9"/>
          <p:cNvSpPr/>
          <p:nvPr/>
        </p:nvSpPr>
        <p:spPr>
          <a:xfrm>
            <a:off x="960120" y="3328416"/>
            <a:ext cx="5486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0120" y="3602736"/>
            <a:ext cx="4754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事情：</a:t>
            </a:r>
            <a:endParaRPr lang="zh-CN" sz="2200" dirty="0"/>
          </a:p>
        </p:txBody>
      </p:sp>
      <p:sp>
        <p:nvSpPr>
          <p:cNvPr id="13" name="Shape 11"/>
          <p:cNvSpPr/>
          <p:nvPr/>
        </p:nvSpPr>
        <p:spPr>
          <a:xfrm>
            <a:off x="960120" y="3995928"/>
            <a:ext cx="54864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086600" y="1554480"/>
            <a:ext cx="4297680" cy="3611880"/>
          </a:xfrm>
          <a:prstGeom prst="roundRect">
            <a:avLst>
              <a:gd name="adj" fmla="val 2025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45236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我的口语准备</a:t>
            </a:r>
            <a:endParaRPr lang="zh-CN" sz="2500" dirty="0"/>
          </a:p>
        </p:txBody>
      </p:sp>
      <p:sp>
        <p:nvSpPr>
          <p:cNvPr id="16" name="Text 14"/>
          <p:cNvSpPr/>
          <p:nvPr/>
        </p:nvSpPr>
        <p:spPr>
          <a:xfrm>
            <a:off x="7424928" y="2542032"/>
            <a:ext cx="36118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zh-CN" sz="2300" dirty="0"/>
          </a:p>
        </p:txBody>
      </p:sp>
      <p:sp>
        <p:nvSpPr>
          <p:cNvPr id="17" name="Shape 15"/>
          <p:cNvSpPr/>
          <p:nvPr/>
        </p:nvSpPr>
        <p:spPr>
          <a:xfrm>
            <a:off x="7479792" y="3977640"/>
            <a:ext cx="34747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79792" y="4389120"/>
            <a:ext cx="34747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479792" y="4800600"/>
            <a:ext cx="34747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FCD11077-B3D6-87C7-936B-31BFDBE677DB}"/>
              </a:ext>
            </a:extLst>
          </p:cNvPr>
          <p:cNvSpPr/>
          <p:nvPr/>
        </p:nvSpPr>
        <p:spPr>
          <a:xfrm>
            <a:off x="7424928" y="2542032"/>
            <a:ext cx="3806952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</a:t>
            </a:r>
            <a:r>
              <a:rPr lang="en-US" altLang="zh-CN" sz="2300" b="1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6-8</a:t>
            </a:r>
            <a:r>
              <a:rPr lang="zh-CN" altLang="en-US" sz="2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句介绍他说的内容。</a:t>
            </a:r>
            <a:endParaRPr lang="zh-CN" sz="2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65836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8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句式</a:t>
            </a:r>
            <a:endParaRPr lang="zh-CN" sz="4800" dirty="0"/>
          </a:p>
        </p:txBody>
      </p:sp>
      <p:sp>
        <p:nvSpPr>
          <p:cNvPr id="6" name="Shape 4"/>
          <p:cNvSpPr/>
          <p:nvPr/>
        </p:nvSpPr>
        <p:spPr>
          <a:xfrm>
            <a:off x="7315200" y="132588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Users/ssyan110/Development/vinh-uni-teaching-assistant/lessons/boya-quasi-intermediate-i/lesson-01/10-design/image-assets-draft/symbolic-sentence-pat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380744"/>
            <a:ext cx="3776472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57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P39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时间</a:t>
            </a:r>
            <a:r>
              <a:rPr lang="en-US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数量 </a:t>
            </a:r>
            <a:r>
              <a:rPr lang="en-US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 左右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088132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例句1：大家每天都花两个小时左右学习中文。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589020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>
                <a:latin typeface="Times New Roman"/>
                <a:ea typeface="KaiTi"/>
                <a:cs typeface="Times New Roman"/>
              </a:rPr>
              <a:t>例句2：今天我们要写一篇100字左右的短文。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7900AD1E-2B5C-01D1-AFB8-9FEA92BC15E9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用这个句式写出三句话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58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P39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只有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145537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例句1：今天太冷了，班上只有5名学生来上课。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648456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>
                <a:latin typeface="Times New Roman"/>
                <a:ea typeface="KaiTi"/>
                <a:cs typeface="Times New Roman"/>
              </a:rPr>
              <a:t>例句2：丽丽每个星期只上15节课。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1E213AB0-FA9A-D881-2B03-1D5682ACCFC7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</a:t>
            </a:r>
            <a:r>
              <a:rPr lang="en-VN" sz="2300" b="1" dirty="0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词</a:t>
            </a: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59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P39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另</a:t>
            </a:r>
            <a:r>
              <a:rPr lang="vi-VN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外</a:t>
            </a:r>
            <a:r>
              <a:rPr lang="vi-VN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159251"/>
            <a:ext cx="105613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000" dirty="0">
                <a:latin typeface="Times New Roman"/>
                <a:ea typeface="KaiTi"/>
                <a:cs typeface="Times New Roman"/>
              </a:rPr>
              <a:t>例句1：老师只教两门课，一门是写作课，另外一门是听说课。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662171"/>
            <a:ext cx="105613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000" dirty="0">
                <a:latin typeface="Times New Roman"/>
                <a:ea typeface="KaiTi"/>
                <a:cs typeface="Times New Roman"/>
              </a:rPr>
              <a:t>例句2：我有两个好朋友，一名是越南人，另一名是中国人。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97BFD8B4-1FF4-EE54-F64E-FB812AF10553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</a:t>
            </a:r>
            <a:r>
              <a:rPr lang="en-VN" sz="2300" b="1" dirty="0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词</a:t>
            </a: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60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P39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15340" y="109728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 lang="en-VN" dirty="0"/>
          </a:p>
        </p:txBody>
      </p:sp>
      <p:sp>
        <p:nvSpPr>
          <p:cNvPr id="8" name="Text 6"/>
          <p:cNvSpPr/>
          <p:nvPr/>
        </p:nvSpPr>
        <p:spPr>
          <a:xfrm>
            <a:off x="1135380" y="137160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动词 </a:t>
            </a:r>
            <a:r>
              <a:rPr lang="en-US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 上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E5AB9498-5655-4C4D-DF15-A56031AB196A}"/>
              </a:ext>
            </a:extLst>
          </p:cNvPr>
          <p:cNvSpPr/>
          <p:nvPr/>
        </p:nvSpPr>
        <p:spPr>
          <a:xfrm>
            <a:off x="1043940" y="2313432"/>
            <a:ext cx="10058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成功做到或达到结果</a:t>
            </a:r>
            <a:endParaRPr lang="zh-CN" sz="25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CBEEE5E-D0B8-A2BD-9668-BCBD586E6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218243"/>
              </p:ext>
            </p:extLst>
          </p:nvPr>
        </p:nvGraphicFramePr>
        <p:xfrm>
          <a:off x="838200" y="2889504"/>
          <a:ext cx="10515600" cy="3489228"/>
        </p:xfrm>
        <a:graphic>
          <a:graphicData uri="http://schemas.openxmlformats.org/drawingml/2006/table">
            <a:tbl>
              <a:tblPr/>
              <a:tblGrid>
                <a:gridCol w="2250440">
                  <a:extLst>
                    <a:ext uri="{9D8B030D-6E8A-4147-A177-3AD203B41FA5}">
                      <a16:colId xmlns:a16="http://schemas.microsoft.com/office/drawing/2014/main" val="3623730780"/>
                    </a:ext>
                  </a:extLst>
                </a:gridCol>
                <a:gridCol w="3180080">
                  <a:extLst>
                    <a:ext uri="{9D8B030D-6E8A-4147-A177-3AD203B41FA5}">
                      <a16:colId xmlns:a16="http://schemas.microsoft.com/office/drawing/2014/main" val="22660407"/>
                    </a:ext>
                  </a:extLst>
                </a:gridCol>
                <a:gridCol w="5085080">
                  <a:extLst>
                    <a:ext uri="{9D8B030D-6E8A-4147-A177-3AD203B41FA5}">
                      <a16:colId xmlns:a16="http://schemas.microsoft.com/office/drawing/2014/main" val="2439884702"/>
                    </a:ext>
                  </a:extLst>
                </a:gridCol>
              </a:tblGrid>
              <a:tr h="5815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1" dirty="0">
                          <a:latin typeface="Times New Roman"/>
                          <a:ea typeface="KaiTi"/>
                          <a:cs typeface="Times New Roman"/>
                        </a:rPr>
                        <a:t>动词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1" dirty="0">
                          <a:latin typeface="Times New Roman"/>
                          <a:ea typeface="KaiTi"/>
                          <a:cs typeface="Times New Roman"/>
                        </a:rPr>
                        <a:t>动词 </a:t>
                      </a:r>
                      <a:r>
                        <a:rPr lang="en-US" altLang="zh-CN" sz="3000" b="1" dirty="0">
                          <a:latin typeface="Times New Roman"/>
                          <a:ea typeface="Times New Roman"/>
                          <a:cs typeface="Times New Roman"/>
                        </a:rPr>
                        <a:t>+ </a:t>
                      </a:r>
                      <a:r>
                        <a:rPr lang="zh-CN" altLang="en-US" sz="3000" b="1" dirty="0">
                          <a:latin typeface="Times New Roman"/>
                          <a:ea typeface="KaiTi"/>
                          <a:cs typeface="Times New Roman"/>
                        </a:rPr>
                        <a:t>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1" dirty="0">
                          <a:latin typeface="Times New Roman"/>
                          <a:ea typeface="KaiTi"/>
                          <a:cs typeface="Times New Roman"/>
                        </a:rPr>
                        <a:t>意思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784671"/>
                  </a:ext>
                </a:extLst>
              </a:tr>
              <a:tr h="5815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dirty="0">
                          <a:latin typeface="Times New Roman"/>
                          <a:ea typeface="KaiTi"/>
                          <a:cs typeface="Times New Roman"/>
                        </a:rPr>
                        <a:t>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dirty="0">
                          <a:latin typeface="Times New Roman"/>
                          <a:ea typeface="KaiTi"/>
                          <a:cs typeface="Times New Roman"/>
                        </a:rPr>
                        <a:t>考上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000" dirty="0">
                          <a:latin typeface="Times New Roman"/>
                          <a:ea typeface="KaiTi"/>
                          <a:cs typeface="Times New Roman"/>
                        </a:rPr>
                        <a:t>考试成功，进入学校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731299"/>
                  </a:ext>
                </a:extLst>
              </a:tr>
              <a:tr h="5815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dirty="0">
                          <a:latin typeface="Times New Roman"/>
                          <a:ea typeface="KaiTi"/>
                          <a:cs typeface="Times New Roman"/>
                        </a:rPr>
                        <a:t>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dirty="0">
                          <a:latin typeface="Times New Roman"/>
                          <a:ea typeface="KaiTi"/>
                          <a:cs typeface="Times New Roman"/>
                        </a:rPr>
                        <a:t>找上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000" dirty="0">
                          <a:latin typeface="Times New Roman"/>
                          <a:ea typeface="KaiTi"/>
                          <a:cs typeface="Times New Roman"/>
                        </a:rPr>
                        <a:t>找到并联系到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201458"/>
                  </a:ext>
                </a:extLst>
              </a:tr>
              <a:tr h="5815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>
                          <a:latin typeface="Times New Roman"/>
                          <a:ea typeface="KaiTi"/>
                          <a:cs typeface="Times New Roman"/>
                        </a:rPr>
                        <a:t>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dirty="0">
                          <a:latin typeface="Times New Roman"/>
                          <a:ea typeface="KaiTi"/>
                          <a:cs typeface="Times New Roman"/>
                        </a:rPr>
                        <a:t>赶上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000" dirty="0">
                          <a:latin typeface="Times New Roman"/>
                          <a:ea typeface="KaiTi"/>
                          <a:cs typeface="Times New Roman"/>
                        </a:rPr>
                        <a:t>来得及，没有错过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226158"/>
                  </a:ext>
                </a:extLst>
              </a:tr>
              <a:tr h="5815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>
                          <a:latin typeface="Times New Roman"/>
                          <a:ea typeface="KaiTi"/>
                          <a:cs typeface="Times New Roman"/>
                        </a:rPr>
                        <a:t>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dirty="0">
                          <a:latin typeface="Times New Roman"/>
                          <a:ea typeface="KaiTi"/>
                          <a:cs typeface="Times New Roman"/>
                        </a:rPr>
                        <a:t>买上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000" dirty="0">
                          <a:latin typeface="Times New Roman"/>
                          <a:ea typeface="KaiTi"/>
                          <a:cs typeface="Times New Roman"/>
                        </a:rPr>
                        <a:t>成功买到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2238"/>
                  </a:ext>
                </a:extLst>
              </a:tr>
              <a:tr h="5815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dirty="0">
                          <a:latin typeface="Times New Roman"/>
                          <a:ea typeface="KaiTi"/>
                          <a:cs typeface="Times New Roman"/>
                        </a:rPr>
                        <a:t>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dirty="0">
                          <a:latin typeface="Times New Roman"/>
                          <a:ea typeface="KaiTi"/>
                          <a:cs typeface="Times New Roman"/>
                        </a:rPr>
                        <a:t>用上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000" dirty="0">
                          <a:latin typeface="Times New Roman"/>
                          <a:ea typeface="KaiTi"/>
                          <a:cs typeface="Times New Roman"/>
                        </a:rPr>
                        <a:t>开始使用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4218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9D406B-6C6A-9521-0593-120637145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6E58E0-1508-9CEC-13E1-3EB53FB9AC00}"/>
              </a:ext>
            </a:extLst>
          </p:cNvPr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ECDD65-6D30-7E17-D32F-CC6EE2A6E522}"/>
              </a:ext>
            </a:extLst>
          </p:cNvPr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63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CE49A6-73BD-94EC-D116-56D770663D7C}"/>
              </a:ext>
            </a:extLst>
          </p:cNvPr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60">
            <a:extLst>
              <a:ext uri="{FF2B5EF4-FFF2-40B4-BE49-F238E27FC236}">
                <a16:creationId xmlns:a16="http://schemas.microsoft.com/office/drawing/2014/main" id="{4AD4CF6E-5532-CE0E-8FE0-305CCD6191F9}"/>
              </a:ext>
            </a:extLst>
          </p:cNvPr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P39</a:t>
            </a:r>
            <a:endParaRPr lang="zh-CN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9B6DE92-7B5C-4FDD-DAF2-2216138E4081}"/>
              </a:ext>
            </a:extLst>
          </p:cNvPr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674D2A8-A9E3-7FEF-FF1B-F3498C3E08AA}"/>
              </a:ext>
            </a:extLst>
          </p:cNvPr>
          <p:cNvSpPr/>
          <p:nvPr/>
        </p:nvSpPr>
        <p:spPr>
          <a:xfrm>
            <a:off x="822960" y="150876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 lang="en-VN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74AB7B7-4568-B17E-478E-25A3FDF746B8}"/>
              </a:ext>
            </a:extLst>
          </p:cNvPr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动词 </a:t>
            </a:r>
            <a:r>
              <a:rPr lang="en-US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 上</a:t>
            </a:r>
            <a:endParaRPr lang="zh-CN" sz="3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B906D7-0DC8-7587-E7E5-E1F42B17E158}"/>
              </a:ext>
            </a:extLst>
          </p:cNvPr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FE47AB4-A9BA-CE42-89E4-DC6A3D827A41}"/>
              </a:ext>
            </a:extLst>
          </p:cNvPr>
          <p:cNvSpPr/>
          <p:nvPr/>
        </p:nvSpPr>
        <p:spPr>
          <a:xfrm>
            <a:off x="914400" y="3040380"/>
            <a:ext cx="10972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例句1：写作业的时候要用上新学的词语和句式才行。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D077A81-5605-D53E-AEB3-5E4C1731B97E}"/>
              </a:ext>
            </a:extLst>
          </p:cNvPr>
          <p:cNvSpPr/>
          <p:nvPr/>
        </p:nvSpPr>
        <p:spPr>
          <a:xfrm>
            <a:off x="914400" y="3575303"/>
            <a:ext cx="10972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例句2：我的妹妹考上了荣市大学中文专业。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8FAB5A1-5A48-C39D-FE8D-B8972E1EFC23}"/>
              </a:ext>
            </a:extLst>
          </p:cNvPr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3E9FF6D-30E9-375D-43A4-75661BFEE8D8}"/>
              </a:ext>
            </a:extLst>
          </p:cNvPr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88E6D6D-798C-A4E8-FB5C-0BADC760F759}"/>
              </a:ext>
            </a:extLst>
          </p:cNvPr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F11EFFD-0610-0BAA-871B-60266D20F227}"/>
              </a:ext>
            </a:extLst>
          </p:cNvPr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7D2F8A0-6EC9-ACD6-AAA2-29F412F0057A}"/>
              </a:ext>
            </a:extLst>
          </p:cNvPr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A5DBA3C-C96B-1131-E76F-5FD935601939}"/>
              </a:ext>
            </a:extLst>
          </p:cNvPr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BEF44117-1D09-B05D-145C-26CFCA2409B7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用这个句式写出三句话</a:t>
            </a:r>
            <a:endParaRPr lang="zh-CN" sz="2300" dirty="0"/>
          </a:p>
        </p:txBody>
      </p:sp>
    </p:spTree>
    <p:extLst>
      <p:ext uri="{BB962C8B-B14F-4D97-AF65-F5344CB8AC3E}">
        <p14:creationId xmlns:p14="http://schemas.microsoft.com/office/powerpoint/2010/main" val="7450611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61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P39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15340" y="1435608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35380" y="1709928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形容词 </a:t>
            </a:r>
            <a:r>
              <a:rPr lang="en-US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 一些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207259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例句1：去中国以后，用汉语的机会多一些。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680461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>
                <a:latin typeface="Times New Roman"/>
                <a:ea typeface="KaiTi"/>
                <a:cs typeface="Times New Roman"/>
              </a:rPr>
              <a:t>例句2：开始工作以后，阅读的时间少了一些。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04B1020A-2A62-492E-D2E7-65727E7B8258}"/>
              </a:ext>
            </a:extLst>
          </p:cNvPr>
          <p:cNvSpPr/>
          <p:nvPr/>
        </p:nvSpPr>
        <p:spPr>
          <a:xfrm>
            <a:off x="1051560" y="2633472"/>
            <a:ext cx="10058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表示程度有一点变化</a:t>
            </a:r>
            <a:endParaRPr lang="zh-CN" sz="25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F10B0764-147D-F44C-C07D-9F5A2ED103E4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用这个句式写出三句话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65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62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P39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 dirty="0"/>
          </a:p>
        </p:txBody>
      </p:sp>
      <p:sp>
        <p:nvSpPr>
          <p:cNvPr id="7" name="Shape 5"/>
          <p:cNvSpPr/>
          <p:nvPr/>
        </p:nvSpPr>
        <p:spPr>
          <a:xfrm>
            <a:off x="815340" y="1225297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35380" y="1499617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/>
            <a:r>
              <a:rPr sz="3400" b="1" dirty="0" err="1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/>
              </a:rPr>
              <a:t>记得住</a:t>
            </a:r>
            <a:endParaRPr sz="3400" b="1" dirty="0">
              <a:solidFill>
                <a:srgbClr val="8C78D7"/>
              </a:solidFill>
              <a:latin typeface="KaiTi" pitchFamily="34" charset="0"/>
              <a:ea typeface="KaiTi" pitchFamily="34" charset="-122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43D71632-3B32-BBE1-35CF-9BF69D1AE316}"/>
              </a:ext>
            </a:extLst>
          </p:cNvPr>
          <p:cNvSpPr/>
          <p:nvPr/>
        </p:nvSpPr>
        <p:spPr>
          <a:xfrm>
            <a:off x="1066800" y="2593334"/>
            <a:ext cx="10058400" cy="10698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0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/>
              </a:rPr>
              <a:t>用“得”表示动作可以成功做到。</a:t>
            </a:r>
            <a:endParaRPr lang="en-US" altLang="zh-CN" sz="3000" b="1" dirty="0">
              <a:solidFill>
                <a:srgbClr val="3C8F86"/>
              </a:solidFill>
              <a:latin typeface="KaiTi" pitchFamily="34" charset="0"/>
              <a:ea typeface="KaiTi" pitchFamily="34" charset="-122"/>
            </a:endParaRPr>
          </a:p>
          <a:p>
            <a:pPr marL="0" indent="0" algn="ctr">
              <a:buNone/>
            </a:pPr>
            <a:r>
              <a:rPr lang="zh-CN" altLang="en-US" sz="30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/>
              </a:rPr>
              <a:t>用“不”表示不能做到。</a:t>
            </a:r>
            <a:endParaRPr lang="zh-CN" sz="30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A67F21C1-16F7-4126-6F02-069E8F3623CD}"/>
              </a:ext>
            </a:extLst>
          </p:cNvPr>
          <p:cNvSpPr/>
          <p:nvPr/>
        </p:nvSpPr>
        <p:spPr>
          <a:xfrm>
            <a:off x="1066800" y="3969508"/>
            <a:ext cx="10058400" cy="138887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4000" b="1" dirty="0">
                <a:latin typeface="Times New Roman" pitchFamily="34" charset="0"/>
                <a:ea typeface="KaiTi" pitchFamily="34" charset="-122"/>
                <a:cs typeface="Times New Roman"/>
              </a:rPr>
              <a:t>动词 </a:t>
            </a:r>
            <a:r>
              <a:rPr lang="en-US" altLang="zh-CN" sz="4000" b="1" dirty="0">
                <a:latin typeface="Times New Roman" pitchFamily="34" charset="0"/>
                <a:ea typeface="Times New Roman" pitchFamily="34" charset="-122"/>
                <a:cs typeface="Times New Roman"/>
              </a:rPr>
              <a:t>+</a:t>
            </a:r>
            <a:r>
              <a:rPr lang="zh-CN" altLang="en-US" sz="4000" b="1" dirty="0">
                <a:latin typeface="Times New Roman" pitchFamily="34" charset="0"/>
                <a:ea typeface="KaiTi" pitchFamily="34" charset="-122"/>
                <a:cs typeface="Times New Roman"/>
              </a:rPr>
              <a:t> 得 </a:t>
            </a:r>
            <a:r>
              <a:rPr lang="en-US" altLang="zh-CN" sz="4000" b="1" dirty="0">
                <a:latin typeface="Times New Roman" pitchFamily="34" charset="0"/>
                <a:ea typeface="Times New Roman" pitchFamily="34" charset="-122"/>
                <a:cs typeface="Times New Roman"/>
              </a:rPr>
              <a:t>+</a:t>
            </a:r>
            <a:r>
              <a:rPr lang="zh-CN" altLang="en-US" sz="4000" b="1" dirty="0">
                <a:latin typeface="Times New Roman" pitchFamily="34" charset="0"/>
                <a:ea typeface="KaiTi" pitchFamily="34" charset="-122"/>
                <a:cs typeface="Times New Roman"/>
              </a:rPr>
              <a:t> 结果（补语）</a:t>
            </a:r>
            <a:endParaRPr lang="en-US" altLang="zh-CN" sz="4000" b="1" dirty="0">
              <a:latin typeface="KaiTi" pitchFamily="34" charset="0"/>
              <a:ea typeface="KaiTi" pitchFamily="34" charset="-122"/>
            </a:endParaRPr>
          </a:p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itchFamily="34" charset="0"/>
                <a:ea typeface="KaiTi" pitchFamily="34" charset="-122"/>
                <a:cs typeface="Times New Roman"/>
              </a:rPr>
              <a:t>动词 </a:t>
            </a:r>
            <a:r>
              <a:rPr lang="en-US" altLang="zh-CN" sz="4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/>
              </a:rPr>
              <a:t>+</a:t>
            </a:r>
            <a:r>
              <a:rPr lang="zh-CN" altLang="en-US" sz="4000" b="1" dirty="0">
                <a:solidFill>
                  <a:srgbClr val="C00000"/>
                </a:solidFill>
                <a:latin typeface="Times New Roman" pitchFamily="34" charset="0"/>
                <a:ea typeface="KaiTi" pitchFamily="34" charset="-122"/>
                <a:cs typeface="Times New Roman"/>
              </a:rPr>
              <a:t> 不 </a:t>
            </a:r>
            <a:r>
              <a:rPr lang="en-US" altLang="zh-CN" sz="4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/>
              </a:rPr>
              <a:t>+</a:t>
            </a:r>
            <a:r>
              <a:rPr lang="zh-CN" altLang="en-US" sz="4000" b="1" dirty="0">
                <a:solidFill>
                  <a:srgbClr val="C00000"/>
                </a:solidFill>
                <a:latin typeface="Times New Roman" pitchFamily="34" charset="0"/>
                <a:ea typeface="KaiTi" pitchFamily="34" charset="-122"/>
                <a:cs typeface="Times New Roman"/>
              </a:rPr>
              <a:t> 结果（补语）</a:t>
            </a:r>
            <a:endParaRPr lang="zh-CN" sz="4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2CEEB-638B-3E7F-E501-84DBBABC9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E84618-85DA-835E-B6BC-FBBE5FBAD23D}"/>
              </a:ext>
            </a:extLst>
          </p:cNvPr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06ECA2-EC72-0FA5-511E-A5FF6F00B4F4}"/>
              </a:ext>
            </a:extLst>
          </p:cNvPr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66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5741EAA-8497-A06F-652A-696E5C7F1244}"/>
              </a:ext>
            </a:extLst>
          </p:cNvPr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62">
            <a:extLst>
              <a:ext uri="{FF2B5EF4-FFF2-40B4-BE49-F238E27FC236}">
                <a16:creationId xmlns:a16="http://schemas.microsoft.com/office/drawing/2014/main" id="{C81E7A29-0BB1-427A-36F3-06D50549BFF6}"/>
              </a:ext>
            </a:extLst>
          </p:cNvPr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P39</a:t>
            </a:r>
            <a:endParaRPr lang="zh-CN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A262EA3-73A0-A8AA-4751-2964AC1DBDB3}"/>
              </a:ext>
            </a:extLst>
          </p:cNvPr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9D7AB91-6AFD-8198-4CA1-B8AA0128A72F}"/>
              </a:ext>
            </a:extLst>
          </p:cNvPr>
          <p:cNvSpPr/>
          <p:nvPr/>
        </p:nvSpPr>
        <p:spPr>
          <a:xfrm>
            <a:off x="815340" y="1225297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BBD7AE7-F158-3F79-2065-E732A7552E19}"/>
              </a:ext>
            </a:extLst>
          </p:cNvPr>
          <p:cNvSpPr/>
          <p:nvPr/>
        </p:nvSpPr>
        <p:spPr>
          <a:xfrm>
            <a:off x="1135380" y="1499617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/>
            <a:r>
              <a:rPr sz="3400" b="1" dirty="0" err="1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/>
              </a:rPr>
              <a:t>记得住</a:t>
            </a:r>
            <a:endParaRPr sz="3400" b="1" dirty="0">
              <a:solidFill>
                <a:srgbClr val="8C78D7"/>
              </a:solidFill>
              <a:latin typeface="KaiTi" pitchFamily="34" charset="0"/>
              <a:ea typeface="KaiTi" pitchFamily="34" charset="-122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98773C5-BCB1-DD19-638C-4C51C160B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830221"/>
              </p:ext>
            </p:extLst>
          </p:nvPr>
        </p:nvGraphicFramePr>
        <p:xfrm>
          <a:off x="815340" y="2602478"/>
          <a:ext cx="10515600" cy="3670305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5480724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03348059"/>
                    </a:ext>
                  </a:extLst>
                </a:gridCol>
              </a:tblGrid>
              <a:tr h="73406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1" dirty="0">
                          <a:latin typeface="Times New Roman"/>
                          <a:ea typeface="KaiTi"/>
                          <a:cs typeface="Times New Roman"/>
                        </a:rPr>
                        <a:t>可以做到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1" dirty="0">
                          <a:latin typeface="Times New Roman"/>
                          <a:ea typeface="KaiTi"/>
                          <a:cs typeface="Times New Roman"/>
                        </a:rPr>
                        <a:t>做不到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803046"/>
                  </a:ext>
                </a:extLst>
              </a:tr>
              <a:tr h="73406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0" dirty="0">
                          <a:latin typeface="Times New Roman"/>
                          <a:ea typeface="KaiTi"/>
                          <a:cs typeface="Times New Roman"/>
                        </a:rPr>
                        <a:t>记得住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0">
                          <a:latin typeface="Times New Roman"/>
                          <a:ea typeface="KaiTi"/>
                          <a:cs typeface="Times New Roman"/>
                        </a:rPr>
                        <a:t>记不住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507392"/>
                  </a:ext>
                </a:extLst>
              </a:tr>
              <a:tr h="73406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0" dirty="0">
                          <a:latin typeface="Times New Roman"/>
                          <a:ea typeface="KaiTi"/>
                          <a:cs typeface="Times New Roman"/>
                        </a:rPr>
                        <a:t>听得懂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0" dirty="0">
                          <a:latin typeface="Times New Roman"/>
                          <a:ea typeface="KaiTi"/>
                          <a:cs typeface="Times New Roman"/>
                        </a:rPr>
                        <a:t>听不懂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515841"/>
                  </a:ext>
                </a:extLst>
              </a:tr>
              <a:tr h="73406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0" dirty="0">
                          <a:latin typeface="Times New Roman"/>
                          <a:ea typeface="KaiTi"/>
                          <a:cs typeface="Times New Roman"/>
                        </a:rPr>
                        <a:t>看得清楚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0" dirty="0">
                          <a:latin typeface="Times New Roman"/>
                          <a:ea typeface="KaiTi"/>
                          <a:cs typeface="Times New Roman"/>
                        </a:rPr>
                        <a:t>看不清楚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008922"/>
                  </a:ext>
                </a:extLst>
              </a:tr>
              <a:tr h="73406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0" dirty="0">
                          <a:latin typeface="Times New Roman"/>
                          <a:ea typeface="KaiTi"/>
                          <a:cs typeface="Times New Roman"/>
                        </a:rPr>
                        <a:t>看得懂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0" dirty="0">
                          <a:latin typeface="Times New Roman"/>
                          <a:ea typeface="KaiTi"/>
                          <a:cs typeface="Times New Roman"/>
                        </a:rPr>
                        <a:t>看不懂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97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7709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A4AC5-6FF9-0ADD-3BC2-9A4584624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7ED2591-AAE2-12D7-65D0-B4EEAAC75FD0}"/>
              </a:ext>
            </a:extLst>
          </p:cNvPr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46BB23-27E2-A56A-9B2D-AD7BA1238FC0}"/>
              </a:ext>
            </a:extLst>
          </p:cNvPr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67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6CD4E2-CFDF-AC52-A031-2889F7F6BFB1}"/>
              </a:ext>
            </a:extLst>
          </p:cNvPr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62">
            <a:extLst>
              <a:ext uri="{FF2B5EF4-FFF2-40B4-BE49-F238E27FC236}">
                <a16:creationId xmlns:a16="http://schemas.microsoft.com/office/drawing/2014/main" id="{33AC0BFF-C294-A9D7-1FD6-222509B36C4F}"/>
              </a:ext>
            </a:extLst>
          </p:cNvPr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P39</a:t>
            </a:r>
            <a:endParaRPr lang="zh-CN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DDCA2F8-62DE-8199-30C3-049CFA413312}"/>
              </a:ext>
            </a:extLst>
          </p:cNvPr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endParaRPr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DD57744-77D3-B9C0-5C9E-38B8E4A43858}"/>
              </a:ext>
            </a:extLst>
          </p:cNvPr>
          <p:cNvSpPr/>
          <p:nvPr/>
        </p:nvSpPr>
        <p:spPr>
          <a:xfrm>
            <a:off x="822960" y="150876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E1E69A3-628D-B80A-C923-F87F742D795B}"/>
              </a:ext>
            </a:extLst>
          </p:cNvPr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/>
            <a:r>
              <a:rPr sz="3400" b="1" dirty="0" err="1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/>
              </a:rPr>
              <a:t>记得住</a:t>
            </a:r>
            <a:endParaRPr sz="3400" b="1" dirty="0">
              <a:solidFill>
                <a:srgbClr val="8C78D7"/>
              </a:solidFill>
              <a:latin typeface="KaiTi" pitchFamily="34" charset="0"/>
              <a:ea typeface="KaiTi" pitchFamily="34" charset="-122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4792D9-9BA5-43BF-95B1-689A08FC1B95}"/>
              </a:ext>
            </a:extLst>
          </p:cNvPr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A9ACD87-E4BE-F7DD-43A5-5925F416396C}"/>
              </a:ext>
            </a:extLst>
          </p:cNvPr>
          <p:cNvSpPr/>
          <p:nvPr/>
        </p:nvSpPr>
        <p:spPr>
          <a:xfrm>
            <a:off x="822960" y="3049523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例句1：这么多生词，我记不住！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0C840B7-96FF-57AF-B835-4359120DF7EF}"/>
              </a:ext>
            </a:extLst>
          </p:cNvPr>
          <p:cNvSpPr/>
          <p:nvPr/>
        </p:nvSpPr>
        <p:spPr>
          <a:xfrm>
            <a:off x="822960" y="3557016"/>
            <a:ext cx="10972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例句2：</a:t>
            </a:r>
            <a:r>
              <a:rPr lang="en-VN" sz="3500" dirty="0">
                <a:latin typeface="Times New Roman"/>
                <a:ea typeface="KaiTi"/>
                <a:cs typeface="Times New Roman"/>
              </a:rPr>
              <a:t>老师记得住全校同学的名字</a:t>
            </a:r>
            <a:r>
              <a:rPr lang="zh-CN" altLang="en-US" sz="3500" dirty="0">
                <a:latin typeface="Times New Roman"/>
                <a:ea typeface="KaiTi"/>
                <a:cs typeface="Times New Roman"/>
              </a:rPr>
              <a:t>。</a:t>
            </a:r>
            <a:endParaRPr sz="3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A69B0A8-AE01-E8A7-C0D7-51479C0BD9A2}"/>
              </a:ext>
            </a:extLst>
          </p:cNvPr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F888432-8AC6-9660-71AC-E34600A2023D}"/>
              </a:ext>
            </a:extLst>
          </p:cNvPr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64134A3-8BE9-CD16-D460-E637821C953C}"/>
              </a:ext>
            </a:extLst>
          </p:cNvPr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77C7F80-BED2-A35D-A31D-979FBD60CA61}"/>
              </a:ext>
            </a:extLst>
          </p:cNvPr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F7B87AC-A51C-10A7-736F-9818DA978B98}"/>
              </a:ext>
            </a:extLst>
          </p:cNvPr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09115FE-73ED-A576-345A-6D420F29508F}"/>
              </a:ext>
            </a:extLst>
          </p:cNvPr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7838F065-2D22-670C-D741-1B0C44B777B3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</a:t>
            </a:r>
            <a:r>
              <a:rPr lang="en-VN" sz="2300" b="1" dirty="0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短语</a:t>
            </a: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写出三句话</a:t>
            </a:r>
            <a:endParaRPr lang="zh-CN" sz="2300" dirty="0"/>
          </a:p>
        </p:txBody>
      </p:sp>
    </p:spTree>
    <p:extLst>
      <p:ext uri="{BB962C8B-B14F-4D97-AF65-F5344CB8AC3E}">
        <p14:creationId xmlns:p14="http://schemas.microsoft.com/office/powerpoint/2010/main" val="35386714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68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62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P39</a:t>
            </a:r>
            <a:endParaRPr lang="zh-CN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/>
            <a:r>
              <a:rPr sz="3400" b="1" dirty="0" err="1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/>
              </a:rPr>
              <a:t>看得清楚</a:t>
            </a:r>
            <a:endParaRPr sz="3400" b="1" dirty="0">
              <a:solidFill>
                <a:srgbClr val="8C78D7"/>
              </a:solidFill>
              <a:latin typeface="KaiTi" pitchFamily="34" charset="0"/>
              <a:ea typeface="KaiTi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 dirty="0"/>
          </a:p>
        </p:txBody>
      </p:sp>
      <p:sp>
        <p:nvSpPr>
          <p:cNvPr id="10" name="Text 8"/>
          <p:cNvSpPr/>
          <p:nvPr/>
        </p:nvSpPr>
        <p:spPr>
          <a:xfrm>
            <a:off x="914400" y="3189732"/>
            <a:ext cx="10652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例句1：你</a:t>
            </a:r>
            <a:r>
              <a:rPr lang="en-VN" sz="3500" dirty="0">
                <a:latin typeface="Times New Roman"/>
                <a:ea typeface="KaiTi"/>
                <a:cs typeface="Times New Roman"/>
              </a:rPr>
              <a:t>站那么远</a:t>
            </a:r>
            <a:r>
              <a:rPr lang="zh-CN" altLang="en-US" sz="3500" dirty="0">
                <a:latin typeface="Times New Roman"/>
                <a:ea typeface="KaiTi"/>
                <a:cs typeface="Times New Roman"/>
              </a:rPr>
              <a:t>，</a:t>
            </a:r>
            <a:r>
              <a:rPr sz="3500" dirty="0">
                <a:latin typeface="Times New Roman"/>
                <a:ea typeface="Times New Roman"/>
                <a:cs typeface="Times New Roman"/>
              </a:rPr>
              <a:t>，</a:t>
            </a:r>
            <a:r>
              <a:rPr sz="3500" dirty="0" err="1">
                <a:latin typeface="Times New Roman"/>
                <a:ea typeface="KaiTi"/>
                <a:cs typeface="Times New Roman"/>
              </a:rPr>
              <a:t>看得清楚</a:t>
            </a:r>
            <a:r>
              <a:rPr lang="en-VN" sz="3500" dirty="0">
                <a:latin typeface="Times New Roman"/>
                <a:ea typeface="KaiTi"/>
                <a:cs typeface="Times New Roman"/>
              </a:rPr>
              <a:t>吗</a:t>
            </a:r>
            <a:r>
              <a:rPr lang="zh-CN" altLang="en-US" sz="3500" dirty="0">
                <a:latin typeface="Times New Roman"/>
                <a:ea typeface="KaiTi"/>
                <a:cs typeface="Times New Roman"/>
              </a:rPr>
              <a:t>？</a:t>
            </a:r>
            <a:r>
              <a:rPr sz="3500" dirty="0">
                <a:latin typeface="Times New Roman"/>
                <a:ea typeface="Times New Roman"/>
                <a:cs typeface="Times New Roman"/>
              </a:rPr>
              <a:t>？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680461"/>
            <a:ext cx="10652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例句2：我坐在教室后面，黑板上的字我也看得清楚。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5143F148-DA94-587C-5FCB-3F22CB68EA19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</a:t>
            </a:r>
            <a:r>
              <a:rPr lang="en-VN" sz="2300" b="1" dirty="0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短语</a:t>
            </a:r>
            <a:r>
              <a:rPr sz="2300" b="1" dirty="0" err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69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63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P39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15340" y="1224786"/>
            <a:ext cx="10561320" cy="1078992"/>
          </a:xfrm>
          <a:prstGeom prst="roundRect">
            <a:avLst>
              <a:gd name="adj" fmla="val 678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35380" y="1499106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动词 </a:t>
            </a:r>
            <a:r>
              <a:rPr lang="en-US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 两／几 </a:t>
            </a:r>
            <a:r>
              <a:rPr lang="en-US" altLang="zh-CN" sz="34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r>
              <a:rPr lang="zh-CN" altLang="en-US" sz="3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 量词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177031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 dirty="0">
                <a:latin typeface="Times New Roman"/>
                <a:ea typeface="KaiTi"/>
                <a:cs typeface="Times New Roman"/>
              </a:rPr>
              <a:t>例句1：大家好，我先说两句话。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3671317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sz="3500">
                <a:latin typeface="Times New Roman"/>
                <a:ea typeface="KaiTi"/>
                <a:cs typeface="Times New Roman"/>
              </a:rPr>
              <a:t>例句2：明天我想和朋友去图书馆借几本书。</a:t>
            </a:r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5321808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55229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5751576"/>
            <a:ext cx="937260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17A48EF2-1F15-03C8-F2F2-F1626ADCAF43}"/>
              </a:ext>
            </a:extLst>
          </p:cNvPr>
          <p:cNvSpPr/>
          <p:nvPr/>
        </p:nvSpPr>
        <p:spPr>
          <a:xfrm>
            <a:off x="1051560" y="2464815"/>
            <a:ext cx="10058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表示大概的数量，不强调具体是多少</a:t>
            </a:r>
            <a:endParaRPr lang="zh-CN" sz="25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A995CBE0-C33F-9F5F-DED0-200465D93628}"/>
              </a:ext>
            </a:extLst>
          </p:cNvPr>
          <p:cNvSpPr/>
          <p:nvPr/>
        </p:nvSpPr>
        <p:spPr>
          <a:xfrm>
            <a:off x="1005840" y="424688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300" b="1">
                <a:solidFill>
                  <a:srgbClr val="3C8F86"/>
                </a:solidFill>
                <a:latin typeface="Times New Roman"/>
                <a:ea typeface="KaiTi"/>
                <a:cs typeface="Times New Roman"/>
              </a:rPr>
              <a:t>用这个句式写出三句话</a:t>
            </a:r>
            <a:endParaRPr lang="zh-CN" sz="2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70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65836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48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综合练习</a:t>
            </a:r>
            <a:endParaRPr lang="zh-CN" sz="4800" dirty="0"/>
          </a:p>
        </p:txBody>
      </p:sp>
      <p:sp>
        <p:nvSpPr>
          <p:cNvPr id="6" name="Shape 4"/>
          <p:cNvSpPr/>
          <p:nvPr/>
        </p:nvSpPr>
        <p:spPr>
          <a:xfrm>
            <a:off x="7315200" y="132588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Users/ssyan110/Development/vinh-uni-teaching-assistant/lessons/boya-quasi-intermediate-i/lesson-01/10-design/image-assets-draft/divider-comprehens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380744"/>
            <a:ext cx="3776472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71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66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P40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请你根据听过的三段短文填表。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1389888"/>
            <a:ext cx="6766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5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请填写课本第</a:t>
            </a:r>
            <a:r>
              <a:rPr lang="en-US" altLang="zh-CN" sz="2500" b="1" dirty="0">
                <a:solidFill>
                  <a:srgbClr val="8C78D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r>
              <a:rPr lang="zh-CN" altLang="en-US" sz="25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0页的表格。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91440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依据短文填写关键词，不必写完整句子。</a:t>
            </a:r>
            <a:endParaRPr lang="zh-CN" sz="22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F5777B2-7AD1-E339-39C5-91E6C3A8D831}"/>
              </a:ext>
            </a:extLst>
          </p:cNvPr>
          <p:cNvSpPr/>
          <p:nvPr/>
        </p:nvSpPr>
        <p:spPr>
          <a:xfrm>
            <a:off x="822960" y="2148840"/>
            <a:ext cx="3401568" cy="2834640"/>
          </a:xfrm>
          <a:prstGeom prst="roundRect">
            <a:avLst>
              <a:gd name="adj" fmla="val 2581"/>
            </a:avLst>
          </a:prstGeom>
          <a:solidFill>
            <a:srgbClr val="D8F0E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 sz="35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9D3FB86-A258-C77F-8706-D58A44370E29}"/>
              </a:ext>
            </a:extLst>
          </p:cNvPr>
          <p:cNvSpPr/>
          <p:nvPr/>
        </p:nvSpPr>
        <p:spPr>
          <a:xfrm>
            <a:off x="1097280" y="2487167"/>
            <a:ext cx="2834640" cy="19750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5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/>
              </a:rPr>
              <a:t>他在</a:t>
            </a:r>
            <a:endParaRPr lang="en-US" altLang="zh-CN" sz="3500" b="1" dirty="0">
              <a:solidFill>
                <a:srgbClr val="8C78D7"/>
              </a:solidFill>
              <a:latin typeface="KaiTi" pitchFamily="34" charset="0"/>
              <a:ea typeface="KaiTi" pitchFamily="34" charset="-122"/>
            </a:endParaRPr>
          </a:p>
          <a:p>
            <a:pPr marL="0" indent="0" algn="ctr">
              <a:buNone/>
            </a:pPr>
            <a:r>
              <a:rPr lang="zh-CN" altLang="en-US" sz="35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/>
              </a:rPr>
              <a:t>北京的生活</a:t>
            </a:r>
            <a:endParaRPr lang="zh-CN" sz="35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9A657C8-8DE1-6E4A-5283-8F679B023D57}"/>
              </a:ext>
            </a:extLst>
          </p:cNvPr>
          <p:cNvSpPr/>
          <p:nvPr/>
        </p:nvSpPr>
        <p:spPr>
          <a:xfrm>
            <a:off x="1188720" y="4526280"/>
            <a:ext cx="265176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5774935-6D26-7331-EDE9-8C2BCD96B8E6}"/>
              </a:ext>
            </a:extLst>
          </p:cNvPr>
          <p:cNvSpPr/>
          <p:nvPr/>
        </p:nvSpPr>
        <p:spPr>
          <a:xfrm>
            <a:off x="4553712" y="2148840"/>
            <a:ext cx="3401568" cy="2834640"/>
          </a:xfrm>
          <a:prstGeom prst="roundRect">
            <a:avLst>
              <a:gd name="adj" fmla="val 2581"/>
            </a:avLst>
          </a:prstGeom>
          <a:solidFill>
            <a:srgbClr val="DFECF5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68B92A6-5B01-87BF-9E24-8794DB67F35E}"/>
              </a:ext>
            </a:extLst>
          </p:cNvPr>
          <p:cNvSpPr/>
          <p:nvPr/>
        </p:nvSpPr>
        <p:spPr>
          <a:xfrm>
            <a:off x="4828032" y="2487167"/>
            <a:ext cx="2834640" cy="19750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5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他在</a:t>
            </a:r>
            <a:endParaRPr lang="en-US" altLang="zh-CN" sz="3500" b="1" dirty="0">
              <a:solidFill>
                <a:srgbClr val="8C78D7"/>
              </a:solidFill>
              <a:latin typeface="KaiTi" pitchFamily="34" charset="0"/>
              <a:ea typeface="KaiTi" pitchFamily="34" charset="-122"/>
              <a:cs typeface="KaiTi" pitchFamily="34" charset="-120"/>
            </a:endParaRPr>
          </a:p>
          <a:p>
            <a:pPr marL="0" indent="0" algn="ctr">
              <a:buNone/>
            </a:pPr>
            <a:r>
              <a:rPr lang="zh-CN" altLang="en-US" sz="35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/>
              </a:rPr>
              <a:t>北京的学习</a:t>
            </a:r>
            <a:endParaRPr lang="zh-CN" sz="35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2BB44F2A-B545-682A-4957-44081BA42643}"/>
              </a:ext>
            </a:extLst>
          </p:cNvPr>
          <p:cNvSpPr/>
          <p:nvPr/>
        </p:nvSpPr>
        <p:spPr>
          <a:xfrm>
            <a:off x="4919472" y="4526280"/>
            <a:ext cx="265176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1A50128-46EF-2F8B-A5EC-3951FFC0B398}"/>
              </a:ext>
            </a:extLst>
          </p:cNvPr>
          <p:cNvSpPr/>
          <p:nvPr/>
        </p:nvSpPr>
        <p:spPr>
          <a:xfrm>
            <a:off x="8284464" y="2148840"/>
            <a:ext cx="3401568" cy="2834640"/>
          </a:xfrm>
          <a:prstGeom prst="roundRect">
            <a:avLst>
              <a:gd name="adj" fmla="val 2581"/>
            </a:avLst>
          </a:prstGeom>
          <a:solidFill>
            <a:srgbClr val="FFF1BE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7AD96F11-7DA7-E60B-E169-AACE16DE6274}"/>
              </a:ext>
            </a:extLst>
          </p:cNvPr>
          <p:cNvSpPr/>
          <p:nvPr/>
        </p:nvSpPr>
        <p:spPr>
          <a:xfrm>
            <a:off x="8558784" y="2487167"/>
            <a:ext cx="2834640" cy="197507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5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在韩国和中国学汉语的异同</a:t>
            </a:r>
            <a:endParaRPr lang="zh-CN" sz="35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B32B6576-8D82-E56F-86FE-919F1E950456}"/>
              </a:ext>
            </a:extLst>
          </p:cNvPr>
          <p:cNvSpPr/>
          <p:nvPr/>
        </p:nvSpPr>
        <p:spPr>
          <a:xfrm>
            <a:off x="8650224" y="4526280"/>
            <a:ext cx="265176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72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ok Page Marker 67"/>
          <p:cNvSpPr/>
          <p:nvPr/>
        </p:nvSpPr>
        <p:spPr>
          <a:xfrm>
            <a:off x="9464040" y="6419088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P41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我的个人介绍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按照三段准备自己的信息：</a:t>
            </a:r>
            <a:endParaRPr lang="zh-CN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24028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D8F0E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北京印象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3337560"/>
            <a:ext cx="2697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23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你对北京有什么印象？</a:t>
            </a:r>
            <a:endParaRPr lang="zh-CN" sz="2300" dirty="0"/>
          </a:p>
        </p:txBody>
      </p:sp>
      <p:sp>
        <p:nvSpPr>
          <p:cNvPr id="11" name="Shape 9"/>
          <p:cNvSpPr/>
          <p:nvPr/>
        </p:nvSpPr>
        <p:spPr>
          <a:xfrm>
            <a:off x="4572000" y="224028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DFECF5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80060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中文学习</a:t>
            </a:r>
            <a:endParaRPr lang="zh-CN" sz="2400" dirty="0"/>
          </a:p>
        </p:txBody>
      </p:sp>
      <p:sp>
        <p:nvSpPr>
          <p:cNvPr id="13" name="Text 11"/>
          <p:cNvSpPr/>
          <p:nvPr/>
        </p:nvSpPr>
        <p:spPr>
          <a:xfrm>
            <a:off x="4846320" y="3337560"/>
            <a:ext cx="2697480" cy="675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23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你在哪里学习汉语？</a:t>
            </a:r>
            <a:endParaRPr lang="en-US" altLang="zh-CN" sz="2300" dirty="0">
              <a:solidFill>
                <a:srgbClr val="14282D"/>
              </a:solidFill>
              <a:latin typeface="KaiTi" pitchFamily="34" charset="0"/>
              <a:ea typeface="KaiTi" pitchFamily="34" charset="-122"/>
              <a:cs typeface="KaiTi" pitchFamily="34" charset="-120"/>
            </a:endParaRPr>
          </a:p>
          <a:p>
            <a:pPr marL="0" indent="0" algn="ctr">
              <a:buNone/>
            </a:pPr>
            <a:r>
              <a:rPr lang="zh-CN" altLang="en-US" sz="23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/>
              </a:rPr>
              <a:t>你想去哪学？</a:t>
            </a:r>
            <a:endParaRPr lang="zh-CN" sz="2300" dirty="0"/>
          </a:p>
        </p:txBody>
      </p:sp>
      <p:sp>
        <p:nvSpPr>
          <p:cNvPr id="14" name="Shape 12"/>
          <p:cNvSpPr/>
          <p:nvPr/>
        </p:nvSpPr>
        <p:spPr>
          <a:xfrm>
            <a:off x="8275320" y="224028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6D36D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50392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学习比较</a:t>
            </a:r>
            <a:endParaRPr lang="zh-CN" sz="2400" dirty="0"/>
          </a:p>
        </p:txBody>
      </p:sp>
      <p:sp>
        <p:nvSpPr>
          <p:cNvPr id="16" name="Text 14"/>
          <p:cNvSpPr/>
          <p:nvPr/>
        </p:nvSpPr>
        <p:spPr>
          <a:xfrm>
            <a:off x="8361680" y="3337560"/>
            <a:ext cx="3251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/>
            <a:r>
              <a:rPr sz="2300" dirty="0" err="1">
                <a:latin typeface="Times New Roman"/>
                <a:ea typeface="KaiTi"/>
                <a:cs typeface="Times New Roman"/>
              </a:rPr>
              <a:t>哪里学习汉语更有效率？为什么</a:t>
            </a:r>
            <a:r>
              <a:rPr sz="2300" dirty="0">
                <a:latin typeface="Times New Roman"/>
                <a:ea typeface="Times New Roman"/>
                <a:cs typeface="Times New Roman"/>
              </a:rPr>
              <a:t>？</a:t>
            </a:r>
          </a:p>
        </p:txBody>
      </p:sp>
      <p:sp>
        <p:nvSpPr>
          <p:cNvPr id="17" name="Text 15"/>
          <p:cNvSpPr/>
          <p:nvPr/>
        </p:nvSpPr>
        <p:spPr>
          <a:xfrm>
            <a:off x="914400" y="5120640"/>
            <a:ext cx="104698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至少使用课本中的10个词语和5个句式。说</a:t>
            </a:r>
            <a:r>
              <a:rPr lang="en-US" altLang="zh-CN" sz="2200" b="1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8-10</a:t>
            </a:r>
            <a:r>
              <a:rPr lang="zh-CN" altLang="en-US" sz="22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个句子，不少于</a:t>
            </a:r>
            <a:r>
              <a:rPr lang="en-US" altLang="zh-CN" sz="2200" b="1" dirty="0">
                <a:solidFill>
                  <a:srgbClr val="3C8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</a:t>
            </a:r>
            <a:r>
              <a:rPr lang="zh-CN" altLang="en-US" sz="22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字。</a:t>
            </a:r>
            <a:endParaRPr lang="zh-CN" sz="2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73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我觉得很难的地方</a:t>
            </a:r>
            <a:endParaRPr lang="zh-CN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10241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写下你不太懂的词语、句式、短文或听力内容。</a:t>
            </a:r>
            <a:endParaRPr lang="zh-CN" sz="2700" dirty="0"/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10287000" cy="2880360"/>
          </a:xfrm>
          <a:prstGeom prst="roundRect">
            <a:avLst>
              <a:gd name="adj" fmla="val 2540"/>
            </a:avLst>
          </a:prstGeom>
          <a:solidFill>
            <a:srgbClr val="FFFDF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zh-CN" sz="2000" dirty="0"/>
          </a:p>
        </p:txBody>
      </p:sp>
      <p:sp>
        <p:nvSpPr>
          <p:cNvPr id="9" name="Shape 7"/>
          <p:cNvSpPr/>
          <p:nvPr/>
        </p:nvSpPr>
        <p:spPr>
          <a:xfrm>
            <a:off x="1874520" y="2898648"/>
            <a:ext cx="89611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34440" y="306324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1874520" y="3310128"/>
            <a:ext cx="89611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34440" y="347472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zh-CN" sz="2000" dirty="0"/>
          </a:p>
        </p:txBody>
      </p:sp>
      <p:sp>
        <p:nvSpPr>
          <p:cNvPr id="13" name="Shape 11"/>
          <p:cNvSpPr/>
          <p:nvPr/>
        </p:nvSpPr>
        <p:spPr>
          <a:xfrm>
            <a:off x="1874520" y="3721608"/>
            <a:ext cx="89611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234440" y="388620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</a:t>
            </a:r>
            <a:endParaRPr lang="zh-CN" sz="2000" dirty="0"/>
          </a:p>
        </p:txBody>
      </p:sp>
      <p:sp>
        <p:nvSpPr>
          <p:cNvPr id="15" name="Shape 13"/>
          <p:cNvSpPr/>
          <p:nvPr/>
        </p:nvSpPr>
        <p:spPr>
          <a:xfrm>
            <a:off x="1874520" y="4133088"/>
            <a:ext cx="89611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234440" y="429768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1874520" y="4544568"/>
            <a:ext cx="89611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23444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</a:t>
            </a:r>
            <a:endParaRPr lang="zh-CN" sz="2000" dirty="0"/>
          </a:p>
        </p:txBody>
      </p:sp>
      <p:sp>
        <p:nvSpPr>
          <p:cNvPr id="19" name="Shape 17"/>
          <p:cNvSpPr/>
          <p:nvPr/>
        </p:nvSpPr>
        <p:spPr>
          <a:xfrm>
            <a:off x="1874520" y="4956048"/>
            <a:ext cx="8961120" cy="0"/>
          </a:xfrm>
          <a:prstGeom prst="line">
            <a:avLst/>
          </a:prstGeom>
          <a:noFill/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74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607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课前检查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D8F0E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78408" y="1664208"/>
            <a:ext cx="292608" cy="292608"/>
          </a:xfrm>
          <a:prstGeom prst="rect">
            <a:avLst/>
          </a:prstGeom>
          <a:solidFill>
            <a:srgbClr val="FFFDF9"/>
          </a:solidFill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316736" y="1591056"/>
            <a:ext cx="4160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我已经学完本课所有词语，知道它们的意思和用法。</a:t>
            </a:r>
            <a:endParaRPr lang="zh-CN" sz="2000" dirty="0"/>
          </a:p>
        </p:txBody>
      </p:sp>
      <p:sp>
        <p:nvSpPr>
          <p:cNvPr id="9" name="Shape 7"/>
          <p:cNvSpPr/>
          <p:nvPr/>
        </p:nvSpPr>
        <p:spPr>
          <a:xfrm>
            <a:off x="6236208" y="141732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D8F0E9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64808" y="1664208"/>
            <a:ext cx="292608" cy="292608"/>
          </a:xfrm>
          <a:prstGeom prst="rect">
            <a:avLst/>
          </a:prstGeom>
          <a:solidFill>
            <a:srgbClr val="FFFDF9"/>
          </a:solidFill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803136" y="1591056"/>
            <a:ext cx="4160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我已经听完本课所有听力音频。</a:t>
            </a:r>
            <a:endParaRPr lang="zh-CN" sz="2000" dirty="0"/>
          </a:p>
        </p:txBody>
      </p:sp>
      <p:sp>
        <p:nvSpPr>
          <p:cNvPr id="12" name="Shape 10"/>
          <p:cNvSpPr/>
          <p:nvPr/>
        </p:nvSpPr>
        <p:spPr>
          <a:xfrm>
            <a:off x="749808" y="242316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DFECF5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78408" y="2670048"/>
            <a:ext cx="292608" cy="292608"/>
          </a:xfrm>
          <a:prstGeom prst="rect">
            <a:avLst/>
          </a:prstGeom>
          <a:solidFill>
            <a:srgbClr val="FFFDF9"/>
          </a:solidFill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316736" y="2596896"/>
            <a:ext cx="4160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我已经按本课要求为三段短文写好摘要。</a:t>
            </a:r>
            <a:endParaRPr lang="zh-CN" sz="2000" dirty="0"/>
          </a:p>
        </p:txBody>
      </p:sp>
      <p:sp>
        <p:nvSpPr>
          <p:cNvPr id="15" name="Shape 13"/>
          <p:cNvSpPr/>
          <p:nvPr/>
        </p:nvSpPr>
        <p:spPr>
          <a:xfrm>
            <a:off x="6236208" y="242316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DFECF5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64808" y="2670048"/>
            <a:ext cx="292608" cy="292608"/>
          </a:xfrm>
          <a:prstGeom prst="rect">
            <a:avLst/>
          </a:prstGeom>
          <a:solidFill>
            <a:srgbClr val="FFFDF9"/>
          </a:solidFill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03136" y="2596896"/>
            <a:ext cx="4160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我已经记下听不懂的词语、句式、短文或听力内容。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749808" y="342900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FFF1BE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78408" y="3675888"/>
            <a:ext cx="292608" cy="292608"/>
          </a:xfrm>
          <a:prstGeom prst="rect">
            <a:avLst/>
          </a:prstGeom>
          <a:solidFill>
            <a:srgbClr val="FFFDF9"/>
          </a:solidFill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316736" y="3602736"/>
            <a:ext cx="4160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我已经学完本课所有句式，并完成每个句式的练习。</a:t>
            </a:r>
            <a:endParaRPr lang="zh-CN" sz="2000" dirty="0"/>
          </a:p>
        </p:txBody>
      </p:sp>
      <p:sp>
        <p:nvSpPr>
          <p:cNvPr id="21" name="Shape 19"/>
          <p:cNvSpPr/>
          <p:nvPr/>
        </p:nvSpPr>
        <p:spPr>
          <a:xfrm>
            <a:off x="6236208" y="342900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FFF1BE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64808" y="3675888"/>
            <a:ext cx="292608" cy="292608"/>
          </a:xfrm>
          <a:prstGeom prst="rect">
            <a:avLst/>
          </a:prstGeom>
          <a:solidFill>
            <a:srgbClr val="FFFDF9"/>
          </a:solidFill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803136" y="3602736"/>
            <a:ext cx="4160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我已经完成课本第40页的表格。</a:t>
            </a:r>
            <a:endParaRPr lang="zh-CN" sz="2000" dirty="0"/>
          </a:p>
        </p:txBody>
      </p:sp>
      <p:sp>
        <p:nvSpPr>
          <p:cNvPr id="24" name="Shape 22"/>
          <p:cNvSpPr/>
          <p:nvPr/>
        </p:nvSpPr>
        <p:spPr>
          <a:xfrm>
            <a:off x="749808" y="443484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EEE9FF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78408" y="4681728"/>
            <a:ext cx="292608" cy="292608"/>
          </a:xfrm>
          <a:prstGeom prst="rect">
            <a:avLst/>
          </a:prstGeom>
          <a:solidFill>
            <a:srgbClr val="FFFDF9"/>
          </a:solidFill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316736" y="4608576"/>
            <a:ext cx="4160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我已经按本课要求写好个人介绍，并使用指定的课本词语和句式。</a:t>
            </a:r>
            <a:endParaRPr lang="zh-CN" sz="2000" dirty="0"/>
          </a:p>
        </p:txBody>
      </p:sp>
      <p:sp>
        <p:nvSpPr>
          <p:cNvPr id="27" name="Shape 25"/>
          <p:cNvSpPr/>
          <p:nvPr/>
        </p:nvSpPr>
        <p:spPr>
          <a:xfrm>
            <a:off x="6236208" y="443484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EEE9FF"/>
          </a:solidFill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464808" y="4681728"/>
            <a:ext cx="292608" cy="292608"/>
          </a:xfrm>
          <a:prstGeom prst="rect">
            <a:avLst/>
          </a:prstGeom>
          <a:solidFill>
            <a:srgbClr val="FFFDF9"/>
          </a:solidFill>
          <a:ln w="12700">
            <a:solidFill>
              <a:srgbClr val="3C8F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803136" y="4608576"/>
            <a:ext cx="4160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我已经准备好在课堂介绍自己。</a:t>
            </a:r>
            <a:endParaRPr lang="zh-CN" sz="2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第四课｜在中国学汉语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75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102412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4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谢谢大家，我们课堂见。</a:t>
            </a:r>
            <a:endParaRPr lang="zh-CN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KaiT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KaiT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4111</Words>
  <Application>Microsoft Macintosh PowerPoint</Application>
  <PresentationFormat>Widescreen</PresentationFormat>
  <Paragraphs>893</Paragraphs>
  <Slides>75</Slides>
  <Notes>74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9" baseType="lpstr">
      <vt:lpstr>KaiTi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荣市大学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第四课《在中国学汉语》在线预习</dc:title>
  <dc:subject>准中级加速篇 I 第四课在线预习</dc:subject>
  <dc:creator>荣市大学华语听说课程</dc:creator>
  <cp:lastModifiedBy>Adam Yan - Journey Beyond Asia</cp:lastModifiedBy>
  <cp:revision>58</cp:revision>
  <dcterms:created xsi:type="dcterms:W3CDTF">2026-08-29T15:56:23Z</dcterms:created>
  <dcterms:modified xsi:type="dcterms:W3CDTF">2026-09-02T11:25:38Z</dcterms:modified>
</cp:coreProperties>
</file>