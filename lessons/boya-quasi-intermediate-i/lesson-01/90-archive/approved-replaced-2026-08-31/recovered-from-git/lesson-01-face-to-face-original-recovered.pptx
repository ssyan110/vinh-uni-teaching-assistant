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3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开场：先看图说出家庭、工作和爱好三个主题。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按流程推进：词语 → 课文 → 句式 → 口语表达。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启发性暖身。两人先说，再邀请学生分享。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巡回检查：学生是否真的完成预读；只回收会影响今天任务的难点。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请学生打开教材 P3，完成页面上的预读或口语准备。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请学生打开教材 P3，完成页面上的预读或口语准备。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请学生打开教材 P4，完成页面上的预读或口语准备。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请学生打开教材 P4–5，完成页面上的预读或口语准备。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先个人准备，再两人互说；教师观察学生是否能说出原因。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先个人准备，再两人互说；教师观察学生是否能说出原因。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请学生打开教材 P5–6，完成页面上的预读或口语准备。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先个人准备，再两人互说；教师观察学生是否能说出原因。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先个人准备，再两人互说；教师观察学生是否能说出原因。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先个人准备，再两人互说；教师观察学生是否能说出原因。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先个人准备，再两人互说；教师观察学生是否能说出原因。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先个人准备，再两人互说；教师观察学生是否能说出原因。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请学生打开教材 P5–6，完成页面上的预读或口语准备。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根据教材 P5–6 的 1-6 第二题，学生用括号词语说两三个句子。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学生完成 6—8 句家庭介绍；开放题不设唯一答案。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请学生打开教材第6页，用短文核对自己刚才的介绍。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每位学生用本句式说一句与自己有关的话；教师只修补影响表达的错误。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每位学生用本句式说一句与自己有关的话；教师只修补影响表达的错误。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每位学生用本句式说一句与自己有关的话；教师只修补影响表达的错误。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每位学生用本句式说一句与自己有关的话；教师只修补影响表达的错误。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每位学生用本句式说一句与自己有关的话；教师只修补影响表达的错误。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学生先个人准备，再两人互说；教师观察词语和句式是否真正用于表达。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学生根据教材 P7–8 短文完成简短介绍。1-7 尚未取得，不虚构播放。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每位学生用本句式说一句与自己有关的话；教师只修补影响表达的错误。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每位学生用本句式说一句与自己有关的话；教师只修补影响表达的错误。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每位学生用本句式说一句与自己有关的话；教师只修补影响表达的错误。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每位学生用本句式说一句与自己有关的话；教师只修补影响表达的错误。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每位学生用本句式说一句与自己有关的话；教师只修补影响表达的错误。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學生說明想做的工作與原因；不要求唯一答案。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学生根据教材 P8–9 短文完成简短介绍。1-8 尚未取得，不虚构播放。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每位学生用本句式说一句与自己有关的话；教师只修补影响表达的错误。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每位学生用本句式说一句与自己有关的话；教师只修补影响表达的错误。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每位学生用本句式说一句与自己有关的话；教师只修补影响表达的错误。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每位学生用本句式说一句与自己有关的话；教师只修补影响表达的错误。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学生完成教材 P10 的三栏信息整理。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学生逐题回答；开放题不设唯一答案。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每位学生用本句式说一句与自己有关的话；教师只修补影响表达的错误。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每位学生用本句式说一句与自己有关的话；教师只修补影响表达的错误。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每位学生用本句式说一句与自己有关的话；教师只修补影响表达的错误。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每位学生用本句式说一句与自己有关的话；教师只修补影响表达的错误。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每位学生完成 8—10 句个人介绍；这是本课实体课的最终口语产出。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audio" Target="../media/media-5-1.mp3"/><Relationship Id="rId2" Type="http://schemas.microsoft.com/office/2007/relationships/media" Target="../media/media-5-1.mp3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audio" Target="../media/media-7-1.mp3"/><Relationship Id="rId2" Type="http://schemas.microsoft.com/office/2007/relationships/media" Target="../media/media-7-1.mp3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audio" Target="../media/media-8-1.mp3"/><Relationship Id="rId2" Type="http://schemas.microsoft.com/office/2007/relationships/media" Target="../media/media-8-1.mp3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audio" Target="../media/media-11-1.mp3"/><Relationship Id="rId2" Type="http://schemas.microsoft.com/office/2007/relationships/media" Target="../media/media-11-1.mp3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audio" Target="../media/media-17-1.mp3"/><Relationship Id="rId2" Type="http://schemas.microsoft.com/office/2007/relationships/media" Target="../media/media-17-1.mp3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audio" Target="../media/media-18-1.mp3"/><Relationship Id="rId2" Type="http://schemas.microsoft.com/office/2007/relationships/media" Target="../media/media-18-1.mp3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987552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5C8D88"/>
          </a:solidFill>
          <a:ln w="12700">
            <a:solidFill>
              <a:srgbClr val="5C8D8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014984"/>
            <a:ext cx="104241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实体课</a:t>
            </a:r>
            <a:endParaRPr lang="zh-CN" sz="2000" dirty="0"/>
          </a:p>
        </p:txBody>
      </p:sp>
      <p:sp>
        <p:nvSpPr>
          <p:cNvPr id="7" name="Text 5"/>
          <p:cNvSpPr/>
          <p:nvPr/>
        </p:nvSpPr>
        <p:spPr>
          <a:xfrm>
            <a:off x="713232" y="1572768"/>
            <a:ext cx="548640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4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丽丽是独生女</a:t>
            </a:r>
            <a:endParaRPr lang="zh-CN" sz="4400" dirty="0"/>
          </a:p>
        </p:txBody>
      </p:sp>
      <p:sp>
        <p:nvSpPr>
          <p:cNvPr id="8" name="Text 6"/>
          <p:cNvSpPr/>
          <p:nvPr/>
        </p:nvSpPr>
        <p:spPr>
          <a:xfrm>
            <a:off x="749808" y="2468880"/>
            <a:ext cx="53035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5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听一听，问一问，说一说。</a:t>
            </a:r>
            <a:endParaRPr lang="zh-CN" sz="2500" dirty="0"/>
          </a:p>
        </p:txBody>
      </p:sp>
      <p:sp>
        <p:nvSpPr>
          <p:cNvPr id="9" name="Shape 7"/>
          <p:cNvSpPr/>
          <p:nvPr/>
        </p:nvSpPr>
        <p:spPr>
          <a:xfrm>
            <a:off x="6446520" y="987552"/>
            <a:ext cx="50749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B6C6C1"/>
            </a:solidFill>
            <a:prstDash val="solid"/>
          </a:ln>
        </p:spPr>
      </p:sp>
      <p:pic>
        <p:nvPicPr>
          <p:cNvPr id="10" name="Image 0" descr="/Users/ssyan110/Development/vinh-uni-teaching-assistant/lessons/boya-quasi-intermediate-i/lesson-01/10-design/image-assets-draft/lesson-01-cover-family-work-hobb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1384" y="1042416"/>
            <a:ext cx="49651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今天的学习路线</a:t>
            </a:r>
            <a:endParaRPr lang="zh-CN" sz="3400" dirty="0"/>
          </a:p>
        </p:txBody>
      </p:sp>
      <p:sp>
        <p:nvSpPr>
          <p:cNvPr id="6" name="Shape 4"/>
          <p:cNvSpPr/>
          <p:nvPr/>
        </p:nvSpPr>
        <p:spPr>
          <a:xfrm>
            <a:off x="1280160" y="2368296"/>
            <a:ext cx="141732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77240" y="2148840"/>
            <a:ext cx="438912" cy="438912"/>
          </a:xfrm>
          <a:prstGeom prst="ellipse">
            <a:avLst/>
          </a:prstGeom>
          <a:solidFill>
            <a:srgbClr val="5C8D8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21992"/>
            <a:ext cx="43891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zh-CN" sz="2000" dirty="0"/>
          </a:p>
        </p:txBody>
      </p:sp>
      <p:sp>
        <p:nvSpPr>
          <p:cNvPr id="9" name="Text 7"/>
          <p:cNvSpPr/>
          <p:nvPr/>
        </p:nvSpPr>
        <p:spPr>
          <a:xfrm>
            <a:off x="1344168" y="2176272"/>
            <a:ext cx="1508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词语</a:t>
            </a:r>
            <a:endParaRPr lang="zh-CN" sz="2300" dirty="0"/>
          </a:p>
        </p:txBody>
      </p:sp>
      <p:sp>
        <p:nvSpPr>
          <p:cNvPr id="10" name="Shape 8"/>
          <p:cNvSpPr/>
          <p:nvPr/>
        </p:nvSpPr>
        <p:spPr>
          <a:xfrm>
            <a:off x="3520440" y="2368296"/>
            <a:ext cx="141732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17520" y="2148840"/>
            <a:ext cx="438912" cy="438912"/>
          </a:xfrm>
          <a:prstGeom prst="ellipse">
            <a:avLst/>
          </a:prstGeom>
          <a:solidFill>
            <a:srgbClr val="D8897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2221992"/>
            <a:ext cx="43891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3584448" y="2176272"/>
            <a:ext cx="1508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课文</a:t>
            </a:r>
            <a:endParaRPr lang="zh-CN" sz="2300" dirty="0"/>
          </a:p>
        </p:txBody>
      </p:sp>
      <p:sp>
        <p:nvSpPr>
          <p:cNvPr id="14" name="Shape 12"/>
          <p:cNvSpPr/>
          <p:nvPr/>
        </p:nvSpPr>
        <p:spPr>
          <a:xfrm>
            <a:off x="5760720" y="2368296"/>
            <a:ext cx="141732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57800" y="2148840"/>
            <a:ext cx="438912" cy="438912"/>
          </a:xfrm>
          <a:prstGeom prst="ellipse">
            <a:avLst/>
          </a:prstGeom>
          <a:solidFill>
            <a:srgbClr val="8C76A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2221992"/>
            <a:ext cx="43891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zh-CN" sz="2000" dirty="0"/>
          </a:p>
        </p:txBody>
      </p:sp>
      <p:sp>
        <p:nvSpPr>
          <p:cNvPr id="17" name="Text 15"/>
          <p:cNvSpPr/>
          <p:nvPr/>
        </p:nvSpPr>
        <p:spPr>
          <a:xfrm>
            <a:off x="5824728" y="2176272"/>
            <a:ext cx="1508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句式</a:t>
            </a:r>
            <a:endParaRPr lang="zh-CN" sz="2300" dirty="0"/>
          </a:p>
        </p:txBody>
      </p:sp>
      <p:sp>
        <p:nvSpPr>
          <p:cNvPr id="18" name="Shape 16"/>
          <p:cNvSpPr/>
          <p:nvPr/>
        </p:nvSpPr>
        <p:spPr>
          <a:xfrm>
            <a:off x="7498080" y="2148840"/>
            <a:ext cx="438912" cy="438912"/>
          </a:xfrm>
          <a:prstGeom prst="ellipse">
            <a:avLst/>
          </a:prstGeom>
          <a:solidFill>
            <a:srgbClr val="F3E8B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0" y="2221992"/>
            <a:ext cx="43891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zh-CN" sz="2000" dirty="0"/>
          </a:p>
        </p:txBody>
      </p:sp>
      <p:sp>
        <p:nvSpPr>
          <p:cNvPr id="20" name="Text 18"/>
          <p:cNvSpPr/>
          <p:nvPr/>
        </p:nvSpPr>
        <p:spPr>
          <a:xfrm>
            <a:off x="8065008" y="2176272"/>
            <a:ext cx="1508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口语</a:t>
            </a:r>
            <a:endParaRPr lang="zh-CN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先想一想</a:t>
            </a:r>
            <a:endParaRPr lang="zh-CN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1517904"/>
            <a:ext cx="78638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1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毕业以后，你会不会离开家乡？</a:t>
            </a:r>
            <a:endParaRPr lang="zh-CN" sz="2100" dirty="0"/>
          </a:p>
        </p:txBody>
      </p:sp>
      <p:sp>
        <p:nvSpPr>
          <p:cNvPr id="7" name="Shape 5"/>
          <p:cNvSpPr/>
          <p:nvPr/>
        </p:nvSpPr>
        <p:spPr>
          <a:xfrm>
            <a:off x="7818120" y="1078992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B6C6C1"/>
            </a:solidFill>
            <a:prstDash val="solid"/>
          </a:ln>
        </p:spPr>
      </p:sp>
      <p:pic>
        <p:nvPicPr>
          <p:cNvPr id="8" name="Image 0" descr="/Users/ssyan110/Development/vinh-uni-teaching-assistant/lessons/boya-quasi-intermediate-i/lesson-01/10-design/image-assets-draft/lesson-01-cover-family-work-hobb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2984" y="1133856"/>
            <a:ext cx="3502152" cy="31363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2029968"/>
            <a:ext cx="6035040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000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• 你最期待什么？</a:t>
            </a:r>
            <a:endParaRPr lang="zh-CN" sz="3000" dirty="0"/>
          </a:p>
          <a:p>
            <a:pPr algn="l" indent="0" marL="0">
              <a:buNone/>
            </a:pPr>
            <a:r>
              <a:rPr lang="zh-CN" altLang="en-US" sz="3000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• 你最担心什么？</a:t>
            </a:r>
            <a:endParaRPr lang="zh-CN" sz="3000" dirty="0"/>
          </a:p>
          <a:p>
            <a:pPr algn="l" indent="0" marL="0">
              <a:buNone/>
            </a:pPr>
            <a:r>
              <a:rPr lang="zh-CN" altLang="en-US" sz="3000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• 你的父母会怎么想？</a:t>
            </a:r>
            <a:endParaRPr lang="zh-CN" sz="3000" dirty="0"/>
          </a:p>
        </p:txBody>
      </p:sp>
      <p:sp>
        <p:nvSpPr>
          <p:cNvPr id="10" name="Text 7"/>
          <p:cNvSpPr/>
          <p:nvPr/>
        </p:nvSpPr>
        <p:spPr>
          <a:xfrm>
            <a:off x="896112" y="4736592"/>
            <a:ext cx="653796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D8897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参考句式：我想……，因为……</a:t>
            </a:r>
            <a:endParaRPr lang="zh-CN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你有没有不懂的地方</a:t>
            </a:r>
            <a:endParaRPr lang="zh-CN" sz="3400" dirty="0"/>
          </a:p>
        </p:txBody>
      </p:sp>
      <p:sp>
        <p:nvSpPr>
          <p:cNvPr id="6" name="Shape 4"/>
          <p:cNvSpPr/>
          <p:nvPr/>
        </p:nvSpPr>
        <p:spPr>
          <a:xfrm>
            <a:off x="868680" y="1828800"/>
            <a:ext cx="4983480" cy="1828800"/>
          </a:xfrm>
          <a:prstGeom prst="roundRect">
            <a:avLst>
              <a:gd name="adj" fmla="val 4000"/>
            </a:avLst>
          </a:prstGeom>
          <a:solidFill>
            <a:srgbClr val="F3E8B1"/>
          </a:solidFill>
          <a:ln w="12700">
            <a:solidFill>
              <a:srgbClr val="B6C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1938528"/>
            <a:ext cx="4690872" cy="1609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7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请指出一处你划线的地方。</a:t>
            </a:r>
            <a:endParaRPr lang="zh-CN" sz="2700" dirty="0"/>
          </a:p>
          <a:p>
            <a:pPr algn="l" indent="0" marL="0">
              <a:buNone/>
            </a:pPr>
            <a:r>
              <a:rPr lang="zh-CN" altLang="en-US" sz="27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你哪里不懂？</a:t>
            </a:r>
            <a:endParaRPr lang="zh-CN" sz="2700" dirty="0"/>
          </a:p>
          <a:p>
            <a:pPr algn="l" indent="0" marL="0">
              <a:buNone/>
            </a:pPr>
            <a:r>
              <a:rPr lang="zh-CN" altLang="en-US" sz="27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再说一条你已经看懂的内容。</a:t>
            </a:r>
            <a:endParaRPr lang="zh-CN" sz="27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4937760" cy="1828800"/>
          </a:xfrm>
          <a:prstGeom prst="roundRect">
            <a:avLst>
              <a:gd name="adj" fmla="val 4000"/>
            </a:avLst>
          </a:prstGeom>
          <a:solidFill>
            <a:srgbClr val="DCECE7"/>
          </a:solidFill>
          <a:ln w="12700">
            <a:solidFill>
              <a:srgbClr val="B6C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64224" y="1938528"/>
            <a:ext cx="4645152" cy="1609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请先问同伴：</a:t>
            </a:r>
            <a:endParaRPr lang="zh-CN" sz="2800" dirty="0"/>
          </a:p>
          <a:p>
            <a:pPr algn="l" indent="0" marL="0">
              <a:buNone/>
            </a:pPr>
            <a:r>
              <a:rPr lang="zh-CN" altLang="en-US" sz="28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“你为什么不懂？”</a:t>
            </a:r>
            <a:endParaRPr lang="zh-CN" sz="2800" dirty="0"/>
          </a:p>
          <a:p>
            <a:pPr algn="l" indent="0" marL="0">
              <a:buNone/>
            </a:pPr>
            <a:r>
              <a:rPr lang="zh-CN" altLang="en-US" sz="28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再用自己的话说一遍。</a:t>
            </a:r>
            <a:endParaRPr lang="zh-CN" sz="2800" dirty="0"/>
          </a:p>
        </p:txBody>
      </p:sp>
      <p:sp>
        <p:nvSpPr>
          <p:cNvPr id="10" name="Text 8"/>
          <p:cNvSpPr/>
          <p:nvPr/>
        </p:nvSpPr>
        <p:spPr>
          <a:xfrm>
            <a:off x="914400" y="4389120"/>
            <a:ext cx="98755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2900" b="1" dirty="0">
                <a:solidFill>
                  <a:srgbClr val="5C8D88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我准备问：____________________</a:t>
            </a:r>
            <a:endParaRPr lang="zh-CN" sz="2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book Page Marker 5"/>
          <p:cNvSpPr/>
          <p:nvPr/>
        </p:nvSpPr>
        <p:spPr>
          <a:xfrm>
            <a:off x="9646920" y="6419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教材 </a:t>
            </a:r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P3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课本预读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9528048" y="877824"/>
            <a:ext cx="1444752" cy="566928"/>
          </a:xfrm>
          <a:prstGeom prst="roundRect">
            <a:avLst>
              <a:gd name="adj" fmla="val 12903"/>
            </a:avLst>
          </a:prstGeom>
          <a:solidFill>
            <a:srgbClr val="D88973">
              <a:alpha val="95000"/>
            </a:srgbClr>
          </a:solidFill>
          <a:ln w="12700">
            <a:solidFill>
              <a:srgbClr val="D8897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19488" y="1005840"/>
            <a:ext cx="126187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1-2</a:t>
            </a:r>
            <a:endParaRPr lang="zh-CN" sz="2100" dirty="0"/>
          </a:p>
        </p:txBody>
      </p:sp>
      <p:pic>
        <p:nvPicPr>
          <p:cNvPr id="3" name="音频 1-2 播放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045952" y="932688"/>
            <a:ext cx="475488" cy="4754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2423160"/>
            <a:ext cx="100584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请看课本第3页的图片。</a:t>
            </a:r>
            <a:endParaRPr lang="zh-CN" sz="3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book Page Marker 6"/>
          <p:cNvSpPr/>
          <p:nvPr/>
        </p:nvSpPr>
        <p:spPr>
          <a:xfrm>
            <a:off x="9646920" y="6419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教材 </a:t>
            </a:r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P3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课本预读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1051560" y="2423160"/>
            <a:ext cx="100584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请看课本第3页的图片。</a:t>
            </a:r>
            <a:endParaRPr lang="zh-CN" sz="3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book Page Marker 7"/>
          <p:cNvSpPr/>
          <p:nvPr/>
        </p:nvSpPr>
        <p:spPr>
          <a:xfrm>
            <a:off x="9646920" y="6419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教材 </a:t>
            </a:r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P4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课本预读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9528048" y="877824"/>
            <a:ext cx="1444752" cy="566928"/>
          </a:xfrm>
          <a:prstGeom prst="roundRect">
            <a:avLst>
              <a:gd name="adj" fmla="val 12903"/>
            </a:avLst>
          </a:prstGeom>
          <a:solidFill>
            <a:srgbClr val="D88973">
              <a:alpha val="95000"/>
            </a:srgbClr>
          </a:solidFill>
          <a:ln w="12700">
            <a:solidFill>
              <a:srgbClr val="D8897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19488" y="1005840"/>
            <a:ext cx="126187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1-3</a:t>
            </a:r>
            <a:endParaRPr lang="zh-CN" sz="2100" dirty="0"/>
          </a:p>
        </p:txBody>
      </p:sp>
      <p:pic>
        <p:nvPicPr>
          <p:cNvPr id="3" name="音频 1-3 播放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045952" y="932688"/>
            <a:ext cx="475488" cy="4754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2423160"/>
            <a:ext cx="100584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请看课本第4页的图片。</a:t>
            </a:r>
            <a:endParaRPr lang="zh-CN" sz="3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book Page Marker 8"/>
          <p:cNvSpPr/>
          <p:nvPr/>
        </p:nvSpPr>
        <p:spPr>
          <a:xfrm>
            <a:off x="9646920" y="6419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教材 </a:t>
            </a:r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P4–5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课本预读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9528048" y="877824"/>
            <a:ext cx="1444752" cy="566928"/>
          </a:xfrm>
          <a:prstGeom prst="roundRect">
            <a:avLst>
              <a:gd name="adj" fmla="val 12903"/>
            </a:avLst>
          </a:prstGeom>
          <a:solidFill>
            <a:srgbClr val="D88973">
              <a:alpha val="95000"/>
            </a:srgbClr>
          </a:solidFill>
          <a:ln w="12700">
            <a:solidFill>
              <a:srgbClr val="D8897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19488" y="1005840"/>
            <a:ext cx="126187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1-4</a:t>
            </a:r>
            <a:endParaRPr lang="zh-CN" sz="2100" dirty="0"/>
          </a:p>
        </p:txBody>
      </p:sp>
      <p:pic>
        <p:nvPicPr>
          <p:cNvPr id="3" name="音频 1-4 播放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045952" y="932688"/>
            <a:ext cx="475488" cy="4754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2423160"/>
            <a:ext cx="100584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请看课本第4—5页的图片。</a:t>
            </a:r>
            <a:endParaRPr lang="zh-CN" sz="3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请你说说</a:t>
            </a:r>
            <a:endParaRPr lang="zh-CN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你觉得大学生活怎么样？为什么？</a:t>
            </a:r>
            <a:endParaRPr lang="zh-CN" sz="3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请你说说</a:t>
            </a:r>
            <a:endParaRPr lang="zh-CN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你星期五晚上常做什么？为什么？</a:t>
            </a:r>
            <a:endParaRPr lang="zh-CN" sz="3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book Page Marker 11"/>
          <p:cNvSpPr/>
          <p:nvPr/>
        </p:nvSpPr>
        <p:spPr>
          <a:xfrm>
            <a:off x="9646920" y="6419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教材 </a:t>
            </a:r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P5–6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课本预读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9528048" y="877824"/>
            <a:ext cx="1444752" cy="566928"/>
          </a:xfrm>
          <a:prstGeom prst="roundRect">
            <a:avLst>
              <a:gd name="adj" fmla="val 12903"/>
            </a:avLst>
          </a:prstGeom>
          <a:solidFill>
            <a:srgbClr val="D88973">
              <a:alpha val="95000"/>
            </a:srgbClr>
          </a:solidFill>
          <a:ln w="12700">
            <a:solidFill>
              <a:srgbClr val="D8897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19488" y="1005840"/>
            <a:ext cx="126187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1-5</a:t>
            </a:r>
            <a:endParaRPr lang="zh-CN" sz="2100" dirty="0"/>
          </a:p>
        </p:txBody>
      </p:sp>
      <p:pic>
        <p:nvPicPr>
          <p:cNvPr id="3" name="音频 1-5 播放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045952" y="932688"/>
            <a:ext cx="475488" cy="4754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2423160"/>
            <a:ext cx="100584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请看课本第5—6页的图片。</a:t>
            </a:r>
            <a:endParaRPr lang="zh-CN" sz="3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请你说说</a:t>
            </a:r>
            <a:endParaRPr lang="zh-CN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你自己洗衣服吗？为什么？</a:t>
            </a:r>
            <a:endParaRPr lang="zh-CN" sz="3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请你说说</a:t>
            </a:r>
            <a:endParaRPr lang="zh-CN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你晚睡觉吗？为什么？</a:t>
            </a:r>
            <a:endParaRPr lang="zh-CN" sz="3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请你说说</a:t>
            </a:r>
            <a:endParaRPr lang="zh-CN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你有什么爱好？为什么你喜欢？</a:t>
            </a:r>
            <a:endParaRPr lang="zh-CN" sz="3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请你说说</a:t>
            </a:r>
            <a:endParaRPr lang="zh-CN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你自己做饭吗？为什么？</a:t>
            </a:r>
            <a:endParaRPr lang="zh-CN" sz="3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请你说说</a:t>
            </a:r>
            <a:endParaRPr lang="zh-CN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你常拍照吗？为什么？</a:t>
            </a:r>
            <a:endParaRPr lang="zh-CN" sz="3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book Page Marker 17"/>
          <p:cNvSpPr/>
          <p:nvPr/>
        </p:nvSpPr>
        <p:spPr>
          <a:xfrm>
            <a:off x="9646920" y="6419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教材 </a:t>
            </a:r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P5–6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课本预读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9528048" y="877824"/>
            <a:ext cx="1444752" cy="566928"/>
          </a:xfrm>
          <a:prstGeom prst="roundRect">
            <a:avLst>
              <a:gd name="adj" fmla="val 12903"/>
            </a:avLst>
          </a:prstGeom>
          <a:solidFill>
            <a:srgbClr val="D88973">
              <a:alpha val="95000"/>
            </a:srgbClr>
          </a:solidFill>
          <a:ln w="12700">
            <a:solidFill>
              <a:srgbClr val="D8897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19488" y="1005840"/>
            <a:ext cx="126187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1-6</a:t>
            </a:r>
            <a:endParaRPr lang="zh-CN" sz="2100" dirty="0"/>
          </a:p>
        </p:txBody>
      </p:sp>
      <p:pic>
        <p:nvPicPr>
          <p:cNvPr id="3" name="音频 1-6 播放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045952" y="932688"/>
            <a:ext cx="475488" cy="4754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2423160"/>
            <a:ext cx="100584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请看课本第5—6页的图片。</a:t>
            </a:r>
            <a:endParaRPr lang="zh-CN" sz="3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book Page Marker 18"/>
          <p:cNvSpPr/>
          <p:nvPr/>
        </p:nvSpPr>
        <p:spPr>
          <a:xfrm>
            <a:off x="9646920" y="6419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教材 </a:t>
            </a:r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P5–6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1-6 第二题</a:t>
            </a:r>
            <a:endParaRPr lang="zh-CN" sz="3400" dirty="0"/>
          </a:p>
        </p:txBody>
      </p:sp>
      <p:sp>
        <p:nvSpPr>
          <p:cNvPr id="7" name="Shape 5"/>
          <p:cNvSpPr/>
          <p:nvPr/>
        </p:nvSpPr>
        <p:spPr>
          <a:xfrm>
            <a:off x="9528048" y="877824"/>
            <a:ext cx="1444752" cy="566928"/>
          </a:xfrm>
          <a:prstGeom prst="roundRect">
            <a:avLst>
              <a:gd name="adj" fmla="val 12903"/>
            </a:avLst>
          </a:prstGeom>
          <a:solidFill>
            <a:srgbClr val="D88973">
              <a:alpha val="95000"/>
            </a:srgbClr>
          </a:solidFill>
          <a:ln w="12700">
            <a:solidFill>
              <a:srgbClr val="D8897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19488" y="1005840"/>
            <a:ext cx="126187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1-6</a:t>
            </a:r>
            <a:endParaRPr lang="zh-CN" sz="2100" dirty="0"/>
          </a:p>
        </p:txBody>
      </p:sp>
      <p:pic>
        <p:nvPicPr>
          <p:cNvPr id="3" name="音频 1-6 播放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045952" y="932688"/>
            <a:ext cx="475488" cy="4754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783080"/>
            <a:ext cx="10287000" cy="3154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500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• 丽丽毕业以后要去哪里工作？她喜欢不喜欢这份工作？（北京　满意）</a:t>
            </a:r>
            <a:endParaRPr lang="zh-CN" sz="2500" dirty="0"/>
          </a:p>
          <a:p>
            <a:pPr algn="l" indent="0" marL="0">
              <a:buNone/>
            </a:pPr>
            <a:r>
              <a:rPr lang="zh-CN" altLang="en-US" sz="2500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• 丽丽的爸爸妈妈对丽丽说什么了？（一个人　北京　天气　适应）</a:t>
            </a:r>
            <a:endParaRPr lang="zh-CN" sz="2500" dirty="0"/>
          </a:p>
          <a:p>
            <a:pPr algn="l" indent="0" marL="0">
              <a:buNone/>
            </a:pPr>
            <a:r>
              <a:rPr lang="zh-CN" altLang="en-US" sz="2500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• 丽丽说什么？（满意　担心　照顾）</a:t>
            </a:r>
            <a:endParaRPr lang="zh-CN" sz="2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book Page Marker 19"/>
          <p:cNvSpPr/>
          <p:nvPr/>
        </p:nvSpPr>
        <p:spPr>
          <a:xfrm>
            <a:off x="9646920" y="6419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教材 </a:t>
            </a:r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P5–6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介绍丽丽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1627632"/>
            <a:ext cx="103327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1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现在，请你用6—8句介绍丽丽。</a:t>
            </a:r>
            <a:endParaRPr lang="zh-CN" sz="31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1024128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800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• 说说她的家庭情况。</a:t>
            </a:r>
            <a:endParaRPr lang="zh-CN" sz="2800" dirty="0"/>
          </a:p>
          <a:p>
            <a:pPr algn="l" indent="0" marL="0">
              <a:buNone/>
            </a:pPr>
            <a:r>
              <a:rPr lang="zh-CN" altLang="en-US" sz="2800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• 她毕业后的打算、父母的想法和她自己的想法怎么样？</a:t>
            </a:r>
            <a:endParaRPr lang="zh-CN" sz="2800" dirty="0"/>
          </a:p>
        </p:txBody>
      </p:sp>
      <p:sp>
        <p:nvSpPr>
          <p:cNvPr id="9" name="Shape 7"/>
          <p:cNvSpPr/>
          <p:nvPr/>
        </p:nvSpPr>
        <p:spPr>
          <a:xfrm>
            <a:off x="1097280" y="4069080"/>
            <a:ext cx="9875520" cy="1143000"/>
          </a:xfrm>
          <a:prstGeom prst="roundRect">
            <a:avLst>
              <a:gd name="adj" fmla="val 6400"/>
            </a:avLst>
          </a:prstGeom>
          <a:solidFill>
            <a:srgbClr val="EEE8F4"/>
          </a:solidFill>
          <a:ln w="12700">
            <a:solidFill>
              <a:srgbClr val="B6C6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43584" y="4178808"/>
            <a:ext cx="9582912" cy="9235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7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参考词语：毕业　离开　满意</a:t>
            </a:r>
            <a:endParaRPr lang="zh-CN" sz="2700" dirty="0"/>
          </a:p>
          <a:p>
            <a:pPr algn="l" indent="0" marL="0">
              <a:buNone/>
            </a:pPr>
            <a:r>
              <a:rPr lang="zh-CN" altLang="en-US" sz="27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常用表达：出生在……　为……担心　如果……就……</a:t>
            </a:r>
            <a:endParaRPr lang="zh-CN" sz="2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book Page Marker 20"/>
          <p:cNvSpPr/>
          <p:nvPr/>
        </p:nvSpPr>
        <p:spPr>
          <a:xfrm>
            <a:off x="9646920" y="6419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教材 </a:t>
            </a:r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P6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1033272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5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你说的，跟课本的短文哪里不一样？</a:t>
            </a:r>
            <a:endParaRPr lang="zh-CN" sz="3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book Page Marker 21"/>
          <p:cNvSpPr/>
          <p:nvPr/>
        </p:nvSpPr>
        <p:spPr>
          <a:xfrm>
            <a:off x="9646920" y="6419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教材 </a:t>
            </a:r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P6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常用词语和表达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105613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800" b="1" dirty="0">
                <a:solidFill>
                  <a:srgbClr val="8C76A8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出生在……</a:t>
            </a:r>
            <a:endParaRPr lang="zh-CN" sz="3800" dirty="0"/>
          </a:p>
        </p:txBody>
      </p:sp>
      <p:sp>
        <p:nvSpPr>
          <p:cNvPr id="8" name="Text 6"/>
          <p:cNvSpPr/>
          <p:nvPr/>
        </p:nvSpPr>
        <p:spPr>
          <a:xfrm>
            <a:off x="1005840" y="4069080"/>
            <a:ext cx="10149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27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请用这个句式说1句中文。</a:t>
            </a:r>
            <a:endParaRPr lang="zh-CN" sz="2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book Page Marker 22"/>
          <p:cNvSpPr/>
          <p:nvPr/>
        </p:nvSpPr>
        <p:spPr>
          <a:xfrm>
            <a:off x="9646920" y="6419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教材 </a:t>
            </a:r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P6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常用词语和表达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105613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800" b="1" dirty="0">
                <a:solidFill>
                  <a:srgbClr val="8C76A8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……是……</a:t>
            </a:r>
            <a:endParaRPr lang="zh-CN" sz="3800" dirty="0"/>
          </a:p>
        </p:txBody>
      </p:sp>
      <p:sp>
        <p:nvSpPr>
          <p:cNvPr id="8" name="Text 6"/>
          <p:cNvSpPr/>
          <p:nvPr/>
        </p:nvSpPr>
        <p:spPr>
          <a:xfrm>
            <a:off x="1005840" y="4069080"/>
            <a:ext cx="10149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27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请用这个句式说1句中文。</a:t>
            </a:r>
            <a:endParaRPr lang="zh-CN" sz="2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book Page Marker 23"/>
          <p:cNvSpPr/>
          <p:nvPr/>
        </p:nvSpPr>
        <p:spPr>
          <a:xfrm>
            <a:off x="9646920" y="6419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教材 </a:t>
            </a:r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P6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常用词语和表达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105613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800" b="1" dirty="0">
                <a:solidFill>
                  <a:srgbClr val="8C76A8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什么</a:t>
            </a:r>
            <a:endParaRPr lang="zh-CN" sz="3800" dirty="0"/>
          </a:p>
        </p:txBody>
      </p:sp>
      <p:sp>
        <p:nvSpPr>
          <p:cNvPr id="8" name="Text 6"/>
          <p:cNvSpPr/>
          <p:nvPr/>
        </p:nvSpPr>
        <p:spPr>
          <a:xfrm>
            <a:off x="1005840" y="4069080"/>
            <a:ext cx="10149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27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请用这个句式说1句中文。</a:t>
            </a:r>
            <a:endParaRPr lang="zh-CN" sz="2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book Page Marker 24"/>
          <p:cNvSpPr/>
          <p:nvPr/>
        </p:nvSpPr>
        <p:spPr>
          <a:xfrm>
            <a:off x="9646920" y="6419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教材 </a:t>
            </a:r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P6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常用词语和表达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105613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800" b="1" dirty="0">
                <a:solidFill>
                  <a:srgbClr val="8C76A8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为……担心</a:t>
            </a:r>
            <a:endParaRPr lang="zh-CN" sz="3800" dirty="0"/>
          </a:p>
        </p:txBody>
      </p:sp>
      <p:sp>
        <p:nvSpPr>
          <p:cNvPr id="8" name="Text 6"/>
          <p:cNvSpPr/>
          <p:nvPr/>
        </p:nvSpPr>
        <p:spPr>
          <a:xfrm>
            <a:off x="1005840" y="4069080"/>
            <a:ext cx="10149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27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请用这个句式说1句中文。</a:t>
            </a:r>
            <a:endParaRPr lang="zh-CN" sz="2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book Page Marker 25"/>
          <p:cNvSpPr/>
          <p:nvPr/>
        </p:nvSpPr>
        <p:spPr>
          <a:xfrm>
            <a:off x="9646920" y="6419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教材 </a:t>
            </a:r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P6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常用词语和表达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105613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800" b="1" dirty="0">
                <a:solidFill>
                  <a:srgbClr val="8C76A8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如果……就……</a:t>
            </a:r>
            <a:endParaRPr lang="zh-CN" sz="3800" dirty="0"/>
          </a:p>
        </p:txBody>
      </p:sp>
      <p:sp>
        <p:nvSpPr>
          <p:cNvPr id="8" name="Text 6"/>
          <p:cNvSpPr/>
          <p:nvPr/>
        </p:nvSpPr>
        <p:spPr>
          <a:xfrm>
            <a:off x="1005840" y="4069080"/>
            <a:ext cx="10149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27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请用这个句式说1句中文。</a:t>
            </a:r>
            <a:endParaRPr lang="zh-CN" sz="2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26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book Page Marker 26"/>
          <p:cNvSpPr/>
          <p:nvPr/>
        </p:nvSpPr>
        <p:spPr>
          <a:xfrm>
            <a:off x="9646920" y="6419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教材 </a:t>
            </a:r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P6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请你说说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1033272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1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请你说说你的家庭情况，必须使用5个课本中的词语和三个句式。</a:t>
            </a:r>
            <a:endParaRPr lang="zh-CN" sz="3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27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book Page Marker 27"/>
          <p:cNvSpPr/>
          <p:nvPr/>
        </p:nvSpPr>
        <p:spPr>
          <a:xfrm>
            <a:off x="9646920" y="6419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教材 </a:t>
            </a:r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P7–8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介绍短文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请你用2—3句话介绍她的工作和情况。</a:t>
            </a:r>
            <a:endParaRPr lang="zh-CN" sz="3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28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book Page Marker 28"/>
          <p:cNvSpPr/>
          <p:nvPr/>
        </p:nvSpPr>
        <p:spPr>
          <a:xfrm>
            <a:off x="9646920" y="6419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教材 </a:t>
            </a:r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P7–8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常用词语和表达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105613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800" b="1" dirty="0">
                <a:solidFill>
                  <a:srgbClr val="8C76A8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从……到……</a:t>
            </a:r>
            <a:endParaRPr lang="zh-CN" sz="3800" dirty="0"/>
          </a:p>
        </p:txBody>
      </p:sp>
      <p:sp>
        <p:nvSpPr>
          <p:cNvPr id="8" name="Text 6"/>
          <p:cNvSpPr/>
          <p:nvPr/>
        </p:nvSpPr>
        <p:spPr>
          <a:xfrm>
            <a:off x="1005840" y="4069080"/>
            <a:ext cx="10149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27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请用这个句式说1句中文。</a:t>
            </a:r>
            <a:endParaRPr lang="zh-CN" sz="2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29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book Page Marker 29"/>
          <p:cNvSpPr/>
          <p:nvPr/>
        </p:nvSpPr>
        <p:spPr>
          <a:xfrm>
            <a:off x="9646920" y="6419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教材 </a:t>
            </a:r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P7–8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常用词语和表达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105613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800" b="1" dirty="0">
                <a:solidFill>
                  <a:srgbClr val="8C76A8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为了</a:t>
            </a:r>
            <a:endParaRPr lang="zh-CN" sz="3800" dirty="0"/>
          </a:p>
        </p:txBody>
      </p:sp>
      <p:sp>
        <p:nvSpPr>
          <p:cNvPr id="8" name="Text 6"/>
          <p:cNvSpPr/>
          <p:nvPr/>
        </p:nvSpPr>
        <p:spPr>
          <a:xfrm>
            <a:off x="1005840" y="4069080"/>
            <a:ext cx="10149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27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请用这个句式说1句中文。</a:t>
            </a:r>
            <a:endParaRPr lang="zh-CN" sz="2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book Page Marker 30"/>
          <p:cNvSpPr/>
          <p:nvPr/>
        </p:nvSpPr>
        <p:spPr>
          <a:xfrm>
            <a:off x="9646920" y="6419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教材 </a:t>
            </a:r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P7–8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常用词语和表达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105613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800" b="1" dirty="0">
                <a:solidFill>
                  <a:srgbClr val="8C76A8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越来越</a:t>
            </a:r>
            <a:endParaRPr lang="zh-CN" sz="3800" dirty="0"/>
          </a:p>
        </p:txBody>
      </p:sp>
      <p:sp>
        <p:nvSpPr>
          <p:cNvPr id="8" name="Text 6"/>
          <p:cNvSpPr/>
          <p:nvPr/>
        </p:nvSpPr>
        <p:spPr>
          <a:xfrm>
            <a:off x="1005840" y="4069080"/>
            <a:ext cx="10149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27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请用这个句式说1句中文。</a:t>
            </a:r>
            <a:endParaRPr lang="zh-CN" sz="2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31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book Page Marker 31"/>
          <p:cNvSpPr/>
          <p:nvPr/>
        </p:nvSpPr>
        <p:spPr>
          <a:xfrm>
            <a:off x="9646920" y="6419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教材 </a:t>
            </a:r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P7–8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常用词语和表达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105613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800" b="1" dirty="0">
                <a:solidFill>
                  <a:srgbClr val="8C76A8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受……欢迎</a:t>
            </a:r>
            <a:endParaRPr lang="zh-CN" sz="3800" dirty="0"/>
          </a:p>
        </p:txBody>
      </p:sp>
      <p:sp>
        <p:nvSpPr>
          <p:cNvPr id="8" name="Text 6"/>
          <p:cNvSpPr/>
          <p:nvPr/>
        </p:nvSpPr>
        <p:spPr>
          <a:xfrm>
            <a:off x="1005840" y="4069080"/>
            <a:ext cx="10149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27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请用这个句式说1句中文。</a:t>
            </a:r>
            <a:endParaRPr lang="zh-CN" sz="2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32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book Page Marker 32"/>
          <p:cNvSpPr/>
          <p:nvPr/>
        </p:nvSpPr>
        <p:spPr>
          <a:xfrm>
            <a:off x="9646920" y="6419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教材 </a:t>
            </a:r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P7–8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常用词语和表达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105613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800" b="1" dirty="0">
                <a:solidFill>
                  <a:srgbClr val="8C76A8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对……满意</a:t>
            </a:r>
            <a:endParaRPr lang="zh-CN" sz="3800" dirty="0"/>
          </a:p>
        </p:txBody>
      </p:sp>
      <p:sp>
        <p:nvSpPr>
          <p:cNvPr id="8" name="Text 6"/>
          <p:cNvSpPr/>
          <p:nvPr/>
        </p:nvSpPr>
        <p:spPr>
          <a:xfrm>
            <a:off x="1005840" y="4069080"/>
            <a:ext cx="10149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27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请用这个句式说1句中文。</a:t>
            </a:r>
            <a:endParaRPr lang="zh-CN" sz="2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33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book Page Marker 33"/>
          <p:cNvSpPr/>
          <p:nvPr/>
        </p:nvSpPr>
        <p:spPr>
          <a:xfrm>
            <a:off x="9646920" y="6419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教材 </a:t>
            </a:r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P7–8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请你说说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1042416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1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说说你想做的工作和为什么，必须使用5个课本中的词语和三个句式。</a:t>
            </a:r>
            <a:endParaRPr lang="zh-CN" sz="3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34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book Page Marker 34"/>
          <p:cNvSpPr/>
          <p:nvPr/>
        </p:nvSpPr>
        <p:spPr>
          <a:xfrm>
            <a:off x="9646920" y="6419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教材 </a:t>
            </a:r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P8–9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介绍短文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请你用2—3句话介绍她的爱好。</a:t>
            </a:r>
            <a:endParaRPr lang="zh-CN" sz="3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35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book Page Marker 35"/>
          <p:cNvSpPr/>
          <p:nvPr/>
        </p:nvSpPr>
        <p:spPr>
          <a:xfrm>
            <a:off x="9646920" y="6419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教材 </a:t>
            </a:r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P8–9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常用词语和表达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105613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800" b="1" dirty="0">
                <a:solidFill>
                  <a:srgbClr val="8C76A8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不仅……而且……</a:t>
            </a:r>
            <a:endParaRPr lang="zh-CN" sz="3800" dirty="0"/>
          </a:p>
        </p:txBody>
      </p:sp>
      <p:sp>
        <p:nvSpPr>
          <p:cNvPr id="8" name="Text 6"/>
          <p:cNvSpPr/>
          <p:nvPr/>
        </p:nvSpPr>
        <p:spPr>
          <a:xfrm>
            <a:off x="1005840" y="4069080"/>
            <a:ext cx="10149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27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请用这个句式说1句中文。</a:t>
            </a:r>
            <a:endParaRPr lang="zh-CN" sz="2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36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book Page Marker 36"/>
          <p:cNvSpPr/>
          <p:nvPr/>
        </p:nvSpPr>
        <p:spPr>
          <a:xfrm>
            <a:off x="9646920" y="6419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教材 </a:t>
            </a:r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P8–9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常用词语和表达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105613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800" b="1" dirty="0">
                <a:solidFill>
                  <a:srgbClr val="8C76A8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除了……还……／除了……也……</a:t>
            </a:r>
            <a:endParaRPr lang="zh-CN" sz="3800" dirty="0"/>
          </a:p>
        </p:txBody>
      </p:sp>
      <p:sp>
        <p:nvSpPr>
          <p:cNvPr id="8" name="Text 6"/>
          <p:cNvSpPr/>
          <p:nvPr/>
        </p:nvSpPr>
        <p:spPr>
          <a:xfrm>
            <a:off x="1005840" y="4069080"/>
            <a:ext cx="10149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27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请用这个句式说1句中文。</a:t>
            </a:r>
            <a:endParaRPr lang="zh-CN" sz="2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37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book Page Marker 37"/>
          <p:cNvSpPr/>
          <p:nvPr/>
        </p:nvSpPr>
        <p:spPr>
          <a:xfrm>
            <a:off x="9646920" y="6419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教材 </a:t>
            </a:r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P8–9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常用词语和表达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105613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800" b="1" dirty="0">
                <a:solidFill>
                  <a:srgbClr val="8C76A8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因为……所以……</a:t>
            </a:r>
            <a:endParaRPr lang="zh-CN" sz="3800" dirty="0"/>
          </a:p>
        </p:txBody>
      </p:sp>
      <p:sp>
        <p:nvSpPr>
          <p:cNvPr id="8" name="Text 6"/>
          <p:cNvSpPr/>
          <p:nvPr/>
        </p:nvSpPr>
        <p:spPr>
          <a:xfrm>
            <a:off x="1005840" y="4069080"/>
            <a:ext cx="10149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27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请用这个句式说1句中文。</a:t>
            </a:r>
            <a:endParaRPr lang="zh-CN" sz="27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38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book Page Marker 38"/>
          <p:cNvSpPr/>
          <p:nvPr/>
        </p:nvSpPr>
        <p:spPr>
          <a:xfrm>
            <a:off x="9646920" y="6419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教材 </a:t>
            </a:r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P8–9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常用词语和表达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105613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800" b="1" dirty="0">
                <a:solidFill>
                  <a:srgbClr val="8C76A8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对……有好处／有帮助（1）</a:t>
            </a:r>
            <a:endParaRPr lang="zh-CN" sz="3800" dirty="0"/>
          </a:p>
        </p:txBody>
      </p:sp>
      <p:sp>
        <p:nvSpPr>
          <p:cNvPr id="8" name="Text 6"/>
          <p:cNvSpPr/>
          <p:nvPr/>
        </p:nvSpPr>
        <p:spPr>
          <a:xfrm>
            <a:off x="1005840" y="4069080"/>
            <a:ext cx="10149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27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请用这个句式说1句中文。</a:t>
            </a:r>
            <a:endParaRPr lang="zh-CN" sz="2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39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book Page Marker 39"/>
          <p:cNvSpPr/>
          <p:nvPr/>
        </p:nvSpPr>
        <p:spPr>
          <a:xfrm>
            <a:off x="9646920" y="6419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教材 </a:t>
            </a:r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P10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请你介绍丽丽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103327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6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请你写出丽丽的信息</a:t>
            </a:r>
            <a:endParaRPr lang="zh-CN" sz="3600" dirty="0"/>
          </a:p>
        </p:txBody>
      </p:sp>
      <p:sp>
        <p:nvSpPr>
          <p:cNvPr id="8" name="Shape 6"/>
          <p:cNvSpPr/>
          <p:nvPr/>
        </p:nvSpPr>
        <p:spPr>
          <a:xfrm>
            <a:off x="4297680" y="370332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B6C6C1"/>
            </a:solidFill>
            <a:prstDash val="solid"/>
          </a:ln>
        </p:spPr>
      </p:sp>
      <p:pic>
        <p:nvPicPr>
          <p:cNvPr id="9" name="Image 0" descr="/Users/ssyan110/Development/vinh-uni-teaching-assistant/lessons/boya-quasi-intermediate-i/lesson-01/10-design/image-assets-draft/lesson-01-learning-pa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2544" y="3758184"/>
            <a:ext cx="3502152" cy="144475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40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book Page Marker 40"/>
          <p:cNvSpPr/>
          <p:nvPr/>
        </p:nvSpPr>
        <p:spPr>
          <a:xfrm>
            <a:off x="9646920" y="6419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教材 </a:t>
            </a:r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P10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请你说说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960120" y="1508760"/>
            <a:ext cx="1005840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700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• 丽丽的父母为什么担心？</a:t>
            </a:r>
            <a:endParaRPr lang="zh-CN" sz="2700" dirty="0"/>
          </a:p>
          <a:p>
            <a:pPr algn="l" indent="0" marL="0">
              <a:buNone/>
            </a:pPr>
            <a:r>
              <a:rPr lang="zh-CN" altLang="en-US" sz="2700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• 丽丽为什么去北京？</a:t>
            </a:r>
            <a:endParaRPr lang="zh-CN" sz="2700" dirty="0"/>
          </a:p>
          <a:p>
            <a:pPr algn="l" indent="0" marL="0">
              <a:buNone/>
            </a:pPr>
            <a:r>
              <a:rPr lang="zh-CN" altLang="en-US" sz="2700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• 丽丽觉得新工作怎么样？</a:t>
            </a:r>
            <a:endParaRPr lang="zh-CN" sz="2700" dirty="0"/>
          </a:p>
          <a:p>
            <a:pPr algn="l" indent="0" marL="0">
              <a:buNone/>
            </a:pPr>
            <a:r>
              <a:rPr lang="zh-CN" altLang="en-US" sz="2700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• 为什么丽丽有时候很晚才能睡觉？</a:t>
            </a:r>
            <a:endParaRPr lang="zh-CN" sz="2700" dirty="0"/>
          </a:p>
          <a:p>
            <a:pPr algn="l" indent="0" marL="0">
              <a:buNone/>
            </a:pPr>
            <a:r>
              <a:rPr lang="zh-CN" altLang="en-US" sz="2700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• 丽丽喜欢做哪些事？</a:t>
            </a:r>
            <a:endParaRPr lang="zh-CN" sz="2700" dirty="0"/>
          </a:p>
          <a:p>
            <a:pPr algn="l" indent="0" marL="0">
              <a:buNone/>
            </a:pPr>
            <a:r>
              <a:rPr lang="zh-CN" altLang="en-US" sz="2700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• 丽丽的哪个爱好对工作有帮助？</a:t>
            </a:r>
            <a:endParaRPr lang="zh-CN" sz="27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41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book Page Marker 41"/>
          <p:cNvSpPr/>
          <p:nvPr/>
        </p:nvSpPr>
        <p:spPr>
          <a:xfrm>
            <a:off x="9646920" y="6419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教材 </a:t>
            </a:r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P10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常用词语和表达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105613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800" b="1" dirty="0">
                <a:solidFill>
                  <a:srgbClr val="8C76A8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出生在……</a:t>
            </a:r>
            <a:endParaRPr lang="zh-CN" sz="3800" dirty="0"/>
          </a:p>
        </p:txBody>
      </p:sp>
      <p:sp>
        <p:nvSpPr>
          <p:cNvPr id="8" name="Text 6"/>
          <p:cNvSpPr/>
          <p:nvPr/>
        </p:nvSpPr>
        <p:spPr>
          <a:xfrm>
            <a:off x="1005840" y="4069080"/>
            <a:ext cx="10149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27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请用这个句式说1句中文。</a:t>
            </a:r>
            <a:endParaRPr lang="zh-CN" sz="27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42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book Page Marker 42"/>
          <p:cNvSpPr/>
          <p:nvPr/>
        </p:nvSpPr>
        <p:spPr>
          <a:xfrm>
            <a:off x="9646920" y="6419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教材 </a:t>
            </a:r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P10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常用词语和表达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105613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800" b="1" dirty="0">
                <a:solidFill>
                  <a:srgbClr val="8C76A8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为……担心</a:t>
            </a:r>
            <a:endParaRPr lang="zh-CN" sz="3800" dirty="0"/>
          </a:p>
        </p:txBody>
      </p:sp>
      <p:sp>
        <p:nvSpPr>
          <p:cNvPr id="8" name="Text 6"/>
          <p:cNvSpPr/>
          <p:nvPr/>
        </p:nvSpPr>
        <p:spPr>
          <a:xfrm>
            <a:off x="1005840" y="4069080"/>
            <a:ext cx="10149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27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请用这个句式说1句中文。</a:t>
            </a:r>
            <a:endParaRPr lang="zh-CN" sz="27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43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book Page Marker 43"/>
          <p:cNvSpPr/>
          <p:nvPr/>
        </p:nvSpPr>
        <p:spPr>
          <a:xfrm>
            <a:off x="9646920" y="6419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教材 </a:t>
            </a:r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P10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常用词语和表达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105613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800" b="1" dirty="0">
                <a:solidFill>
                  <a:srgbClr val="8C76A8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越来越</a:t>
            </a:r>
            <a:endParaRPr lang="zh-CN" sz="3800" dirty="0"/>
          </a:p>
        </p:txBody>
      </p:sp>
      <p:sp>
        <p:nvSpPr>
          <p:cNvPr id="8" name="Text 6"/>
          <p:cNvSpPr/>
          <p:nvPr/>
        </p:nvSpPr>
        <p:spPr>
          <a:xfrm>
            <a:off x="1005840" y="4069080"/>
            <a:ext cx="10149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27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请用这个句式说1句中文。</a:t>
            </a:r>
            <a:endParaRPr lang="zh-CN" sz="2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44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book Page Marker 44"/>
          <p:cNvSpPr/>
          <p:nvPr/>
        </p:nvSpPr>
        <p:spPr>
          <a:xfrm>
            <a:off x="9646920" y="6419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教材 </a:t>
            </a:r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P10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常用词语和表达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105613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3800" b="1" dirty="0">
                <a:solidFill>
                  <a:srgbClr val="8C76A8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不仅……而且……</a:t>
            </a:r>
            <a:endParaRPr lang="zh-CN" sz="3800" dirty="0"/>
          </a:p>
        </p:txBody>
      </p:sp>
      <p:sp>
        <p:nvSpPr>
          <p:cNvPr id="8" name="Text 6"/>
          <p:cNvSpPr/>
          <p:nvPr/>
        </p:nvSpPr>
        <p:spPr>
          <a:xfrm>
            <a:off x="1005840" y="4069080"/>
            <a:ext cx="10149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27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请用这个句式说1句中文。</a:t>
            </a:r>
            <a:endParaRPr lang="zh-CN" sz="27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第一课｜丽丽是独生女</a:t>
            </a:r>
            <a:endParaRPr lang="zh-CN" sz="2000" dirty="0"/>
          </a:p>
        </p:txBody>
      </p:sp>
      <p:sp>
        <p:nvSpPr>
          <p:cNvPr id="3" name="Text 1"/>
          <p:cNvSpPr/>
          <p:nvPr/>
        </p:nvSpPr>
        <p:spPr>
          <a:xfrm>
            <a:off x="10972800" y="228600"/>
            <a:ext cx="594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45</a:t>
            </a:r>
            <a:endParaRPr lang="zh-CN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630936"/>
            <a:ext cx="10972800" cy="0"/>
          </a:xfrm>
          <a:prstGeom prst="line">
            <a:avLst/>
          </a:prstGeom>
          <a:noFill/>
          <a:ln w="12700">
            <a:solidFill>
              <a:srgbClr val="B6C6C1"/>
            </a:solidFill>
            <a:prstDash val="solid"/>
          </a:ln>
        </p:spPr>
      </p:sp>
      <p:sp>
        <p:nvSpPr>
          <p:cNvPr id="5" name="Textbook Page Marker 45"/>
          <p:cNvSpPr/>
          <p:nvPr/>
        </p:nvSpPr>
        <p:spPr>
          <a:xfrm>
            <a:off x="9646920" y="6419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教材 </a:t>
            </a:r>
            <a:pPr algn="r" indent="0" marL="0">
              <a:buNone/>
            </a:pPr>
            <a:r>
              <a:rPr lang="zh-CN" altLang="en-US" sz="2000" dirty="0">
                <a:solidFill>
                  <a:srgbClr val="6173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P11</a:t>
            </a:r>
            <a:endParaRPr lang="zh-CN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73152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请你说说</a:t>
            </a:r>
            <a:endParaRPr lang="zh-CN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1033272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1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① 我的家庭：____________________</a:t>
            </a:r>
            <a:endParaRPr lang="zh-CN" sz="31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1033272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1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② 我的学习／工作：____________________</a:t>
            </a:r>
            <a:endParaRPr lang="zh-CN" sz="31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1033272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100" b="1" dirty="0">
                <a:solidFill>
                  <a:srgbClr val="24333A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③ 我的兴趣爱好：____________________</a:t>
            </a:r>
            <a:endParaRPr lang="zh-CN" sz="3100" dirty="0"/>
          </a:p>
        </p:txBody>
      </p:sp>
      <p:sp>
        <p:nvSpPr>
          <p:cNvPr id="10" name="Text 8"/>
          <p:cNvSpPr/>
          <p:nvPr/>
        </p:nvSpPr>
        <p:spPr>
          <a:xfrm>
            <a:off x="914400" y="4892040"/>
            <a:ext cx="103327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2900" b="1" dirty="0">
                <a:solidFill>
                  <a:srgbClr val="D88973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必须使用10个课本中的词语和5个句式。说8—10句。</a:t>
            </a:r>
            <a:endParaRPr lang="zh-CN" sz="2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KaiT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KaiT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榮市大學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第一課｜麗麗是獨生女｜實體課</dc:title>
  <dc:subject>准中級加速篇 I 第一課實體課</dc:subject>
  <dc:creator>榮市大學華語聽說課程</dc:creator>
  <cp:lastModifiedBy>榮市大學華語聽說課程</cp:lastModifiedBy>
  <cp:revision>1</cp:revision>
  <dcterms:created xsi:type="dcterms:W3CDTF">2026-08-27T17:01:26Z</dcterms:created>
  <dcterms:modified xsi:type="dcterms:W3CDTF">2026-08-27T17:01:26Z</dcterms:modified>
</cp:coreProperties>
</file>